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468" r:id="rId2"/>
    <p:sldId id="448" r:id="rId3"/>
    <p:sldId id="336" r:id="rId4"/>
    <p:sldId id="426" r:id="rId5"/>
    <p:sldId id="303" r:id="rId6"/>
    <p:sldId id="465" r:id="rId7"/>
    <p:sldId id="466" r:id="rId8"/>
    <p:sldId id="306" r:id="rId9"/>
    <p:sldId id="305" r:id="rId10"/>
    <p:sldId id="258" r:id="rId11"/>
    <p:sldId id="477" r:id="rId12"/>
    <p:sldId id="447" r:id="rId13"/>
    <p:sldId id="462" r:id="rId14"/>
    <p:sldId id="450" r:id="rId15"/>
    <p:sldId id="376" r:id="rId16"/>
    <p:sldId id="464" r:id="rId17"/>
    <p:sldId id="261" r:id="rId18"/>
    <p:sldId id="457" r:id="rId19"/>
    <p:sldId id="456" r:id="rId20"/>
    <p:sldId id="385" r:id="rId21"/>
    <p:sldId id="387" r:id="rId22"/>
    <p:sldId id="345" r:id="rId23"/>
    <p:sldId id="394" r:id="rId24"/>
    <p:sldId id="467" r:id="rId25"/>
    <p:sldId id="433" r:id="rId26"/>
    <p:sldId id="473" r:id="rId27"/>
    <p:sldId id="474" r:id="rId28"/>
    <p:sldId id="471" r:id="rId29"/>
    <p:sldId id="475" r:id="rId30"/>
    <p:sldId id="476" r:id="rId31"/>
    <p:sldId id="459" r:id="rId32"/>
    <p:sldId id="470" r:id="rId33"/>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A832"/>
    <a:srgbClr val="B42926"/>
    <a:srgbClr val="E0A831"/>
    <a:srgbClr val="FCEE32"/>
    <a:srgbClr val="FFF2CC"/>
    <a:srgbClr val="4472C4"/>
    <a:srgbClr val="8410D7"/>
    <a:srgbClr val="8715E0"/>
    <a:srgbClr val="F2F2F2"/>
    <a:srgbClr val="E2F0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2CC71C-58EC-41A1-9814-D45ACD8755ED}" v="4" dt="2026-07-17T11:10:02.5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67853" autoAdjust="0"/>
  </p:normalViewPr>
  <p:slideViewPr>
    <p:cSldViewPr snapToGrid="0">
      <p:cViewPr varScale="1">
        <p:scale>
          <a:sx n="75" d="100"/>
          <a:sy n="75" d="100"/>
        </p:scale>
        <p:origin x="1938" y="60"/>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B1FFD-12C1-471D-A35D-9393D033E3B2}" type="datetimeFigureOut">
              <a:rPr lang="nl-NL" smtClean="0"/>
              <a:t>17-7-2026</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11A303-8C7E-4BD2-9843-0D1A8B3474A8}" type="slidenum">
              <a:rPr lang="nl-NL" smtClean="0"/>
              <a:t>‹#›</a:t>
            </a:fld>
            <a:endParaRPr lang="nl-NL"/>
          </a:p>
        </p:txBody>
      </p:sp>
    </p:spTree>
    <p:extLst>
      <p:ext uri="{BB962C8B-B14F-4D97-AF65-F5344CB8AC3E}">
        <p14:creationId xmlns:p14="http://schemas.microsoft.com/office/powerpoint/2010/main" val="2294690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tutorial of this morning, we have showed that weak ties are very </a:t>
            </a:r>
            <a:r>
              <a:rPr lang="en-US"/>
              <a:t>powerful ..40 years later</a:t>
            </a:r>
            <a:endParaRPr lang="en-US" dirty="0"/>
          </a:p>
        </p:txBody>
      </p:sp>
      <p:sp>
        <p:nvSpPr>
          <p:cNvPr id="4" name="Slide Number Placeholder 3"/>
          <p:cNvSpPr>
            <a:spLocks noGrp="1"/>
          </p:cNvSpPr>
          <p:nvPr>
            <p:ph type="sldNum" sz="quarter" idx="5"/>
          </p:nvPr>
        </p:nvSpPr>
        <p:spPr/>
        <p:txBody>
          <a:bodyPr/>
          <a:lstStyle/>
          <a:p>
            <a:fld id="{2011A303-8C7E-4BD2-9843-0D1A8B3474A8}" type="slidenum">
              <a:rPr lang="nl-NL" smtClean="0"/>
              <a:t>2</a:t>
            </a:fld>
            <a:endParaRPr lang="nl-NL"/>
          </a:p>
        </p:txBody>
      </p:sp>
    </p:spTree>
    <p:extLst>
      <p:ext uri="{BB962C8B-B14F-4D97-AF65-F5344CB8AC3E}">
        <p14:creationId xmlns:p14="http://schemas.microsoft.com/office/powerpoint/2010/main" val="81447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sz="1200" b="0" i="0" kern="1200" dirty="0">
                <a:solidFill>
                  <a:schemeClr val="tx1"/>
                </a:solidFill>
                <a:effectLst/>
                <a:latin typeface="+mn-lt"/>
                <a:ea typeface="+mn-ea"/>
                <a:cs typeface="+mn-cs"/>
              </a:rPr>
              <a:t>When we talk about Diffusion in social network, it is so complicate that we can not use simple contagion to explain everything. Here, I show two examples, the first one is the spread of covid, the spread of virus can go quickly in the network.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Morning…. There is other mechanism other than simple contagion. For example, one thing that we noticed is…. </a:t>
            </a:r>
          </a:p>
          <a:p>
            <a:r>
              <a:rPr lang="en-GB" sz="1200" b="0" i="0" kern="1200" dirty="0">
                <a:solidFill>
                  <a:schemeClr val="tx1"/>
                </a:solidFill>
                <a:effectLst/>
                <a:latin typeface="+mn-lt"/>
                <a:ea typeface="+mn-ea"/>
                <a:cs typeface="+mn-cs"/>
              </a:rPr>
              <a:t>“Why things spread and why they stop?”</a:t>
            </a:r>
            <a:endParaRPr lang="en-GB" dirty="0"/>
          </a:p>
        </p:txBody>
      </p:sp>
      <p:sp>
        <p:nvSpPr>
          <p:cNvPr id="4" name="灯片编号占位符 3"/>
          <p:cNvSpPr>
            <a:spLocks noGrp="1"/>
          </p:cNvSpPr>
          <p:nvPr>
            <p:ph type="sldNum" sz="quarter" idx="10"/>
          </p:nvPr>
        </p:nvSpPr>
        <p:spPr/>
        <p:txBody>
          <a:bodyPr/>
          <a:lstStyle/>
          <a:p>
            <a:fld id="{2011A303-8C7E-4BD2-9843-0D1A8B3474A8}" type="slidenum">
              <a:rPr lang="nl-NL" smtClean="0"/>
              <a:t>3</a:t>
            </a:fld>
            <a:endParaRPr lang="nl-NL"/>
          </a:p>
        </p:txBody>
      </p:sp>
    </p:spTree>
    <p:extLst>
      <p:ext uri="{BB962C8B-B14F-4D97-AF65-F5344CB8AC3E}">
        <p14:creationId xmlns:p14="http://schemas.microsoft.com/office/powerpoint/2010/main" val="1901265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Contagiousness of disease and behaviour</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11A303-8C7E-4BD2-9843-0D1A8B3474A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9012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Simple contagion: </a:t>
            </a:r>
            <a:r>
              <a:rPr lang="en-US" dirty="0"/>
              <a:t>Single contact sufficient for transmission. For the </a:t>
            </a:r>
            <a:r>
              <a:rPr lang="en-US" dirty="0" err="1"/>
              <a:t>pppl</a:t>
            </a:r>
            <a:r>
              <a:rPr lang="en-US" dirty="0"/>
              <a:t> central in the network, she will get infected if one of her contacts in the network in infected. Or she only needs one friend to tell her the juicy gossip. </a:t>
            </a:r>
            <a:endParaRPr lang="en-GB" dirty="0"/>
          </a:p>
        </p:txBody>
      </p:sp>
      <p:sp>
        <p:nvSpPr>
          <p:cNvPr id="4" name="灯片编号占位符 3"/>
          <p:cNvSpPr>
            <a:spLocks noGrp="1"/>
          </p:cNvSpPr>
          <p:nvPr>
            <p:ph type="sldNum" sz="quarter" idx="10"/>
          </p:nvPr>
        </p:nvSpPr>
        <p:spPr/>
        <p:txBody>
          <a:bodyPr/>
          <a:lstStyle/>
          <a:p>
            <a:fld id="{2011A303-8C7E-4BD2-9843-0D1A8B3474A8}" type="slidenum">
              <a:rPr lang="nl-NL" smtClean="0"/>
              <a:t>5</a:t>
            </a:fld>
            <a:endParaRPr lang="nl-NL"/>
          </a:p>
        </p:txBody>
      </p:sp>
    </p:spTree>
    <p:extLst>
      <p:ext uri="{BB962C8B-B14F-4D97-AF65-F5344CB8AC3E}">
        <p14:creationId xmlns:p14="http://schemas.microsoft.com/office/powerpoint/2010/main" val="2959277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Strong-tie networks—in which people interact with one another in trusted, close-knit groups</a:t>
            </a:r>
          </a:p>
          <a:p>
            <a:endParaRPr lang="en-GB" dirty="0"/>
          </a:p>
        </p:txBody>
      </p:sp>
      <p:sp>
        <p:nvSpPr>
          <p:cNvPr id="4" name="灯片编号占位符 3"/>
          <p:cNvSpPr>
            <a:spLocks noGrp="1"/>
          </p:cNvSpPr>
          <p:nvPr>
            <p:ph type="sldNum" sz="quarter" idx="10"/>
          </p:nvPr>
        </p:nvSpPr>
        <p:spPr/>
        <p:txBody>
          <a:bodyPr/>
          <a:lstStyle/>
          <a:p>
            <a:fld id="{2011A303-8C7E-4BD2-9843-0D1A8B3474A8}" type="slidenum">
              <a:rPr lang="nl-NL" smtClean="0"/>
              <a:t>6</a:t>
            </a:fld>
            <a:endParaRPr lang="nl-NL"/>
          </a:p>
        </p:txBody>
      </p:sp>
    </p:spTree>
    <p:extLst>
      <p:ext uri="{BB962C8B-B14F-4D97-AF65-F5344CB8AC3E}">
        <p14:creationId xmlns:p14="http://schemas.microsoft.com/office/powerpoint/2010/main" val="1858968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Strong-tie networks—in which people interact with one another in trusted, close-knit groups</a:t>
            </a:r>
          </a:p>
          <a:p>
            <a:endParaRPr lang="en-GB" dirty="0"/>
          </a:p>
        </p:txBody>
      </p:sp>
      <p:sp>
        <p:nvSpPr>
          <p:cNvPr id="4" name="灯片编号占位符 3"/>
          <p:cNvSpPr>
            <a:spLocks noGrp="1"/>
          </p:cNvSpPr>
          <p:nvPr>
            <p:ph type="sldNum" sz="quarter" idx="10"/>
          </p:nvPr>
        </p:nvSpPr>
        <p:spPr/>
        <p:txBody>
          <a:bodyPr/>
          <a:lstStyle/>
          <a:p>
            <a:fld id="{2011A303-8C7E-4BD2-9843-0D1A8B3474A8}" type="slidenum">
              <a:rPr lang="nl-NL" smtClean="0"/>
              <a:t>7</a:t>
            </a:fld>
            <a:endParaRPr lang="nl-NL"/>
          </a:p>
        </p:txBody>
      </p:sp>
    </p:spTree>
    <p:extLst>
      <p:ext uri="{BB962C8B-B14F-4D97-AF65-F5344CB8AC3E}">
        <p14:creationId xmlns:p14="http://schemas.microsoft.com/office/powerpoint/2010/main" val="5682096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By this small example, we already touched the key point raised by </a:t>
            </a:r>
            <a:r>
              <a:rPr lang="en-US" dirty="0" err="1"/>
              <a:t>Centola</a:t>
            </a:r>
            <a:r>
              <a:rPr lang="en-US" dirty="0"/>
              <a:t>, a social scientists </a:t>
            </a:r>
            <a:r>
              <a:rPr lang="en-US" dirty="0" err="1"/>
              <a:t>speciliazes</a:t>
            </a:r>
            <a:r>
              <a:rPr lang="en-US" dirty="0"/>
              <a:t> in complex contagion. What he argues is that, as what we showed in the example, weak ties are not always useful to the diffusion of complex contagion. The diffusion of complex contagion depends on the width of bridge. </a:t>
            </a:r>
            <a:endParaRPr lang="en-GB" dirty="0"/>
          </a:p>
        </p:txBody>
      </p:sp>
      <p:sp>
        <p:nvSpPr>
          <p:cNvPr id="4" name="灯片编号占位符 3"/>
          <p:cNvSpPr>
            <a:spLocks noGrp="1"/>
          </p:cNvSpPr>
          <p:nvPr>
            <p:ph type="sldNum" sz="quarter" idx="10"/>
          </p:nvPr>
        </p:nvSpPr>
        <p:spPr/>
        <p:txBody>
          <a:bodyPr/>
          <a:lstStyle/>
          <a:p>
            <a:fld id="{2011A303-8C7E-4BD2-9843-0D1A8B3474A8}" type="slidenum">
              <a:rPr lang="nl-NL" smtClean="0"/>
              <a:t>8</a:t>
            </a:fld>
            <a:endParaRPr lang="nl-NL"/>
          </a:p>
        </p:txBody>
      </p:sp>
    </p:spTree>
    <p:extLst>
      <p:ext uri="{BB962C8B-B14F-4D97-AF65-F5344CB8AC3E}">
        <p14:creationId xmlns:p14="http://schemas.microsoft.com/office/powerpoint/2010/main" val="4147420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What he means for the “width of a bridge” is the number of….</a:t>
            </a:r>
          </a:p>
        </p:txBody>
      </p:sp>
      <p:sp>
        <p:nvSpPr>
          <p:cNvPr id="4" name="灯片编号占位符 3"/>
          <p:cNvSpPr>
            <a:spLocks noGrp="1"/>
          </p:cNvSpPr>
          <p:nvPr>
            <p:ph type="sldNum" sz="quarter" idx="10"/>
          </p:nvPr>
        </p:nvSpPr>
        <p:spPr/>
        <p:txBody>
          <a:bodyPr/>
          <a:lstStyle/>
          <a:p>
            <a:fld id="{2011A303-8C7E-4BD2-9843-0D1A8B3474A8}" type="slidenum">
              <a:rPr lang="nl-NL" smtClean="0"/>
              <a:t>9</a:t>
            </a:fld>
            <a:endParaRPr lang="nl-NL"/>
          </a:p>
        </p:txBody>
      </p:sp>
    </p:spTree>
    <p:extLst>
      <p:ext uri="{BB962C8B-B14F-4D97-AF65-F5344CB8AC3E}">
        <p14:creationId xmlns:p14="http://schemas.microsoft.com/office/powerpoint/2010/main" val="3450488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Char char="-"/>
            </a:pPr>
            <a:r>
              <a:rPr lang="en-US" dirty="0"/>
              <a:t>Participants were matched with other participants—referred to as </a:t>
            </a:r>
            <a:r>
              <a:rPr lang="en-US" i="1" dirty="0">
                <a:solidFill>
                  <a:srgbClr val="FF0000"/>
                </a:solidFill>
              </a:rPr>
              <a:t>"health buddies"</a:t>
            </a:r>
            <a:r>
              <a:rPr lang="en-US" dirty="0"/>
              <a:t>—as members of an online health community.</a:t>
            </a:r>
          </a:p>
          <a:p>
            <a:pPr>
              <a:buFontTx/>
              <a:buChar char="-"/>
            </a:pPr>
            <a:r>
              <a:rPr lang="en-US" dirty="0"/>
              <a:t>Participants could not contact their health buddies directly, but they could receive emails from the study informing them of their health buddies’ activities. </a:t>
            </a:r>
          </a:p>
          <a:p>
            <a:pPr>
              <a:buFontTx/>
              <a:buChar char="-"/>
            </a:pPr>
            <a:r>
              <a:rPr lang="en-US" dirty="0"/>
              <a:t>Take-away: Behavior change is more likely to spread and persist when people learn, discuss, and act together.</a:t>
            </a:r>
            <a:endParaRPr lang="nl-NL" dirty="0"/>
          </a:p>
          <a:p>
            <a:endParaRPr lang="nl-NL" dirty="0"/>
          </a:p>
        </p:txBody>
      </p:sp>
      <p:sp>
        <p:nvSpPr>
          <p:cNvPr id="4" name="Slide Number Placeholder 3"/>
          <p:cNvSpPr>
            <a:spLocks noGrp="1"/>
          </p:cNvSpPr>
          <p:nvPr>
            <p:ph type="sldNum" sz="quarter" idx="5"/>
          </p:nvPr>
        </p:nvSpPr>
        <p:spPr/>
        <p:txBody>
          <a:bodyPr/>
          <a:lstStyle/>
          <a:p>
            <a:fld id="{697381A9-0C9E-4D3A-A28B-AC4E168A57BC}" type="slidenum">
              <a:rPr lang="en-GB" smtClean="0"/>
              <a:pPr/>
              <a:t>10</a:t>
            </a:fld>
            <a:endParaRPr lang="en-GB"/>
          </a:p>
        </p:txBody>
      </p:sp>
    </p:spTree>
    <p:extLst>
      <p:ext uri="{BB962C8B-B14F-4D97-AF65-F5344CB8AC3E}">
        <p14:creationId xmlns:p14="http://schemas.microsoft.com/office/powerpoint/2010/main" val="2025144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contagion, the narrow bridge</a:t>
            </a:r>
          </a:p>
        </p:txBody>
      </p:sp>
      <p:sp>
        <p:nvSpPr>
          <p:cNvPr id="4" name="Slide Number Placeholder 3"/>
          <p:cNvSpPr>
            <a:spLocks noGrp="1"/>
          </p:cNvSpPr>
          <p:nvPr>
            <p:ph type="sldNum" sz="quarter" idx="5"/>
          </p:nvPr>
        </p:nvSpPr>
        <p:spPr/>
        <p:txBody>
          <a:bodyPr/>
          <a:lstStyle/>
          <a:p>
            <a:fld id="{2011A303-8C7E-4BD2-9843-0D1A8B3474A8}" type="slidenum">
              <a:rPr lang="nl-NL" smtClean="0"/>
              <a:t>12</a:t>
            </a:fld>
            <a:endParaRPr lang="nl-NL"/>
          </a:p>
        </p:txBody>
      </p:sp>
    </p:spTree>
    <p:extLst>
      <p:ext uri="{BB962C8B-B14F-4D97-AF65-F5344CB8AC3E}">
        <p14:creationId xmlns:p14="http://schemas.microsoft.com/office/powerpoint/2010/main" val="6598200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Contagiousness of disease and behaviour</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11A303-8C7E-4BD2-9843-0D1A8B3474A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0645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10"/>
          </p:nvPr>
        </p:nvSpPr>
        <p:spPr/>
        <p:txBody>
          <a:bodyPr/>
          <a:lstStyle/>
          <a:p>
            <a:fld id="{2011A303-8C7E-4BD2-9843-0D1A8B3474A8}" type="slidenum">
              <a:rPr lang="nl-NL" smtClean="0"/>
              <a:t>14</a:t>
            </a:fld>
            <a:endParaRPr lang="nl-NL"/>
          </a:p>
        </p:txBody>
      </p:sp>
    </p:spTree>
    <p:extLst>
      <p:ext uri="{BB962C8B-B14F-4D97-AF65-F5344CB8AC3E}">
        <p14:creationId xmlns:p14="http://schemas.microsoft.com/office/powerpoint/2010/main" val="20844145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Contagiousness of disease and behaviour</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11A303-8C7E-4BD2-9843-0D1A8B3474A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2461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Seeding is highly relevant to many real-world examples such as marketing industry.</a:t>
            </a:r>
          </a:p>
        </p:txBody>
      </p:sp>
      <p:sp>
        <p:nvSpPr>
          <p:cNvPr id="4" name="Slide Number Placeholder 3"/>
          <p:cNvSpPr>
            <a:spLocks noGrp="1"/>
          </p:cNvSpPr>
          <p:nvPr>
            <p:ph type="sldNum" sz="quarter" idx="5"/>
          </p:nvPr>
        </p:nvSpPr>
        <p:spPr/>
        <p:txBody>
          <a:bodyPr/>
          <a:lstStyle/>
          <a:p>
            <a:fld id="{2011A303-8C7E-4BD2-9843-0D1A8B3474A8}" type="slidenum">
              <a:rPr lang="nl-NL" smtClean="0"/>
              <a:t>17</a:t>
            </a:fld>
            <a:endParaRPr lang="nl-NL"/>
          </a:p>
        </p:txBody>
      </p:sp>
    </p:spTree>
    <p:extLst>
      <p:ext uri="{BB962C8B-B14F-4D97-AF65-F5344CB8AC3E}">
        <p14:creationId xmlns:p14="http://schemas.microsoft.com/office/powerpoint/2010/main" val="22891842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10"/>
          </p:nvPr>
        </p:nvSpPr>
        <p:spPr/>
        <p:txBody>
          <a:bodyPr/>
          <a:lstStyle/>
          <a:p>
            <a:fld id="{2011A303-8C7E-4BD2-9843-0D1A8B3474A8}" type="slidenum">
              <a:rPr lang="nl-NL" smtClean="0"/>
              <a:t>18</a:t>
            </a:fld>
            <a:endParaRPr lang="nl-NL"/>
          </a:p>
        </p:txBody>
      </p:sp>
    </p:spTree>
    <p:extLst>
      <p:ext uri="{BB962C8B-B14F-4D97-AF65-F5344CB8AC3E}">
        <p14:creationId xmlns:p14="http://schemas.microsoft.com/office/powerpoint/2010/main" val="34328395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sz="1200" b="0" i="0" kern="1200" dirty="0">
                <a:solidFill>
                  <a:schemeClr val="tx1"/>
                </a:solidFill>
                <a:effectLst/>
                <a:latin typeface="+mn-lt"/>
                <a:ea typeface="+mn-ea"/>
                <a:cs typeface="+mn-cs"/>
              </a:rPr>
              <a:t>But to find out the best solution of the IMP, it is indeed very difficult. </a:t>
            </a:r>
            <a:endParaRPr lang="en-GB" dirty="0"/>
          </a:p>
        </p:txBody>
      </p:sp>
      <p:sp>
        <p:nvSpPr>
          <p:cNvPr id="4" name="灯片编号占位符 3"/>
          <p:cNvSpPr>
            <a:spLocks noGrp="1"/>
          </p:cNvSpPr>
          <p:nvPr>
            <p:ph type="sldNum" sz="quarter" idx="10"/>
          </p:nvPr>
        </p:nvSpPr>
        <p:spPr/>
        <p:txBody>
          <a:bodyPr/>
          <a:lstStyle/>
          <a:p>
            <a:fld id="{2011A303-8C7E-4BD2-9843-0D1A8B3474A8}" type="slidenum">
              <a:rPr lang="nl-NL" smtClean="0"/>
              <a:t>20</a:t>
            </a:fld>
            <a:endParaRPr lang="nl-NL"/>
          </a:p>
        </p:txBody>
      </p:sp>
    </p:spTree>
    <p:extLst>
      <p:ext uri="{BB962C8B-B14F-4D97-AF65-F5344CB8AC3E}">
        <p14:creationId xmlns:p14="http://schemas.microsoft.com/office/powerpoint/2010/main" val="14814072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Both result in the same seed set</a:t>
            </a:r>
          </a:p>
          <a:p>
            <a:endParaRPr lang="en-GB" dirty="0"/>
          </a:p>
        </p:txBody>
      </p:sp>
      <p:sp>
        <p:nvSpPr>
          <p:cNvPr id="4" name="灯片编号占位符 3"/>
          <p:cNvSpPr>
            <a:spLocks noGrp="1"/>
          </p:cNvSpPr>
          <p:nvPr>
            <p:ph type="sldNum" sz="quarter" idx="10"/>
          </p:nvPr>
        </p:nvSpPr>
        <p:spPr/>
        <p:txBody>
          <a:bodyPr/>
          <a:lstStyle/>
          <a:p>
            <a:fld id="{2011A303-8C7E-4BD2-9843-0D1A8B3474A8}" type="slidenum">
              <a:rPr lang="nl-NL" smtClean="0"/>
              <a:t>25</a:t>
            </a:fld>
            <a:endParaRPr lang="nl-NL"/>
          </a:p>
        </p:txBody>
      </p:sp>
    </p:spTree>
    <p:extLst>
      <p:ext uri="{BB962C8B-B14F-4D97-AF65-F5344CB8AC3E}">
        <p14:creationId xmlns:p14="http://schemas.microsoft.com/office/powerpoint/2010/main" val="32659143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10"/>
          </p:nvPr>
        </p:nvSpPr>
        <p:spPr/>
        <p:txBody>
          <a:bodyPr/>
          <a:lstStyle/>
          <a:p>
            <a:fld id="{2011A303-8C7E-4BD2-9843-0D1A8B3474A8}" type="slidenum">
              <a:rPr lang="nl-NL" smtClean="0"/>
              <a:t>31</a:t>
            </a:fld>
            <a:endParaRPr lang="nl-NL"/>
          </a:p>
        </p:txBody>
      </p:sp>
    </p:spTree>
    <p:extLst>
      <p:ext uri="{BB962C8B-B14F-4D97-AF65-F5344CB8AC3E}">
        <p14:creationId xmlns:p14="http://schemas.microsoft.com/office/powerpoint/2010/main" val="1288611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8D4C3-FBB6-4AED-95DC-A588B49C97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336E9411-49DF-4561-A555-33A872A298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a:extLst>
              <a:ext uri="{FF2B5EF4-FFF2-40B4-BE49-F238E27FC236}">
                <a16:creationId xmlns:a16="http://schemas.microsoft.com/office/drawing/2014/main" id="{96533F4A-F892-40FF-851A-731C682737B1}"/>
              </a:ext>
            </a:extLst>
          </p:cNvPr>
          <p:cNvSpPr>
            <a:spLocks noGrp="1"/>
          </p:cNvSpPr>
          <p:nvPr>
            <p:ph type="dt" sz="half" idx="10"/>
          </p:nvPr>
        </p:nvSpPr>
        <p:spPr/>
        <p:txBody>
          <a:bodyPr/>
          <a:lstStyle/>
          <a:p>
            <a:fld id="{5B04FEEB-B481-485B-82CF-91CCC45FD984}" type="datetimeFigureOut">
              <a:rPr lang="nl-NL" smtClean="0"/>
              <a:t>17-7-2026</a:t>
            </a:fld>
            <a:endParaRPr lang="nl-NL"/>
          </a:p>
        </p:txBody>
      </p:sp>
      <p:sp>
        <p:nvSpPr>
          <p:cNvPr id="5" name="Footer Placeholder 4">
            <a:extLst>
              <a:ext uri="{FF2B5EF4-FFF2-40B4-BE49-F238E27FC236}">
                <a16:creationId xmlns:a16="http://schemas.microsoft.com/office/drawing/2014/main" id="{1FBFAC2E-E470-4CE4-B8AC-5AC7DE3DE2DD}"/>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E6C13289-1582-4B8A-B7A6-786B23E62AB5}"/>
              </a:ext>
            </a:extLst>
          </p:cNvPr>
          <p:cNvSpPr>
            <a:spLocks noGrp="1"/>
          </p:cNvSpPr>
          <p:nvPr>
            <p:ph type="sldNum" sz="quarter" idx="12"/>
          </p:nvPr>
        </p:nvSpPr>
        <p:spPr/>
        <p:txBody>
          <a:bodyPr/>
          <a:lstStyle/>
          <a:p>
            <a:fld id="{1EF421C1-A146-4F8B-91CB-3409A3DB346C}" type="slidenum">
              <a:rPr lang="nl-NL" smtClean="0"/>
              <a:t>‹#›</a:t>
            </a:fld>
            <a:endParaRPr lang="nl-NL"/>
          </a:p>
        </p:txBody>
      </p:sp>
    </p:spTree>
    <p:extLst>
      <p:ext uri="{BB962C8B-B14F-4D97-AF65-F5344CB8AC3E}">
        <p14:creationId xmlns:p14="http://schemas.microsoft.com/office/powerpoint/2010/main" val="102051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1F2F6-2068-478E-B43D-EB671125DEAB}"/>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4D75B764-6A7C-4184-9D64-8CABF22078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DDF26841-2541-4026-BB0B-6282AE104503}"/>
              </a:ext>
            </a:extLst>
          </p:cNvPr>
          <p:cNvSpPr>
            <a:spLocks noGrp="1"/>
          </p:cNvSpPr>
          <p:nvPr>
            <p:ph type="dt" sz="half" idx="10"/>
          </p:nvPr>
        </p:nvSpPr>
        <p:spPr/>
        <p:txBody>
          <a:bodyPr/>
          <a:lstStyle/>
          <a:p>
            <a:fld id="{5B04FEEB-B481-485B-82CF-91CCC45FD984}" type="datetimeFigureOut">
              <a:rPr lang="nl-NL" smtClean="0"/>
              <a:t>17-7-2026</a:t>
            </a:fld>
            <a:endParaRPr lang="nl-NL"/>
          </a:p>
        </p:txBody>
      </p:sp>
      <p:sp>
        <p:nvSpPr>
          <p:cNvPr id="5" name="Footer Placeholder 4">
            <a:extLst>
              <a:ext uri="{FF2B5EF4-FFF2-40B4-BE49-F238E27FC236}">
                <a16:creationId xmlns:a16="http://schemas.microsoft.com/office/drawing/2014/main" id="{A56AF7CD-381A-44CA-9043-5348D7DE8994}"/>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01233730-7730-4C41-94C1-36CC26298C7C}"/>
              </a:ext>
            </a:extLst>
          </p:cNvPr>
          <p:cNvSpPr>
            <a:spLocks noGrp="1"/>
          </p:cNvSpPr>
          <p:nvPr>
            <p:ph type="sldNum" sz="quarter" idx="12"/>
          </p:nvPr>
        </p:nvSpPr>
        <p:spPr/>
        <p:txBody>
          <a:bodyPr/>
          <a:lstStyle/>
          <a:p>
            <a:fld id="{1EF421C1-A146-4F8B-91CB-3409A3DB346C}" type="slidenum">
              <a:rPr lang="nl-NL" smtClean="0"/>
              <a:t>‹#›</a:t>
            </a:fld>
            <a:endParaRPr lang="nl-NL"/>
          </a:p>
        </p:txBody>
      </p:sp>
    </p:spTree>
    <p:extLst>
      <p:ext uri="{BB962C8B-B14F-4D97-AF65-F5344CB8AC3E}">
        <p14:creationId xmlns:p14="http://schemas.microsoft.com/office/powerpoint/2010/main" val="1720357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D6269-0797-49BA-B992-9C426B9BC7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F7BBF02A-99BA-44D8-83F7-E42FA04C67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3A4F52-4E2E-4974-9C86-423C409FCD6D}"/>
              </a:ext>
            </a:extLst>
          </p:cNvPr>
          <p:cNvSpPr>
            <a:spLocks noGrp="1"/>
          </p:cNvSpPr>
          <p:nvPr>
            <p:ph type="dt" sz="half" idx="10"/>
          </p:nvPr>
        </p:nvSpPr>
        <p:spPr/>
        <p:txBody>
          <a:bodyPr/>
          <a:lstStyle/>
          <a:p>
            <a:fld id="{5B04FEEB-B481-485B-82CF-91CCC45FD984}" type="datetimeFigureOut">
              <a:rPr lang="nl-NL" smtClean="0"/>
              <a:t>17-7-2026</a:t>
            </a:fld>
            <a:endParaRPr lang="nl-NL"/>
          </a:p>
        </p:txBody>
      </p:sp>
      <p:sp>
        <p:nvSpPr>
          <p:cNvPr id="5" name="Footer Placeholder 4">
            <a:extLst>
              <a:ext uri="{FF2B5EF4-FFF2-40B4-BE49-F238E27FC236}">
                <a16:creationId xmlns:a16="http://schemas.microsoft.com/office/drawing/2014/main" id="{1CF7DE4F-AC5C-49F7-9720-55DE0AE4550F}"/>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2051CDAD-6856-49D0-99A1-61FB6E80D40C}"/>
              </a:ext>
            </a:extLst>
          </p:cNvPr>
          <p:cNvSpPr>
            <a:spLocks noGrp="1"/>
          </p:cNvSpPr>
          <p:nvPr>
            <p:ph type="sldNum" sz="quarter" idx="12"/>
          </p:nvPr>
        </p:nvSpPr>
        <p:spPr/>
        <p:txBody>
          <a:bodyPr/>
          <a:lstStyle/>
          <a:p>
            <a:fld id="{1EF421C1-A146-4F8B-91CB-3409A3DB346C}" type="slidenum">
              <a:rPr lang="nl-NL" smtClean="0"/>
              <a:t>‹#›</a:t>
            </a:fld>
            <a:endParaRPr lang="nl-NL"/>
          </a:p>
        </p:txBody>
      </p:sp>
    </p:spTree>
    <p:extLst>
      <p:ext uri="{BB962C8B-B14F-4D97-AF65-F5344CB8AC3E}">
        <p14:creationId xmlns:p14="http://schemas.microsoft.com/office/powerpoint/2010/main" val="1363495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9A68F-1478-463C-9DF9-26367C630922}"/>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FCB1B20E-5D29-4E4A-967A-AB1AEEF17C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688C93ED-B455-4B70-B7DB-1A4F196A59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a:extLst>
              <a:ext uri="{FF2B5EF4-FFF2-40B4-BE49-F238E27FC236}">
                <a16:creationId xmlns:a16="http://schemas.microsoft.com/office/drawing/2014/main" id="{10383B19-3806-4544-AA69-DBF86497F217}"/>
              </a:ext>
            </a:extLst>
          </p:cNvPr>
          <p:cNvSpPr>
            <a:spLocks noGrp="1"/>
          </p:cNvSpPr>
          <p:nvPr>
            <p:ph type="dt" sz="half" idx="10"/>
          </p:nvPr>
        </p:nvSpPr>
        <p:spPr/>
        <p:txBody>
          <a:bodyPr/>
          <a:lstStyle/>
          <a:p>
            <a:fld id="{5B04FEEB-B481-485B-82CF-91CCC45FD984}" type="datetimeFigureOut">
              <a:rPr lang="nl-NL" smtClean="0"/>
              <a:t>17-7-2026</a:t>
            </a:fld>
            <a:endParaRPr lang="nl-NL"/>
          </a:p>
        </p:txBody>
      </p:sp>
      <p:sp>
        <p:nvSpPr>
          <p:cNvPr id="6" name="Footer Placeholder 5">
            <a:extLst>
              <a:ext uri="{FF2B5EF4-FFF2-40B4-BE49-F238E27FC236}">
                <a16:creationId xmlns:a16="http://schemas.microsoft.com/office/drawing/2014/main" id="{4C0C6E4A-E161-4151-8B10-4D187EF12DD7}"/>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24266B16-7DE7-4506-92C7-F583DCB6A11F}"/>
              </a:ext>
            </a:extLst>
          </p:cNvPr>
          <p:cNvSpPr>
            <a:spLocks noGrp="1"/>
          </p:cNvSpPr>
          <p:nvPr>
            <p:ph type="sldNum" sz="quarter" idx="12"/>
          </p:nvPr>
        </p:nvSpPr>
        <p:spPr/>
        <p:txBody>
          <a:bodyPr/>
          <a:lstStyle/>
          <a:p>
            <a:fld id="{1EF421C1-A146-4F8B-91CB-3409A3DB346C}" type="slidenum">
              <a:rPr lang="nl-NL" smtClean="0"/>
              <a:t>‹#›</a:t>
            </a:fld>
            <a:endParaRPr lang="nl-NL"/>
          </a:p>
        </p:txBody>
      </p:sp>
    </p:spTree>
    <p:extLst>
      <p:ext uri="{BB962C8B-B14F-4D97-AF65-F5344CB8AC3E}">
        <p14:creationId xmlns:p14="http://schemas.microsoft.com/office/powerpoint/2010/main" val="2447465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BA4ED-1FA6-4FC3-BF76-CE10F3E3D681}"/>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D59F7A3F-1257-4C0A-BAB0-EA983B9135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0251B2-43DB-4C68-A87A-6CC4E6B36A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B8D9125B-5EEE-4492-847D-195008D162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70C365-3F44-48AF-9E94-9F8F546A12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a:extLst>
              <a:ext uri="{FF2B5EF4-FFF2-40B4-BE49-F238E27FC236}">
                <a16:creationId xmlns:a16="http://schemas.microsoft.com/office/drawing/2014/main" id="{F38A7607-7B6B-4361-8510-D9E2501E9A07}"/>
              </a:ext>
            </a:extLst>
          </p:cNvPr>
          <p:cNvSpPr>
            <a:spLocks noGrp="1"/>
          </p:cNvSpPr>
          <p:nvPr>
            <p:ph type="dt" sz="half" idx="10"/>
          </p:nvPr>
        </p:nvSpPr>
        <p:spPr/>
        <p:txBody>
          <a:bodyPr/>
          <a:lstStyle/>
          <a:p>
            <a:fld id="{5B04FEEB-B481-485B-82CF-91CCC45FD984}" type="datetimeFigureOut">
              <a:rPr lang="nl-NL" smtClean="0"/>
              <a:t>17-7-2026</a:t>
            </a:fld>
            <a:endParaRPr lang="nl-NL"/>
          </a:p>
        </p:txBody>
      </p:sp>
      <p:sp>
        <p:nvSpPr>
          <p:cNvPr id="8" name="Footer Placeholder 7">
            <a:extLst>
              <a:ext uri="{FF2B5EF4-FFF2-40B4-BE49-F238E27FC236}">
                <a16:creationId xmlns:a16="http://schemas.microsoft.com/office/drawing/2014/main" id="{BC5A9E34-B21C-4BB9-BF26-A60103E8B38F}"/>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60A9D668-22EF-46DE-9A17-CA9C2A1C761A}"/>
              </a:ext>
            </a:extLst>
          </p:cNvPr>
          <p:cNvSpPr>
            <a:spLocks noGrp="1"/>
          </p:cNvSpPr>
          <p:nvPr>
            <p:ph type="sldNum" sz="quarter" idx="12"/>
          </p:nvPr>
        </p:nvSpPr>
        <p:spPr/>
        <p:txBody>
          <a:bodyPr/>
          <a:lstStyle/>
          <a:p>
            <a:fld id="{1EF421C1-A146-4F8B-91CB-3409A3DB346C}" type="slidenum">
              <a:rPr lang="nl-NL" smtClean="0"/>
              <a:t>‹#›</a:t>
            </a:fld>
            <a:endParaRPr lang="nl-NL"/>
          </a:p>
        </p:txBody>
      </p:sp>
    </p:spTree>
    <p:extLst>
      <p:ext uri="{BB962C8B-B14F-4D97-AF65-F5344CB8AC3E}">
        <p14:creationId xmlns:p14="http://schemas.microsoft.com/office/powerpoint/2010/main" val="1939832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C7F4D-7764-464B-BB67-73CAFD4D4D68}"/>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3F638873-920F-47FA-8C79-7824C535B616}"/>
              </a:ext>
            </a:extLst>
          </p:cNvPr>
          <p:cNvSpPr>
            <a:spLocks noGrp="1"/>
          </p:cNvSpPr>
          <p:nvPr>
            <p:ph type="dt" sz="half" idx="10"/>
          </p:nvPr>
        </p:nvSpPr>
        <p:spPr/>
        <p:txBody>
          <a:bodyPr/>
          <a:lstStyle/>
          <a:p>
            <a:fld id="{5B04FEEB-B481-485B-82CF-91CCC45FD984}" type="datetimeFigureOut">
              <a:rPr lang="nl-NL" smtClean="0"/>
              <a:t>17-7-2026</a:t>
            </a:fld>
            <a:endParaRPr lang="nl-NL"/>
          </a:p>
        </p:txBody>
      </p:sp>
      <p:sp>
        <p:nvSpPr>
          <p:cNvPr id="4" name="Footer Placeholder 3">
            <a:extLst>
              <a:ext uri="{FF2B5EF4-FFF2-40B4-BE49-F238E27FC236}">
                <a16:creationId xmlns:a16="http://schemas.microsoft.com/office/drawing/2014/main" id="{7695A5A3-B60D-4D87-A3B0-C7930CC61977}"/>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335A6DFB-0BEC-45C1-9B16-7DCB6422F397}"/>
              </a:ext>
            </a:extLst>
          </p:cNvPr>
          <p:cNvSpPr>
            <a:spLocks noGrp="1"/>
          </p:cNvSpPr>
          <p:nvPr>
            <p:ph type="sldNum" sz="quarter" idx="12"/>
          </p:nvPr>
        </p:nvSpPr>
        <p:spPr/>
        <p:txBody>
          <a:bodyPr/>
          <a:lstStyle/>
          <a:p>
            <a:fld id="{1EF421C1-A146-4F8B-91CB-3409A3DB346C}" type="slidenum">
              <a:rPr lang="nl-NL" smtClean="0"/>
              <a:t>‹#›</a:t>
            </a:fld>
            <a:endParaRPr lang="nl-NL"/>
          </a:p>
        </p:txBody>
      </p:sp>
    </p:spTree>
    <p:extLst>
      <p:ext uri="{BB962C8B-B14F-4D97-AF65-F5344CB8AC3E}">
        <p14:creationId xmlns:p14="http://schemas.microsoft.com/office/powerpoint/2010/main" val="928317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37165D-478B-486C-971D-017EAC98BF56}"/>
              </a:ext>
            </a:extLst>
          </p:cNvPr>
          <p:cNvSpPr>
            <a:spLocks noGrp="1"/>
          </p:cNvSpPr>
          <p:nvPr>
            <p:ph type="dt" sz="half" idx="10"/>
          </p:nvPr>
        </p:nvSpPr>
        <p:spPr/>
        <p:txBody>
          <a:bodyPr/>
          <a:lstStyle/>
          <a:p>
            <a:fld id="{5B04FEEB-B481-485B-82CF-91CCC45FD984}" type="datetimeFigureOut">
              <a:rPr lang="nl-NL" smtClean="0"/>
              <a:t>17-7-2026</a:t>
            </a:fld>
            <a:endParaRPr lang="nl-NL"/>
          </a:p>
        </p:txBody>
      </p:sp>
      <p:sp>
        <p:nvSpPr>
          <p:cNvPr id="3" name="Footer Placeholder 2">
            <a:extLst>
              <a:ext uri="{FF2B5EF4-FFF2-40B4-BE49-F238E27FC236}">
                <a16:creationId xmlns:a16="http://schemas.microsoft.com/office/drawing/2014/main" id="{CBD672EF-BF40-4F4D-AE42-C2595F0042BE}"/>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598FC16B-72EE-44DE-885C-0C6046ECFF3E}"/>
              </a:ext>
            </a:extLst>
          </p:cNvPr>
          <p:cNvSpPr>
            <a:spLocks noGrp="1"/>
          </p:cNvSpPr>
          <p:nvPr>
            <p:ph type="sldNum" sz="quarter" idx="12"/>
          </p:nvPr>
        </p:nvSpPr>
        <p:spPr/>
        <p:txBody>
          <a:bodyPr/>
          <a:lstStyle/>
          <a:p>
            <a:fld id="{1EF421C1-A146-4F8B-91CB-3409A3DB346C}" type="slidenum">
              <a:rPr lang="nl-NL" smtClean="0"/>
              <a:t>‹#›</a:t>
            </a:fld>
            <a:endParaRPr lang="nl-NL"/>
          </a:p>
        </p:txBody>
      </p:sp>
    </p:spTree>
    <p:extLst>
      <p:ext uri="{BB962C8B-B14F-4D97-AF65-F5344CB8AC3E}">
        <p14:creationId xmlns:p14="http://schemas.microsoft.com/office/powerpoint/2010/main" val="3180578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30414-1B5E-4A38-B4CF-20504DB351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D6222AB9-E579-4685-A737-D9BBDEF2E4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9A659E1F-36D9-42E3-8251-6BF19D528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199D31-53F4-4FDF-B1BF-029224F7BE3D}"/>
              </a:ext>
            </a:extLst>
          </p:cNvPr>
          <p:cNvSpPr>
            <a:spLocks noGrp="1"/>
          </p:cNvSpPr>
          <p:nvPr>
            <p:ph type="dt" sz="half" idx="10"/>
          </p:nvPr>
        </p:nvSpPr>
        <p:spPr/>
        <p:txBody>
          <a:bodyPr/>
          <a:lstStyle/>
          <a:p>
            <a:fld id="{5B04FEEB-B481-485B-82CF-91CCC45FD984}" type="datetimeFigureOut">
              <a:rPr lang="nl-NL" smtClean="0"/>
              <a:t>17-7-2026</a:t>
            </a:fld>
            <a:endParaRPr lang="nl-NL"/>
          </a:p>
        </p:txBody>
      </p:sp>
      <p:sp>
        <p:nvSpPr>
          <p:cNvPr id="6" name="Footer Placeholder 5">
            <a:extLst>
              <a:ext uri="{FF2B5EF4-FFF2-40B4-BE49-F238E27FC236}">
                <a16:creationId xmlns:a16="http://schemas.microsoft.com/office/drawing/2014/main" id="{DE911717-8D84-4245-9C1F-DB99D720A4EC}"/>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23020459-DC7A-4CE5-BE16-4AF9930F00BE}"/>
              </a:ext>
            </a:extLst>
          </p:cNvPr>
          <p:cNvSpPr>
            <a:spLocks noGrp="1"/>
          </p:cNvSpPr>
          <p:nvPr>
            <p:ph type="sldNum" sz="quarter" idx="12"/>
          </p:nvPr>
        </p:nvSpPr>
        <p:spPr/>
        <p:txBody>
          <a:bodyPr/>
          <a:lstStyle/>
          <a:p>
            <a:fld id="{1EF421C1-A146-4F8B-91CB-3409A3DB346C}" type="slidenum">
              <a:rPr lang="nl-NL" smtClean="0"/>
              <a:t>‹#›</a:t>
            </a:fld>
            <a:endParaRPr lang="nl-NL"/>
          </a:p>
        </p:txBody>
      </p:sp>
    </p:spTree>
    <p:extLst>
      <p:ext uri="{BB962C8B-B14F-4D97-AF65-F5344CB8AC3E}">
        <p14:creationId xmlns:p14="http://schemas.microsoft.com/office/powerpoint/2010/main" val="1595172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32643-F748-4601-A311-A64DDBDDD0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6CE701C3-1601-41F0-99A8-9D45307D37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02CAFFDE-1696-43E3-96A8-90BB29C269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86B77D-C68A-4663-A735-351E6C90E17C}"/>
              </a:ext>
            </a:extLst>
          </p:cNvPr>
          <p:cNvSpPr>
            <a:spLocks noGrp="1"/>
          </p:cNvSpPr>
          <p:nvPr>
            <p:ph type="dt" sz="half" idx="10"/>
          </p:nvPr>
        </p:nvSpPr>
        <p:spPr/>
        <p:txBody>
          <a:bodyPr/>
          <a:lstStyle/>
          <a:p>
            <a:fld id="{5B04FEEB-B481-485B-82CF-91CCC45FD984}" type="datetimeFigureOut">
              <a:rPr lang="nl-NL" smtClean="0"/>
              <a:t>17-7-2026</a:t>
            </a:fld>
            <a:endParaRPr lang="nl-NL"/>
          </a:p>
        </p:txBody>
      </p:sp>
      <p:sp>
        <p:nvSpPr>
          <p:cNvPr id="6" name="Footer Placeholder 5">
            <a:extLst>
              <a:ext uri="{FF2B5EF4-FFF2-40B4-BE49-F238E27FC236}">
                <a16:creationId xmlns:a16="http://schemas.microsoft.com/office/drawing/2014/main" id="{A7EE7A30-E7FC-456B-81CF-652180B40E63}"/>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266043E2-D6A5-4AC6-8375-4B218729A59A}"/>
              </a:ext>
            </a:extLst>
          </p:cNvPr>
          <p:cNvSpPr>
            <a:spLocks noGrp="1"/>
          </p:cNvSpPr>
          <p:nvPr>
            <p:ph type="sldNum" sz="quarter" idx="12"/>
          </p:nvPr>
        </p:nvSpPr>
        <p:spPr/>
        <p:txBody>
          <a:bodyPr/>
          <a:lstStyle/>
          <a:p>
            <a:fld id="{1EF421C1-A146-4F8B-91CB-3409A3DB346C}" type="slidenum">
              <a:rPr lang="nl-NL" smtClean="0"/>
              <a:t>‹#›</a:t>
            </a:fld>
            <a:endParaRPr lang="nl-NL"/>
          </a:p>
        </p:txBody>
      </p:sp>
    </p:spTree>
    <p:extLst>
      <p:ext uri="{BB962C8B-B14F-4D97-AF65-F5344CB8AC3E}">
        <p14:creationId xmlns:p14="http://schemas.microsoft.com/office/powerpoint/2010/main" val="2806691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1FA4D-BB48-4279-BD58-333557087B2F}"/>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A65D6973-3F8E-4DB2-8F0A-4176AF23BA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08476B14-DBE2-44D3-A0CF-C1600CE6AEFF}"/>
              </a:ext>
            </a:extLst>
          </p:cNvPr>
          <p:cNvSpPr>
            <a:spLocks noGrp="1"/>
          </p:cNvSpPr>
          <p:nvPr>
            <p:ph type="dt" sz="half" idx="10"/>
          </p:nvPr>
        </p:nvSpPr>
        <p:spPr/>
        <p:txBody>
          <a:bodyPr/>
          <a:lstStyle/>
          <a:p>
            <a:fld id="{5B04FEEB-B481-485B-82CF-91CCC45FD984}" type="datetimeFigureOut">
              <a:rPr lang="nl-NL" smtClean="0"/>
              <a:t>17-7-2026</a:t>
            </a:fld>
            <a:endParaRPr lang="nl-NL"/>
          </a:p>
        </p:txBody>
      </p:sp>
      <p:sp>
        <p:nvSpPr>
          <p:cNvPr id="5" name="Footer Placeholder 4">
            <a:extLst>
              <a:ext uri="{FF2B5EF4-FFF2-40B4-BE49-F238E27FC236}">
                <a16:creationId xmlns:a16="http://schemas.microsoft.com/office/drawing/2014/main" id="{F868E8D8-7980-4D79-BD85-18E65623B15E}"/>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9EE5AF79-C23C-4622-B0EE-351C0D096B0D}"/>
              </a:ext>
            </a:extLst>
          </p:cNvPr>
          <p:cNvSpPr>
            <a:spLocks noGrp="1"/>
          </p:cNvSpPr>
          <p:nvPr>
            <p:ph type="sldNum" sz="quarter" idx="12"/>
          </p:nvPr>
        </p:nvSpPr>
        <p:spPr/>
        <p:txBody>
          <a:bodyPr/>
          <a:lstStyle/>
          <a:p>
            <a:fld id="{1EF421C1-A146-4F8B-91CB-3409A3DB346C}" type="slidenum">
              <a:rPr lang="nl-NL" smtClean="0"/>
              <a:t>‹#›</a:t>
            </a:fld>
            <a:endParaRPr lang="nl-NL"/>
          </a:p>
        </p:txBody>
      </p:sp>
    </p:spTree>
    <p:extLst>
      <p:ext uri="{BB962C8B-B14F-4D97-AF65-F5344CB8AC3E}">
        <p14:creationId xmlns:p14="http://schemas.microsoft.com/office/powerpoint/2010/main" val="3985393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A93075-0544-4357-A78C-21FB601BCA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CD4816B5-BFEB-45E3-B6F9-4E3EE713B1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715CDFA2-7EF8-48A5-BA2D-039F410F042E}"/>
              </a:ext>
            </a:extLst>
          </p:cNvPr>
          <p:cNvSpPr>
            <a:spLocks noGrp="1"/>
          </p:cNvSpPr>
          <p:nvPr>
            <p:ph type="dt" sz="half" idx="10"/>
          </p:nvPr>
        </p:nvSpPr>
        <p:spPr/>
        <p:txBody>
          <a:bodyPr/>
          <a:lstStyle/>
          <a:p>
            <a:fld id="{5B04FEEB-B481-485B-82CF-91CCC45FD984}" type="datetimeFigureOut">
              <a:rPr lang="nl-NL" smtClean="0"/>
              <a:t>17-7-2026</a:t>
            </a:fld>
            <a:endParaRPr lang="nl-NL"/>
          </a:p>
        </p:txBody>
      </p:sp>
      <p:sp>
        <p:nvSpPr>
          <p:cNvPr id="5" name="Footer Placeholder 4">
            <a:extLst>
              <a:ext uri="{FF2B5EF4-FFF2-40B4-BE49-F238E27FC236}">
                <a16:creationId xmlns:a16="http://schemas.microsoft.com/office/drawing/2014/main" id="{9E71B4ED-4271-4B4E-82C9-68BCED58C7FC}"/>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81C6B6AB-A6EC-42F0-B87B-4C64D8B90868}"/>
              </a:ext>
            </a:extLst>
          </p:cNvPr>
          <p:cNvSpPr>
            <a:spLocks noGrp="1"/>
          </p:cNvSpPr>
          <p:nvPr>
            <p:ph type="sldNum" sz="quarter" idx="12"/>
          </p:nvPr>
        </p:nvSpPr>
        <p:spPr/>
        <p:txBody>
          <a:bodyPr/>
          <a:lstStyle/>
          <a:p>
            <a:fld id="{1EF421C1-A146-4F8B-91CB-3409A3DB346C}" type="slidenum">
              <a:rPr lang="nl-NL" smtClean="0"/>
              <a:t>‹#›</a:t>
            </a:fld>
            <a:endParaRPr lang="nl-NL"/>
          </a:p>
        </p:txBody>
      </p:sp>
    </p:spTree>
    <p:extLst>
      <p:ext uri="{BB962C8B-B14F-4D97-AF65-F5344CB8AC3E}">
        <p14:creationId xmlns:p14="http://schemas.microsoft.com/office/powerpoint/2010/main" val="1600924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ext only">
    <p:bg bwMode="gray">
      <p:bgPr>
        <a:solidFill>
          <a:schemeClr val="bg1"/>
        </a:solidFill>
        <a:effectLst/>
      </p:bgPr>
    </p:bg>
    <p:spTree>
      <p:nvGrpSpPr>
        <p:cNvPr id="1" name=""/>
        <p:cNvGrpSpPr/>
        <p:nvPr/>
      </p:nvGrpSpPr>
      <p:grpSpPr>
        <a:xfrm>
          <a:off x="0" y="0"/>
          <a:ext cx="0" cy="0"/>
          <a:chOff x="0" y="0"/>
          <a:chExt cx="0" cy="0"/>
        </a:xfrm>
      </p:grpSpPr>
      <p:sp>
        <p:nvSpPr>
          <p:cNvPr id="9" name="Titel 1">
            <a:extLst>
              <a:ext uri="{FF2B5EF4-FFF2-40B4-BE49-F238E27FC236}">
                <a16:creationId xmlns:a16="http://schemas.microsoft.com/office/drawing/2014/main" id="{C1824C1D-4906-3A4A-B5A7-7CF6C4EB7B5A}"/>
              </a:ext>
            </a:extLst>
          </p:cNvPr>
          <p:cNvSpPr>
            <a:spLocks noGrp="1"/>
          </p:cNvSpPr>
          <p:nvPr>
            <p:ph type="ctrTitle" hasCustomPrompt="1"/>
          </p:nvPr>
        </p:nvSpPr>
        <p:spPr>
          <a:xfrm>
            <a:off x="2317147" y="1196975"/>
            <a:ext cx="7557707" cy="1253617"/>
          </a:xfrm>
          <a:prstGeom prst="rect">
            <a:avLst/>
          </a:prstGeom>
        </p:spPr>
        <p:txBody>
          <a:bodyPr anchor="t" anchorCtr="0"/>
          <a:lstStyle>
            <a:lvl1pPr marL="0" marR="0" indent="0" algn="l" defTabSz="914126" rtl="0" eaLnBrk="1" fontAlgn="auto" latinLnBrk="0" hangingPunct="1">
              <a:lnSpc>
                <a:spcPct val="100000"/>
              </a:lnSpc>
              <a:spcBef>
                <a:spcPct val="0"/>
              </a:spcBef>
              <a:spcAft>
                <a:spcPts val="0"/>
              </a:spcAft>
              <a:buClrTx/>
              <a:buSzTx/>
              <a:buFontTx/>
              <a:buNone/>
              <a:tabLst/>
              <a:defRPr lang="nl-NL" sz="2299" b="1" i="0" smtClean="0">
                <a:effectLst/>
                <a:latin typeface="Open Sans" panose="020B0606030504020204" pitchFamily="34" charset="0"/>
                <a:ea typeface="Open Sans" panose="020B0606030504020204" pitchFamily="34" charset="0"/>
                <a:cs typeface="Open Sans" panose="020B0606030504020204" pitchFamily="34" charset="0"/>
              </a:defRPr>
            </a:lvl1pPr>
          </a:lstStyle>
          <a:p>
            <a:r>
              <a:rPr lang="en-GB" dirty="0"/>
              <a:t>Title</a:t>
            </a:r>
          </a:p>
        </p:txBody>
      </p:sp>
      <p:sp>
        <p:nvSpPr>
          <p:cNvPr id="10" name="Tijdelijke aanduiding voor tekst 2">
            <a:extLst>
              <a:ext uri="{FF2B5EF4-FFF2-40B4-BE49-F238E27FC236}">
                <a16:creationId xmlns:a16="http://schemas.microsoft.com/office/drawing/2014/main" id="{5E1B5542-E518-FB47-95E8-2B71A026A2A9}"/>
              </a:ext>
            </a:extLst>
          </p:cNvPr>
          <p:cNvSpPr>
            <a:spLocks noGrp="1"/>
          </p:cNvSpPr>
          <p:nvPr>
            <p:ph type="body" sz="quarter" idx="10" hasCustomPrompt="1"/>
          </p:nvPr>
        </p:nvSpPr>
        <p:spPr>
          <a:xfrm>
            <a:off x="2317147" y="2450593"/>
            <a:ext cx="7557707" cy="3443316"/>
          </a:xfrm>
          <a:prstGeom prst="rect">
            <a:avLst/>
          </a:prstGeom>
        </p:spPr>
        <p:txBody>
          <a:bodyPr/>
          <a:lstStyle>
            <a:lvl1pPr marL="0" marR="0" indent="0" algn="l" defTabSz="914126" rtl="0" eaLnBrk="1" fontAlgn="auto" latinLnBrk="0" hangingPunct="1">
              <a:lnSpc>
                <a:spcPct val="110000"/>
              </a:lnSpc>
              <a:spcBef>
                <a:spcPts val="0"/>
              </a:spcBef>
              <a:spcAft>
                <a:spcPts val="0"/>
              </a:spcAft>
              <a:buClrTx/>
              <a:buSzTx/>
              <a:buFont typeface="Arial" pitchFamily="34" charset="0"/>
              <a:buNone/>
              <a:tabLst/>
              <a:defRPr lang="nl-NL" sz="2199" b="0" i="0" kern="1200" baseline="0" dirty="0" err="1">
                <a:solidFill>
                  <a:schemeClr val="tx1"/>
                </a:solidFill>
                <a:effectLst/>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Molorepudit</a:t>
            </a:r>
            <a:r>
              <a:rPr lang="nl-NL" dirty="0"/>
              <a:t> </a:t>
            </a:r>
            <a:r>
              <a:rPr lang="nl-NL" dirty="0" err="1"/>
              <a:t>ressimus</a:t>
            </a:r>
            <a:r>
              <a:rPr lang="nl-NL" dirty="0"/>
              <a:t> </a:t>
            </a:r>
            <a:r>
              <a:rPr lang="nl-NL" dirty="0" err="1"/>
              <a:t>exeri</a:t>
            </a:r>
            <a:r>
              <a:rPr lang="nl-NL" dirty="0"/>
              <a:t> </a:t>
            </a:r>
            <a:r>
              <a:rPr lang="nl-NL" dirty="0" err="1"/>
              <a:t>nus</a:t>
            </a:r>
            <a:r>
              <a:rPr lang="nl-NL" dirty="0"/>
              <a:t> et </a:t>
            </a:r>
            <a:r>
              <a:rPr lang="nl-NL" dirty="0" err="1"/>
              <a:t>ipienda</a:t>
            </a:r>
            <a:r>
              <a:rPr lang="nl-NL" dirty="0"/>
              <a:t> et </a:t>
            </a:r>
            <a:r>
              <a:rPr lang="nl-NL" dirty="0" err="1"/>
              <a:t>adiantot</a:t>
            </a:r>
            <a:r>
              <a:rPr lang="nl-NL" dirty="0"/>
              <a:t> </a:t>
            </a:r>
            <a:r>
              <a:rPr lang="nl-NL" dirty="0" err="1"/>
              <a:t>Ique</a:t>
            </a:r>
            <a:r>
              <a:rPr lang="nl-NL" dirty="0"/>
              <a:t> </a:t>
            </a:r>
            <a:r>
              <a:rPr lang="nl-NL" dirty="0" err="1"/>
              <a:t>niminti</a:t>
            </a:r>
            <a:r>
              <a:rPr lang="nl-NL" dirty="0"/>
              <a:t> </a:t>
            </a:r>
            <a:r>
              <a:rPr lang="nl-NL" dirty="0" err="1"/>
              <a:t>nonsendaecae</a:t>
            </a:r>
            <a:r>
              <a:rPr lang="nl-NL" dirty="0"/>
              <a:t> </a:t>
            </a:r>
            <a:r>
              <a:rPr lang="nl-NL" dirty="0" err="1"/>
              <a:t>volor</a:t>
            </a:r>
            <a:r>
              <a:rPr lang="nl-NL" dirty="0"/>
              <a:t> a ad et ut </a:t>
            </a:r>
            <a:r>
              <a:rPr lang="nl-NL" dirty="0" err="1"/>
              <a:t>eum</a:t>
            </a:r>
            <a:r>
              <a:rPr lang="nl-NL" dirty="0"/>
              <a:t> se pos mos </a:t>
            </a:r>
            <a:r>
              <a:rPr lang="nl-NL" dirty="0" err="1"/>
              <a:t>sed</a:t>
            </a:r>
            <a:r>
              <a:rPr lang="nl-NL" dirty="0"/>
              <a:t> </a:t>
            </a:r>
            <a:r>
              <a:rPr lang="nl-NL" dirty="0" err="1"/>
              <a:t>ulpa</a:t>
            </a:r>
            <a:r>
              <a:rPr lang="nl-NL" dirty="0"/>
              <a:t> </a:t>
            </a:r>
            <a:r>
              <a:rPr lang="nl-NL" dirty="0" err="1"/>
              <a:t>vitas</a:t>
            </a:r>
            <a:r>
              <a:rPr lang="nl-NL" dirty="0"/>
              <a:t> </a:t>
            </a:r>
            <a:r>
              <a:rPr lang="nl-NL" dirty="0" err="1"/>
              <a:t>aut</a:t>
            </a:r>
            <a:r>
              <a:rPr lang="nl-NL" dirty="0"/>
              <a:t> </a:t>
            </a:r>
            <a:r>
              <a:rPr lang="nl-NL" dirty="0" err="1"/>
              <a:t>quia</a:t>
            </a:r>
            <a:r>
              <a:rPr lang="nl-NL" dirty="0"/>
              <a:t> </a:t>
            </a:r>
            <a:r>
              <a:rPr lang="nl-NL" dirty="0" err="1"/>
              <a:t>doluptio</a:t>
            </a:r>
            <a:r>
              <a:rPr lang="nl-NL" dirty="0"/>
              <a:t> </a:t>
            </a:r>
            <a:r>
              <a:rPr lang="nl-NL" dirty="0" err="1"/>
              <a:t>iduciis</a:t>
            </a:r>
            <a:r>
              <a:rPr lang="nl-NL" dirty="0"/>
              <a:t> </a:t>
            </a:r>
            <a:r>
              <a:rPr lang="nl-NL" dirty="0" err="1"/>
              <a:t>sedis</a:t>
            </a:r>
            <a:r>
              <a:rPr lang="nl-NL" dirty="0"/>
              <a:t> </a:t>
            </a:r>
            <a:r>
              <a:rPr lang="nl-NL" dirty="0" err="1"/>
              <a:t>sitat</a:t>
            </a:r>
            <a:r>
              <a:rPr lang="nl-NL" dirty="0"/>
              <a:t> es </a:t>
            </a:r>
            <a:r>
              <a:rPr lang="nl-NL" dirty="0" err="1"/>
              <a:t>nihition</a:t>
            </a:r>
            <a:r>
              <a:rPr lang="nl-NL" dirty="0"/>
              <a:t> </a:t>
            </a:r>
            <a:r>
              <a:rPr lang="nl-NL" dirty="0" err="1"/>
              <a:t>nonsecturi</a:t>
            </a:r>
            <a:r>
              <a:rPr lang="nl-NL" dirty="0"/>
              <a:t> </a:t>
            </a:r>
            <a:r>
              <a:rPr lang="nl-NL" dirty="0" err="1"/>
              <a:t>officidis</a:t>
            </a:r>
            <a:r>
              <a:rPr lang="nl-NL" dirty="0"/>
              <a:t> ex et que </a:t>
            </a:r>
            <a:r>
              <a:rPr lang="nl-NL" dirty="0" err="1"/>
              <a:t>esecto</a:t>
            </a:r>
            <a:r>
              <a:rPr lang="nl-NL" dirty="0"/>
              <a:t> </a:t>
            </a:r>
            <a:r>
              <a:rPr lang="nl-NL" dirty="0" err="1"/>
              <a:t>dolorumenis</a:t>
            </a:r>
            <a:r>
              <a:rPr lang="nl-NL" dirty="0"/>
              <a:t> </a:t>
            </a:r>
            <a:r>
              <a:rPr lang="nl-NL" dirty="0" err="1"/>
              <a:t>aritat</a:t>
            </a:r>
            <a:r>
              <a:rPr lang="nl-NL" dirty="0"/>
              <a:t> et des </a:t>
            </a:r>
            <a:r>
              <a:rPr lang="nl-NL" dirty="0" err="1"/>
              <a:t>earcit</a:t>
            </a:r>
            <a:r>
              <a:rPr lang="nl-NL" dirty="0"/>
              <a:t>, </a:t>
            </a:r>
            <a:r>
              <a:rPr lang="nl-NL" dirty="0" err="1"/>
              <a:t>ium</a:t>
            </a:r>
            <a:r>
              <a:rPr lang="nl-NL" dirty="0"/>
              <a:t> ad </a:t>
            </a:r>
            <a:r>
              <a:rPr lang="nl-NL" dirty="0" err="1"/>
              <a:t>quam</a:t>
            </a:r>
            <a:r>
              <a:rPr lang="nl-NL" dirty="0"/>
              <a:t> </a:t>
            </a:r>
            <a:r>
              <a:rPr lang="nl-NL" dirty="0" err="1"/>
              <a:t>faccupt</a:t>
            </a:r>
            <a:r>
              <a:rPr lang="nl-NL" dirty="0"/>
              <a:t> </a:t>
            </a:r>
            <a:r>
              <a:rPr lang="nl-NL" dirty="0" err="1"/>
              <a:t>atiature</a:t>
            </a:r>
            <a:r>
              <a:rPr lang="nl-NL" dirty="0"/>
              <a:t>, </a:t>
            </a:r>
            <a:r>
              <a:rPr lang="nl-NL" dirty="0" err="1"/>
              <a:t>qui</a:t>
            </a:r>
            <a:r>
              <a:rPr lang="nl-NL" dirty="0"/>
              <a:t> </a:t>
            </a:r>
            <a:r>
              <a:rPr lang="nl-NL" dirty="0" err="1"/>
              <a:t>officipis</a:t>
            </a:r>
            <a:r>
              <a:rPr lang="nl-NL" dirty="0"/>
              <a:t> </a:t>
            </a:r>
            <a:r>
              <a:rPr lang="nl-NL" dirty="0" err="1"/>
              <a:t>dolupta</a:t>
            </a:r>
            <a:r>
              <a:rPr lang="nl-NL" dirty="0"/>
              <a:t> </a:t>
            </a:r>
            <a:r>
              <a:rPr lang="nl-NL" dirty="0" err="1"/>
              <a:t>spereium</a:t>
            </a:r>
            <a:r>
              <a:rPr lang="nl-NL" dirty="0"/>
              <a:t> </a:t>
            </a:r>
            <a:r>
              <a:rPr lang="nl-NL" dirty="0" err="1"/>
              <a:t>quias</a:t>
            </a:r>
            <a:r>
              <a:rPr lang="nl-NL" dirty="0"/>
              <a:t> </a:t>
            </a:r>
            <a:r>
              <a:rPr lang="nl-NL" dirty="0" err="1"/>
              <a:t>sum</a:t>
            </a:r>
            <a:r>
              <a:rPr lang="nl-NL" dirty="0"/>
              <a:t> </a:t>
            </a:r>
            <a:r>
              <a:rPr lang="nl-NL" dirty="0" err="1"/>
              <a:t>aut</a:t>
            </a:r>
            <a:r>
              <a:rPr lang="nl-NL" dirty="0"/>
              <a:t> min </a:t>
            </a:r>
            <a:r>
              <a:rPr lang="nl-NL" dirty="0" err="1"/>
              <a:t>prae</a:t>
            </a:r>
            <a:r>
              <a:rPr lang="nl-NL" dirty="0"/>
              <a:t> nam </a:t>
            </a:r>
            <a:r>
              <a:rPr lang="nl-NL" dirty="0" err="1"/>
              <a:t>aut</a:t>
            </a:r>
            <a:r>
              <a:rPr lang="nl-NL" dirty="0"/>
              <a:t> que </a:t>
            </a:r>
            <a:r>
              <a:rPr lang="nl-NL" dirty="0" err="1"/>
              <a:t>nobitatur</a:t>
            </a:r>
            <a:r>
              <a:rPr lang="nl-NL" dirty="0"/>
              <a:t>, </a:t>
            </a:r>
            <a:r>
              <a:rPr lang="nl-NL" dirty="0" err="1"/>
              <a:t>cus</a:t>
            </a:r>
            <a:r>
              <a:rPr lang="nl-NL" dirty="0"/>
              <a:t> </a:t>
            </a:r>
            <a:r>
              <a:rPr lang="nl-NL" dirty="0" err="1"/>
              <a:t>eario</a:t>
            </a:r>
            <a:r>
              <a:rPr lang="nl-NL" dirty="0"/>
              <a:t> </a:t>
            </a:r>
            <a:r>
              <a:rPr lang="nl-NL" dirty="0" err="1"/>
              <a:t>omnihic</a:t>
            </a:r>
            <a:r>
              <a:rPr lang="nl-NL" dirty="0"/>
              <a:t> </a:t>
            </a:r>
            <a:r>
              <a:rPr lang="nl-NL" dirty="0" err="1"/>
              <a:t>aeruptur</a:t>
            </a:r>
            <a:r>
              <a:rPr lang="nl-NL" dirty="0"/>
              <a:t>, </a:t>
            </a:r>
            <a:r>
              <a:rPr lang="nl-NL" dirty="0" err="1"/>
              <a:t>sunt</a:t>
            </a:r>
            <a:r>
              <a:rPr lang="nl-NL" dirty="0"/>
              <a:t> </a:t>
            </a:r>
            <a:r>
              <a:rPr lang="nl-NL" dirty="0" err="1"/>
              <a:t>eruptat</a:t>
            </a:r>
            <a:r>
              <a:rPr lang="nl-NL" dirty="0"/>
              <a:t> </a:t>
            </a:r>
            <a:r>
              <a:rPr lang="nl-NL" dirty="0" err="1"/>
              <a:t>volorep</a:t>
            </a:r>
            <a:r>
              <a:rPr lang="nl-NL" dirty="0"/>
              <a:t>. &lt;Max. 70 </a:t>
            </a:r>
            <a:r>
              <a:rPr lang="nl-NL" dirty="0" err="1"/>
              <a:t>words</a:t>
            </a:r>
            <a:r>
              <a:rPr lang="nl-NL" dirty="0"/>
              <a:t>&gt; </a:t>
            </a:r>
          </a:p>
        </p:txBody>
      </p:sp>
      <p:pic>
        <p:nvPicPr>
          <p:cNvPr id="6" name="Afbeelding 5">
            <a:extLst>
              <a:ext uri="{FF2B5EF4-FFF2-40B4-BE49-F238E27FC236}">
                <a16:creationId xmlns:a16="http://schemas.microsoft.com/office/drawing/2014/main" id="{BCB6D8A1-2534-604A-A9FD-4672348B8A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3550" y="6001201"/>
            <a:ext cx="1727552" cy="679431"/>
          </a:xfrm>
          <a:prstGeom prst="rect">
            <a:avLst/>
          </a:prstGeom>
        </p:spPr>
      </p:pic>
    </p:spTree>
    <p:extLst>
      <p:ext uri="{BB962C8B-B14F-4D97-AF65-F5344CB8AC3E}">
        <p14:creationId xmlns:p14="http://schemas.microsoft.com/office/powerpoint/2010/main" val="1723204324"/>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7" orient="horz" pos="2115">
          <p15:clr>
            <a:srgbClr val="FBAE40"/>
          </p15:clr>
        </p15:guide>
        <p15:guide id="18" orient="horz" pos="75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4D76CD-10D2-4A0E-996B-4FEB127074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A9C02FA6-6AA9-4044-B338-B76C28DBDC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C971468B-776D-46E9-A269-94E3969D47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04FEEB-B481-485B-82CF-91CCC45FD984}" type="datetimeFigureOut">
              <a:rPr lang="nl-NL" smtClean="0"/>
              <a:t>17-7-2026</a:t>
            </a:fld>
            <a:endParaRPr lang="nl-NL"/>
          </a:p>
        </p:txBody>
      </p:sp>
      <p:sp>
        <p:nvSpPr>
          <p:cNvPr id="5" name="Footer Placeholder 4">
            <a:extLst>
              <a:ext uri="{FF2B5EF4-FFF2-40B4-BE49-F238E27FC236}">
                <a16:creationId xmlns:a16="http://schemas.microsoft.com/office/drawing/2014/main" id="{76445389-E299-48AB-850E-E6187C1404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a:extLst>
              <a:ext uri="{FF2B5EF4-FFF2-40B4-BE49-F238E27FC236}">
                <a16:creationId xmlns:a16="http://schemas.microsoft.com/office/drawing/2014/main" id="{F0E073D6-9BFF-4FC3-B8F3-9DC0B6B7B7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F421C1-A146-4F8B-91CB-3409A3DB346C}" type="slidenum">
              <a:rPr lang="nl-NL" smtClean="0"/>
              <a:t>‹#›</a:t>
            </a:fld>
            <a:endParaRPr lang="nl-NL"/>
          </a:p>
        </p:txBody>
      </p:sp>
    </p:spTree>
    <p:extLst>
      <p:ext uri="{BB962C8B-B14F-4D97-AF65-F5344CB8AC3E}">
        <p14:creationId xmlns:p14="http://schemas.microsoft.com/office/powerpoint/2010/main" val="1813963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eur03.safelinks.protection.outlook.com/?url=https%3A%2F%2Fsurvey.uu.nl%2Fjfe%2Fform%2FSV_6hbTmSu8fgFbT3o%3FQ_CHL%3Dqr&amp;data=05%7C02%7Cj.ou%40uu.nl%7Cea545512243349bae3b108dee3d001ec%7Cd72758a0a4464e0fa0aa4bf95a4a10e7%7C0%7C0%7C639198679708795275%7CUnknown%7CTWFpbGZsb3d8eyJFbXB0eU1hcGkiOnRydWUsIlYiOiIwLjAuMDAwMCIsIlAiOiJXaW4zMiIsIkFOIjoiTWFpbCIsIldUIjoyfQ%3D%3D%7C0%7C%7C%7C&amp;sdata=tNrpXnR9f5XqugQV%2BnMGibW6XWq%2FexddR9rrEih11bc%3D&amp;reserved=0" TargetMode="External"/><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20DFD-9840-454A-90BC-38F88D872B48}"/>
              </a:ext>
            </a:extLst>
          </p:cNvPr>
          <p:cNvSpPr>
            <a:spLocks noGrp="1"/>
          </p:cNvSpPr>
          <p:nvPr>
            <p:ph type="ctrTitle"/>
          </p:nvPr>
        </p:nvSpPr>
        <p:spPr/>
        <p:txBody>
          <a:bodyPr/>
          <a:lstStyle/>
          <a:p>
            <a:r>
              <a:rPr lang="en-US" dirty="0"/>
              <a:t>Diffusion in Networks</a:t>
            </a:r>
            <a:endParaRPr lang="nl-NL" dirty="0"/>
          </a:p>
        </p:txBody>
      </p:sp>
      <p:sp>
        <p:nvSpPr>
          <p:cNvPr id="3" name="Subtitle 2">
            <a:extLst>
              <a:ext uri="{FF2B5EF4-FFF2-40B4-BE49-F238E27FC236}">
                <a16:creationId xmlns:a16="http://schemas.microsoft.com/office/drawing/2014/main" id="{F57A336B-AFF1-4C6E-8CE7-D10F500194CC}"/>
              </a:ext>
            </a:extLst>
          </p:cNvPr>
          <p:cNvSpPr>
            <a:spLocks noGrp="1"/>
          </p:cNvSpPr>
          <p:nvPr>
            <p:ph type="subTitle" idx="1"/>
          </p:nvPr>
        </p:nvSpPr>
        <p:spPr>
          <a:xfrm>
            <a:off x="1524000" y="3602037"/>
            <a:ext cx="9144000" cy="2133599"/>
          </a:xfrm>
        </p:spPr>
        <p:txBody>
          <a:bodyPr>
            <a:normAutofit lnSpcReduction="10000"/>
          </a:bodyPr>
          <a:lstStyle/>
          <a:p>
            <a:r>
              <a:rPr lang="en-US" dirty="0"/>
              <a:t>Jiamin Ou</a:t>
            </a:r>
          </a:p>
          <a:p>
            <a:endParaRPr lang="en-US" dirty="0"/>
          </a:p>
          <a:p>
            <a:r>
              <a:rPr lang="en-US" dirty="0"/>
              <a:t>Summer School: Network Science</a:t>
            </a:r>
          </a:p>
          <a:p>
            <a:r>
              <a:rPr lang="en-US" dirty="0"/>
              <a:t>Day 5, Afternoon Session</a:t>
            </a:r>
          </a:p>
          <a:p>
            <a:r>
              <a:rPr lang="en-US" dirty="0"/>
              <a:t>2026</a:t>
            </a:r>
            <a:endParaRPr lang="nl-NL" dirty="0"/>
          </a:p>
        </p:txBody>
      </p:sp>
      <p:pic>
        <p:nvPicPr>
          <p:cNvPr id="1026" name="Picture 2">
            <a:extLst>
              <a:ext uri="{FF2B5EF4-FFF2-40B4-BE49-F238E27FC236}">
                <a16:creationId xmlns:a16="http://schemas.microsoft.com/office/drawing/2014/main" id="{3F6975F9-61FA-41E4-B4DF-403BF21622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1455" y="157162"/>
            <a:ext cx="5382908" cy="144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a:extLst>
              <a:ext uri="{FF2B5EF4-FFF2-40B4-BE49-F238E27FC236}">
                <a16:creationId xmlns:a16="http://schemas.microsoft.com/office/drawing/2014/main" id="{CC2D9ACB-5F6D-41AF-9F9F-6719DCCECA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3" y="3175"/>
            <a:ext cx="4465686"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1126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91E731-31FB-4DFF-92B6-F28F6B9E8C96}"/>
              </a:ext>
            </a:extLst>
          </p:cNvPr>
          <p:cNvPicPr>
            <a:picLocks noChangeAspect="1"/>
          </p:cNvPicPr>
          <p:nvPr/>
        </p:nvPicPr>
        <p:blipFill rotWithShape="1">
          <a:blip r:embed="rId3"/>
          <a:srcRect t="10295" r="1811"/>
          <a:stretch/>
        </p:blipFill>
        <p:spPr>
          <a:xfrm>
            <a:off x="190755" y="185195"/>
            <a:ext cx="4300223" cy="6151944"/>
          </a:xfrm>
          <a:prstGeom prst="rect">
            <a:avLst/>
          </a:prstGeom>
        </p:spPr>
      </p:pic>
      <p:sp>
        <p:nvSpPr>
          <p:cNvPr id="5" name="TextBox 4">
            <a:extLst>
              <a:ext uri="{FF2B5EF4-FFF2-40B4-BE49-F238E27FC236}">
                <a16:creationId xmlns:a16="http://schemas.microsoft.com/office/drawing/2014/main" id="{864F879B-9CB3-4F4C-86CB-6B9A5330382E}"/>
              </a:ext>
            </a:extLst>
          </p:cNvPr>
          <p:cNvSpPr txBox="1"/>
          <p:nvPr/>
        </p:nvSpPr>
        <p:spPr>
          <a:xfrm>
            <a:off x="4760535" y="2351136"/>
            <a:ext cx="7240709" cy="1323439"/>
          </a:xfrm>
          <a:prstGeom prst="rect">
            <a:avLst/>
          </a:prstGeom>
          <a:noFill/>
        </p:spPr>
        <p:txBody>
          <a:bodyPr wrap="square" rtlCol="0">
            <a:spAutoFit/>
          </a:bodyPr>
          <a:lstStyle/>
          <a:p>
            <a:pPr algn="ctr"/>
            <a:r>
              <a:rPr lang="en-GB" sz="2000" b="1" dirty="0">
                <a:solidFill>
                  <a:srgbClr val="DCA832"/>
                </a:solidFill>
              </a:rPr>
              <a:t>Memberships of civil rights activists in 1964-</a:t>
            </a:r>
            <a:r>
              <a:rPr lang="en-GB" sz="2000" dirty="0">
                <a:solidFill>
                  <a:schemeClr val="tx1">
                    <a:lumMod val="95000"/>
                    <a:lumOff val="5000"/>
                  </a:schemeClr>
                </a:solidFill>
              </a:rPr>
              <a:t> </a:t>
            </a:r>
            <a:r>
              <a:rPr lang="en-GB" sz="2000" b="1" dirty="0">
                <a:solidFill>
                  <a:srgbClr val="DCA832"/>
                </a:solidFill>
              </a:rPr>
              <a:t>“Freedom Summer” </a:t>
            </a:r>
            <a:r>
              <a:rPr lang="en-GB" sz="2000" dirty="0">
                <a:solidFill>
                  <a:schemeClr val="tx1">
                    <a:lumMod val="95000"/>
                    <a:lumOff val="5000"/>
                  </a:schemeClr>
                </a:solidFill>
              </a:rPr>
              <a:t>: </a:t>
            </a:r>
          </a:p>
          <a:p>
            <a:pPr algn="ctr"/>
            <a:r>
              <a:rPr lang="en-GB" sz="2000" dirty="0">
                <a:solidFill>
                  <a:schemeClr val="tx1">
                    <a:lumMod val="95000"/>
                    <a:lumOff val="5000"/>
                  </a:schemeClr>
                </a:solidFill>
              </a:rPr>
              <a:t>Despite the fact that weak ties offered an obvious advantage for rapidly increasing the movement’s exposure, memberships </a:t>
            </a:r>
            <a:r>
              <a:rPr lang="en-GB" sz="2000" b="1" dirty="0">
                <a:solidFill>
                  <a:srgbClr val="DCA832"/>
                </a:solidFill>
              </a:rPr>
              <a:t>grew primarily through recruitment networks composed of strong ties</a:t>
            </a:r>
            <a:r>
              <a:rPr lang="en-GB" sz="2000" dirty="0">
                <a:solidFill>
                  <a:schemeClr val="tx1">
                    <a:lumMod val="95000"/>
                    <a:lumOff val="5000"/>
                  </a:schemeClr>
                </a:solidFill>
              </a:rPr>
              <a:t>.</a:t>
            </a:r>
            <a:endParaRPr lang="en-GB" sz="1400" dirty="0">
              <a:solidFill>
                <a:schemeClr val="tx1">
                  <a:lumMod val="95000"/>
                  <a:lumOff val="5000"/>
                </a:schemeClr>
              </a:solidFill>
            </a:endParaRPr>
          </a:p>
        </p:txBody>
      </p:sp>
      <p:sp>
        <p:nvSpPr>
          <p:cNvPr id="7" name="TextBox 6">
            <a:extLst>
              <a:ext uri="{FF2B5EF4-FFF2-40B4-BE49-F238E27FC236}">
                <a16:creationId xmlns:a16="http://schemas.microsoft.com/office/drawing/2014/main" id="{9FFEA8AF-8F31-4068-A0AB-695AE509B526}"/>
              </a:ext>
            </a:extLst>
          </p:cNvPr>
          <p:cNvSpPr txBox="1"/>
          <p:nvPr/>
        </p:nvSpPr>
        <p:spPr>
          <a:xfrm>
            <a:off x="5906816" y="6488668"/>
            <a:ext cx="6094428" cy="276999"/>
          </a:xfrm>
          <a:prstGeom prst="rect">
            <a:avLst/>
          </a:prstGeom>
          <a:noFill/>
        </p:spPr>
        <p:txBody>
          <a:bodyPr wrap="square">
            <a:spAutoFit/>
          </a:bodyPr>
          <a:lstStyle/>
          <a:p>
            <a:pPr algn="r"/>
            <a:r>
              <a:rPr lang="en-GB" sz="1200" dirty="0">
                <a:solidFill>
                  <a:schemeClr val="tx1">
                    <a:lumMod val="95000"/>
                    <a:lumOff val="5000"/>
                  </a:schemeClr>
                </a:solidFill>
              </a:rPr>
              <a:t>(Lisa Berkman and Ichiro </a:t>
            </a:r>
            <a:r>
              <a:rPr lang="en-GB" sz="1200" dirty="0" err="1">
                <a:solidFill>
                  <a:schemeClr val="tx1">
                    <a:lumMod val="95000"/>
                    <a:lumOff val="5000"/>
                  </a:schemeClr>
                </a:solidFill>
              </a:rPr>
              <a:t>Kawachi</a:t>
            </a:r>
            <a:r>
              <a:rPr lang="en-GB" sz="1200" dirty="0">
                <a:solidFill>
                  <a:schemeClr val="tx1">
                    <a:lumMod val="95000"/>
                    <a:lumOff val="5000"/>
                  </a:schemeClr>
                </a:solidFill>
              </a:rPr>
              <a:t>, 2011)</a:t>
            </a:r>
            <a:endParaRPr lang="en-US" sz="1200" dirty="0"/>
          </a:p>
        </p:txBody>
      </p:sp>
    </p:spTree>
    <p:extLst>
      <p:ext uri="{BB962C8B-B14F-4D97-AF65-F5344CB8AC3E}">
        <p14:creationId xmlns:p14="http://schemas.microsoft.com/office/powerpoint/2010/main" val="9834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67600" y="2978912"/>
            <a:ext cx="4973902" cy="26112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5967600" y="1329745"/>
            <a:ext cx="4498124" cy="707886"/>
          </a:xfrm>
          <a:prstGeom prst="rect">
            <a:avLst/>
          </a:prstGeom>
          <a:solidFill>
            <a:schemeClr val="accent6">
              <a:lumMod val="40000"/>
              <a:lumOff val="60000"/>
            </a:schemeClr>
          </a:solidFill>
        </p:spPr>
        <p:txBody>
          <a:bodyPr wrap="square">
            <a:spAutoFit/>
          </a:bodyPr>
          <a:lstStyle/>
          <a:p>
            <a:r>
              <a:rPr lang="en-GB" sz="2000" b="1" dirty="0"/>
              <a:t>Spread of hand-washing, mask-wearing and other behaviours</a:t>
            </a:r>
            <a:endParaRPr lang="en-GB" sz="2000" dirty="0"/>
          </a:p>
        </p:txBody>
      </p:sp>
      <p:sp>
        <p:nvSpPr>
          <p:cNvPr id="7" name="矩形 6"/>
          <p:cNvSpPr/>
          <p:nvPr/>
        </p:nvSpPr>
        <p:spPr>
          <a:xfrm>
            <a:off x="2698781" y="1476914"/>
            <a:ext cx="2006190" cy="400110"/>
          </a:xfrm>
          <a:prstGeom prst="rect">
            <a:avLst/>
          </a:prstGeom>
          <a:solidFill>
            <a:schemeClr val="accent6">
              <a:lumMod val="40000"/>
              <a:lumOff val="60000"/>
            </a:schemeClr>
          </a:solidFill>
        </p:spPr>
        <p:txBody>
          <a:bodyPr wrap="none">
            <a:spAutoFit/>
          </a:bodyPr>
          <a:lstStyle/>
          <a:p>
            <a:r>
              <a:rPr lang="en-GB" sz="2000" b="1" dirty="0"/>
              <a:t>Spread of COVID </a:t>
            </a:r>
            <a:endParaRPr lang="en-GB" sz="2000" dirty="0"/>
          </a:p>
        </p:txBody>
      </p:sp>
      <p:sp>
        <p:nvSpPr>
          <p:cNvPr id="8" name="矩形 7"/>
          <p:cNvSpPr/>
          <p:nvPr/>
        </p:nvSpPr>
        <p:spPr>
          <a:xfrm>
            <a:off x="5166779" y="1311211"/>
            <a:ext cx="456792" cy="400110"/>
          </a:xfrm>
          <a:prstGeom prst="rect">
            <a:avLst/>
          </a:prstGeom>
        </p:spPr>
        <p:txBody>
          <a:bodyPr wrap="none">
            <a:spAutoFit/>
          </a:bodyPr>
          <a:lstStyle/>
          <a:p>
            <a:r>
              <a:rPr lang="en-GB" sz="2000" b="1" dirty="0"/>
              <a:t>VS</a:t>
            </a:r>
            <a:endParaRPr lang="en-GB" sz="2000" dirty="0"/>
          </a:p>
        </p:txBody>
      </p:sp>
      <p:sp>
        <p:nvSpPr>
          <p:cNvPr id="9" name="Rectangle 8">
            <a:extLst>
              <a:ext uri="{FF2B5EF4-FFF2-40B4-BE49-F238E27FC236}">
                <a16:creationId xmlns:a16="http://schemas.microsoft.com/office/drawing/2014/main" id="{C2A0DCD6-F3ED-4E31-B1E2-EED2569E24A5}"/>
              </a:ext>
            </a:extLst>
          </p:cNvPr>
          <p:cNvSpPr/>
          <p:nvPr/>
        </p:nvSpPr>
        <p:spPr>
          <a:xfrm>
            <a:off x="20609" y="72033"/>
            <a:ext cx="170584" cy="10501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标题 1">
            <a:extLst>
              <a:ext uri="{FF2B5EF4-FFF2-40B4-BE49-F238E27FC236}">
                <a16:creationId xmlns:a16="http://schemas.microsoft.com/office/drawing/2014/main" id="{212E0D2E-E532-45EB-BE93-AB5A94AC6B20}"/>
              </a:ext>
            </a:extLst>
          </p:cNvPr>
          <p:cNvSpPr>
            <a:spLocks noGrp="1"/>
          </p:cNvSpPr>
          <p:nvPr>
            <p:ph type="title"/>
          </p:nvPr>
        </p:nvSpPr>
        <p:spPr>
          <a:xfrm>
            <a:off x="191193" y="274772"/>
            <a:ext cx="11835966" cy="875478"/>
          </a:xfrm>
        </p:spPr>
        <p:txBody>
          <a:bodyPr>
            <a:noAutofit/>
          </a:bodyPr>
          <a:lstStyle/>
          <a:p>
            <a:pPr>
              <a:lnSpc>
                <a:spcPct val="120000"/>
              </a:lnSpc>
            </a:pPr>
            <a:r>
              <a:rPr lang="en-GB" sz="3000" b="1" dirty="0">
                <a:solidFill>
                  <a:schemeClr val="accent2">
                    <a:lumMod val="75000"/>
                  </a:schemeClr>
                </a:solidFill>
              </a:rPr>
              <a:t>The spread of personal hygiene behaviour is much slower than COVID. Why?</a:t>
            </a:r>
            <a:br>
              <a:rPr lang="en-GB" sz="3000" b="1" dirty="0">
                <a:solidFill>
                  <a:schemeClr val="accent2">
                    <a:lumMod val="75000"/>
                  </a:schemeClr>
                </a:solidFill>
              </a:rPr>
            </a:br>
            <a:endParaRPr lang="en-GB" sz="3000" b="1" dirty="0">
              <a:solidFill>
                <a:schemeClr val="accent2">
                  <a:lumMod val="75000"/>
                </a:schemeClr>
              </a:solidFill>
            </a:endParaRPr>
          </a:p>
        </p:txBody>
      </p:sp>
      <p:pic>
        <p:nvPicPr>
          <p:cNvPr id="4" name="Picture 3" descr="A screenshot of a graph&#10;&#10;Description automatically generated">
            <a:extLst>
              <a:ext uri="{FF2B5EF4-FFF2-40B4-BE49-F238E27FC236}">
                <a16:creationId xmlns:a16="http://schemas.microsoft.com/office/drawing/2014/main" id="{A0AC683D-AD4C-95F9-F7A5-B7B1DBE594FE}"/>
              </a:ext>
            </a:extLst>
          </p:cNvPr>
          <p:cNvPicPr>
            <a:picLocks noChangeAspect="1"/>
          </p:cNvPicPr>
          <p:nvPr/>
        </p:nvPicPr>
        <p:blipFill>
          <a:blip r:embed="rId4"/>
          <a:stretch>
            <a:fillRect/>
          </a:stretch>
        </p:blipFill>
        <p:spPr>
          <a:xfrm>
            <a:off x="189819" y="2454728"/>
            <a:ext cx="5525862" cy="3663044"/>
          </a:xfrm>
          <a:prstGeom prst="rect">
            <a:avLst/>
          </a:prstGeom>
        </p:spPr>
      </p:pic>
    </p:spTree>
    <p:extLst>
      <p:ext uri="{BB962C8B-B14F-4D97-AF65-F5344CB8AC3E}">
        <p14:creationId xmlns:p14="http://schemas.microsoft.com/office/powerpoint/2010/main" val="3910056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p:cNvSpPr>
            <a:spLocks noGrp="1"/>
          </p:cNvSpPr>
          <p:nvPr>
            <p:ph type="title"/>
          </p:nvPr>
        </p:nvSpPr>
        <p:spPr>
          <a:xfrm>
            <a:off x="630936" y="639520"/>
            <a:ext cx="3429000" cy="1719072"/>
          </a:xfrm>
        </p:spPr>
        <p:txBody>
          <a:bodyPr vert="horz" lIns="91440" tIns="45720" rIns="91440" bIns="45720" rtlCol="0" anchor="b">
            <a:normAutofit/>
          </a:bodyPr>
          <a:lstStyle/>
          <a:p>
            <a:r>
              <a:rPr lang="en-US" sz="3800" b="1" kern="1200" dirty="0">
                <a:solidFill>
                  <a:schemeClr val="tx1"/>
                </a:solidFill>
                <a:latin typeface="+mj-lt"/>
                <a:ea typeface="+mj-ea"/>
                <a:cs typeface="+mj-cs"/>
              </a:rPr>
              <a:t>Today’s </a:t>
            </a:r>
            <a:r>
              <a:rPr lang="en-US" sz="3800" b="1" kern="1200" dirty="0" err="1">
                <a:solidFill>
                  <a:schemeClr val="tx1"/>
                </a:solidFill>
                <a:latin typeface="+mj-lt"/>
                <a:ea typeface="+mj-ea"/>
                <a:cs typeface="+mj-cs"/>
              </a:rPr>
              <a:t>programe</a:t>
            </a:r>
            <a:endParaRPr lang="en-US" sz="3800" b="1" kern="1200" dirty="0">
              <a:solidFill>
                <a:schemeClr val="tx1"/>
              </a:solidFill>
              <a:latin typeface="+mj-lt"/>
              <a:ea typeface="+mj-ea"/>
              <a:cs typeface="+mj-cs"/>
            </a:endParaRP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内容占位符 2">
            <a:extLst>
              <a:ext uri="{FF2B5EF4-FFF2-40B4-BE49-F238E27FC236}">
                <a16:creationId xmlns:a16="http://schemas.microsoft.com/office/drawing/2014/main" id="{AB6D431C-6C24-41DA-8089-88EE2487A0FA}"/>
              </a:ext>
            </a:extLst>
          </p:cNvPr>
          <p:cNvSpPr txBox="1">
            <a:spLocks/>
          </p:cNvSpPr>
          <p:nvPr/>
        </p:nvSpPr>
        <p:spPr>
          <a:xfrm>
            <a:off x="3898373" y="563320"/>
            <a:ext cx="8196197"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200"/>
              </a:spcBef>
              <a:spcAft>
                <a:spcPts val="60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Simple contagion</a:t>
            </a:r>
          </a:p>
          <a:p>
            <a:pPr marL="0" marR="0" lvl="0" indent="0" algn="l" defTabSz="914400" rtl="0" eaLnBrk="1" fontAlgn="auto" latinLnBrk="0" hangingPunct="1">
              <a:lnSpc>
                <a:spcPct val="90000"/>
              </a:lnSpc>
              <a:spcBef>
                <a:spcPts val="1200"/>
              </a:spcBef>
              <a:spcAft>
                <a:spcPts val="600"/>
              </a:spcAft>
              <a:buClrTx/>
              <a:buSzTx/>
              <a:buFont typeface="Arial" panose="020B0604020202020204" pitchFamily="34" charset="0"/>
              <a:buNone/>
              <a:tabLst/>
              <a:defRPr/>
            </a:pPr>
            <a:r>
              <a:rPr kumimoji="0" lang="en-GB" sz="26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    Mechanism and the strength of ‘weak ties’</a:t>
            </a:r>
            <a:endParaRPr kumimoji="0" lang="en-GB" sz="2600" b="1"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200"/>
              </a:spcBef>
              <a:spcAft>
                <a:spcPts val="60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Diffusion model for simple contagion</a:t>
            </a:r>
          </a:p>
          <a:p>
            <a:pPr marL="0" marR="0" lvl="0" indent="0" algn="l" defTabSz="914400" rtl="0" eaLnBrk="1" fontAlgn="auto" latinLnBrk="0" hangingPunct="1">
              <a:lnSpc>
                <a:spcPct val="90000"/>
              </a:lnSpc>
              <a:spcBef>
                <a:spcPts val="1200"/>
              </a:spcBef>
              <a:spcAft>
                <a:spcPts val="600"/>
              </a:spcAft>
              <a:buClrTx/>
              <a:buSzTx/>
              <a:buFont typeface="Arial" panose="020B0604020202020204" pitchFamily="34" charset="0"/>
              <a:buNone/>
              <a:tabLst/>
              <a:defRPr/>
            </a:pPr>
            <a:r>
              <a:rPr kumimoji="0" lang="en-GB" sz="2600" b="1"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    </a:t>
            </a:r>
            <a:r>
              <a:rPr kumimoji="0" lang="en-GB" sz="26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Independent cascade model and other variants</a:t>
            </a:r>
          </a:p>
          <a:p>
            <a:pPr marL="228600" marR="0" lvl="0" indent="-228600" algn="l" defTabSz="914400" rtl="0" eaLnBrk="1" fontAlgn="auto" latinLnBrk="0" hangingPunct="1">
              <a:lnSpc>
                <a:spcPct val="90000"/>
              </a:lnSpc>
              <a:spcBef>
                <a:spcPts val="1200"/>
              </a:spcBef>
              <a:spcAft>
                <a:spcPts val="600"/>
              </a:spcAft>
              <a:buClrTx/>
              <a:buSzTx/>
              <a:buFont typeface="Arial" panose="020B0604020202020204" pitchFamily="34" charset="0"/>
              <a:buChar char="•"/>
              <a:tabLst/>
              <a:defRPr/>
            </a:pPr>
            <a:r>
              <a:rPr kumimoji="0" lang="en-US" sz="26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Complex contagion</a:t>
            </a:r>
          </a:p>
          <a:p>
            <a:pPr marL="0" marR="0" lvl="0"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r>
              <a:rPr kumimoji="0" lang="en-US" sz="2600" b="0"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     </a:t>
            </a:r>
            <a:r>
              <a:rPr kumimoji="0" lang="en-GB" sz="2600" b="0"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Mechanism and the strength of ‘strong ties’</a:t>
            </a:r>
          </a:p>
          <a:p>
            <a:pPr marL="228600" marR="0" lvl="0" indent="-228600" algn="l" defTabSz="914400" rtl="0" eaLnBrk="1" fontAlgn="auto" latinLnBrk="0" hangingPunct="1">
              <a:lnSpc>
                <a:spcPct val="90000"/>
              </a:lnSpc>
              <a:spcBef>
                <a:spcPts val="1200"/>
              </a:spcBef>
              <a:spcAft>
                <a:spcPts val="600"/>
              </a:spcAft>
              <a:buClrTx/>
              <a:buSzTx/>
              <a:buFont typeface="Arial" panose="020B0604020202020204" pitchFamily="34" charset="0"/>
              <a:buChar char="•"/>
              <a:tabLst/>
              <a:defRPr/>
            </a:pPr>
            <a:r>
              <a:rPr kumimoji="0" lang="nl-NL" sz="2600" b="1" i="0" u="none" strike="noStrike" kern="1200" cap="none" spc="0" normalizeH="0" baseline="0" noProof="0" dirty="0" err="1">
                <a:ln>
                  <a:noFill/>
                </a:ln>
                <a:solidFill>
                  <a:schemeClr val="accent2">
                    <a:lumMod val="75000"/>
                  </a:schemeClr>
                </a:solidFill>
                <a:effectLst/>
                <a:uLnTx/>
                <a:uFillTx/>
                <a:latin typeface="Calibri" panose="020F0502020204030204"/>
                <a:ea typeface="+mn-ea"/>
                <a:cs typeface="+mn-cs"/>
              </a:rPr>
              <a:t>Diffusion</a:t>
            </a:r>
            <a:r>
              <a:rPr kumimoji="0" lang="nl-NL" sz="26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 model </a:t>
            </a:r>
            <a:r>
              <a:rPr kumimoji="0" lang="nl-NL" sz="2600" b="1" i="0" u="none" strike="noStrike" kern="1200" cap="none" spc="0" normalizeH="0" baseline="0" noProof="0" dirty="0" err="1">
                <a:ln>
                  <a:noFill/>
                </a:ln>
                <a:solidFill>
                  <a:schemeClr val="accent2">
                    <a:lumMod val="75000"/>
                  </a:schemeClr>
                </a:solidFill>
                <a:effectLst/>
                <a:uLnTx/>
                <a:uFillTx/>
                <a:latin typeface="Calibri" panose="020F0502020204030204"/>
                <a:ea typeface="+mn-ea"/>
                <a:cs typeface="+mn-cs"/>
              </a:rPr>
              <a:t>for</a:t>
            </a:r>
            <a:r>
              <a:rPr kumimoji="0" lang="nl-NL" sz="26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 complex </a:t>
            </a:r>
            <a:r>
              <a:rPr kumimoji="0" lang="nl-NL" sz="2600" b="1" i="0" u="none" strike="noStrike" kern="1200" cap="none" spc="0" normalizeH="0" baseline="0" noProof="0" dirty="0" err="1">
                <a:ln>
                  <a:noFill/>
                </a:ln>
                <a:solidFill>
                  <a:schemeClr val="accent2">
                    <a:lumMod val="75000"/>
                  </a:schemeClr>
                </a:solidFill>
                <a:effectLst/>
                <a:uLnTx/>
                <a:uFillTx/>
                <a:latin typeface="Calibri" panose="020F0502020204030204"/>
                <a:ea typeface="+mn-ea"/>
                <a:cs typeface="+mn-cs"/>
              </a:rPr>
              <a:t>contagion</a:t>
            </a:r>
            <a:endParaRPr kumimoji="0" lang="en-GB" sz="2600" b="1"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r>
              <a:rPr kumimoji="0" lang="en-US" sz="2600" b="0"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     Threshold model and seeding</a:t>
            </a:r>
          </a:p>
        </p:txBody>
      </p:sp>
    </p:spTree>
    <p:extLst>
      <p:ext uri="{BB962C8B-B14F-4D97-AF65-F5344CB8AC3E}">
        <p14:creationId xmlns:p14="http://schemas.microsoft.com/office/powerpoint/2010/main" val="1839033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A8B2BC-9371-496D-8A03-E1E39805F488}"/>
              </a:ext>
            </a:extLst>
          </p:cNvPr>
          <p:cNvSpPr>
            <a:spLocks noGrp="1"/>
          </p:cNvSpPr>
          <p:nvPr>
            <p:ph idx="1"/>
          </p:nvPr>
        </p:nvSpPr>
        <p:spPr>
          <a:xfrm>
            <a:off x="527669" y="1474326"/>
            <a:ext cx="10515600" cy="5206391"/>
          </a:xfrm>
        </p:spPr>
        <p:txBody>
          <a:bodyPr>
            <a:normAutofit/>
          </a:bodyPr>
          <a:lstStyle/>
          <a:p>
            <a:r>
              <a:rPr lang="en-US" dirty="0"/>
              <a:t> Multiple (and credible) sources are required for transmission</a:t>
            </a:r>
          </a:p>
          <a:p>
            <a:endParaRPr lang="en-US" dirty="0"/>
          </a:p>
          <a:p>
            <a:endParaRPr lang="en-US" dirty="0"/>
          </a:p>
          <a:p>
            <a:endParaRPr lang="en-US" dirty="0"/>
          </a:p>
          <a:p>
            <a:endParaRPr lang="en-US" dirty="0"/>
          </a:p>
          <a:p>
            <a:pPr marL="0" indent="0">
              <a:buNone/>
            </a:pPr>
            <a:r>
              <a:rPr lang="en-US" dirty="0"/>
              <a:t>Examples</a:t>
            </a:r>
          </a:p>
          <a:p>
            <a:r>
              <a:rPr lang="en-US" dirty="0"/>
              <a:t>Change of diet</a:t>
            </a:r>
          </a:p>
          <a:p>
            <a:r>
              <a:rPr lang="nl-NL" dirty="0"/>
              <a:t>High-risk </a:t>
            </a:r>
            <a:r>
              <a:rPr lang="nl-NL" dirty="0" err="1"/>
              <a:t>social</a:t>
            </a:r>
            <a:r>
              <a:rPr lang="nl-NL" dirty="0"/>
              <a:t> </a:t>
            </a:r>
            <a:r>
              <a:rPr lang="nl-NL" dirty="0" err="1"/>
              <a:t>movements</a:t>
            </a:r>
            <a:endParaRPr lang="en-US" dirty="0"/>
          </a:p>
          <a:p>
            <a:r>
              <a:rPr lang="nl-NL" dirty="0" err="1"/>
              <a:t>Other</a:t>
            </a:r>
            <a:r>
              <a:rPr lang="nl-NL" dirty="0"/>
              <a:t> </a:t>
            </a:r>
            <a:r>
              <a:rPr lang="nl-NL" dirty="0" err="1"/>
              <a:t>risky</a:t>
            </a:r>
            <a:r>
              <a:rPr lang="nl-NL" dirty="0"/>
              <a:t>/</a:t>
            </a:r>
            <a:r>
              <a:rPr lang="nl-NL" dirty="0" err="1"/>
              <a:t>costly</a:t>
            </a:r>
            <a:r>
              <a:rPr lang="nl-NL" dirty="0"/>
              <a:t> </a:t>
            </a:r>
            <a:r>
              <a:rPr lang="nl-NL" dirty="0" err="1"/>
              <a:t>behaviours</a:t>
            </a:r>
            <a:endParaRPr lang="nl-NL" dirty="0"/>
          </a:p>
        </p:txBody>
      </p:sp>
      <p:sp>
        <p:nvSpPr>
          <p:cNvPr id="2" name="Title 1">
            <a:extLst>
              <a:ext uri="{FF2B5EF4-FFF2-40B4-BE49-F238E27FC236}">
                <a16:creationId xmlns:a16="http://schemas.microsoft.com/office/drawing/2014/main" id="{A6433065-C7BF-48F1-BC8A-37BB5B9D8C26}"/>
              </a:ext>
            </a:extLst>
          </p:cNvPr>
          <p:cNvSpPr>
            <a:spLocks noGrp="1"/>
          </p:cNvSpPr>
          <p:nvPr>
            <p:ph type="title"/>
          </p:nvPr>
        </p:nvSpPr>
        <p:spPr>
          <a:xfrm>
            <a:off x="247650" y="256315"/>
            <a:ext cx="10515600" cy="1325563"/>
          </a:xfrm>
        </p:spPr>
        <p:txBody>
          <a:bodyPr/>
          <a:lstStyle/>
          <a:p>
            <a:r>
              <a:rPr lang="en-US" b="1" dirty="0">
                <a:solidFill>
                  <a:schemeClr val="accent5">
                    <a:lumMod val="75000"/>
                  </a:schemeClr>
                </a:solidFill>
              </a:rPr>
              <a:t>Mechanism of complex contagion</a:t>
            </a:r>
            <a:endParaRPr lang="nl-NL" b="1" dirty="0">
              <a:solidFill>
                <a:schemeClr val="accent5">
                  <a:lumMod val="75000"/>
                </a:schemeClr>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435" y="2077020"/>
            <a:ext cx="6936067" cy="1883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a:extLst>
              <a:ext uri="{FF2B5EF4-FFF2-40B4-BE49-F238E27FC236}">
                <a16:creationId xmlns:a16="http://schemas.microsoft.com/office/drawing/2014/main" id="{BA70A5AB-0D6F-4C0A-B9D1-0E8A9F2698DD}"/>
              </a:ext>
            </a:extLst>
          </p:cNvPr>
          <p:cNvSpPr/>
          <p:nvPr/>
        </p:nvSpPr>
        <p:spPr>
          <a:xfrm>
            <a:off x="0" y="358044"/>
            <a:ext cx="123825" cy="11221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2257EA2A-6E23-43C1-802D-D848ACF55D4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1913"/>
          <a:stretch/>
        </p:blipFill>
        <p:spPr bwMode="auto">
          <a:xfrm>
            <a:off x="7115175" y="4753130"/>
            <a:ext cx="3130261" cy="17664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a:extLst>
              <a:ext uri="{FF2B5EF4-FFF2-40B4-BE49-F238E27FC236}">
                <a16:creationId xmlns:a16="http://schemas.microsoft.com/office/drawing/2014/main" id="{C013F550-5048-4A0B-A0F7-BD711C97130D}"/>
              </a:ext>
            </a:extLst>
          </p:cNvPr>
          <p:cNvSpPr txBox="1"/>
          <p:nvPr/>
        </p:nvSpPr>
        <p:spPr>
          <a:xfrm>
            <a:off x="6731305" y="4472310"/>
            <a:ext cx="2968831" cy="369332"/>
          </a:xfrm>
          <a:prstGeom prst="rect">
            <a:avLst/>
          </a:prstGeom>
          <a:noFill/>
        </p:spPr>
        <p:txBody>
          <a:bodyPr wrap="square" rtlCol="0">
            <a:spAutoFit/>
          </a:bodyPr>
          <a:lstStyle/>
          <a:p>
            <a:r>
              <a:rPr lang="en-GB" dirty="0">
                <a:solidFill>
                  <a:schemeClr val="bg1">
                    <a:lumMod val="65000"/>
                  </a:schemeClr>
                </a:solidFill>
              </a:rPr>
              <a:t>Recall for simple contagion: </a:t>
            </a:r>
          </a:p>
        </p:txBody>
      </p:sp>
      <p:sp>
        <p:nvSpPr>
          <p:cNvPr id="12" name="Rectangle: Rounded Corners 11">
            <a:extLst>
              <a:ext uri="{FF2B5EF4-FFF2-40B4-BE49-F238E27FC236}">
                <a16:creationId xmlns:a16="http://schemas.microsoft.com/office/drawing/2014/main" id="{7DF9AA59-5D26-4105-91D4-FC33D25C5C2E}"/>
              </a:ext>
            </a:extLst>
          </p:cNvPr>
          <p:cNvSpPr/>
          <p:nvPr/>
        </p:nvSpPr>
        <p:spPr>
          <a:xfrm>
            <a:off x="6493593" y="4312256"/>
            <a:ext cx="5386647" cy="2198699"/>
          </a:xfrm>
          <a:prstGeom prst="roundRect">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562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889958" y="1840434"/>
            <a:ext cx="5360248" cy="44589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椭圆 4"/>
          <p:cNvSpPr/>
          <p:nvPr/>
        </p:nvSpPr>
        <p:spPr>
          <a:xfrm>
            <a:off x="7504487" y="3770736"/>
            <a:ext cx="232012" cy="218364"/>
          </a:xfrm>
          <a:prstGeom prst="ellipse">
            <a:avLst/>
          </a:prstGeom>
          <a:solidFill>
            <a:srgbClr val="00B050"/>
          </a:solidFill>
          <a:ln>
            <a:solidFill>
              <a:schemeClr val="accent6">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a:p>
        </p:txBody>
      </p:sp>
      <p:grpSp>
        <p:nvGrpSpPr>
          <p:cNvPr id="24" name="组合 23"/>
          <p:cNvGrpSpPr/>
          <p:nvPr/>
        </p:nvGrpSpPr>
        <p:grpSpPr>
          <a:xfrm>
            <a:off x="6395611" y="2949827"/>
            <a:ext cx="2932312" cy="1984549"/>
            <a:chOff x="4548250" y="2470069"/>
            <a:chExt cx="2932312" cy="1984549"/>
          </a:xfrm>
        </p:grpSpPr>
        <p:sp>
          <p:nvSpPr>
            <p:cNvPr id="10" name="椭圆 9"/>
            <p:cNvSpPr/>
            <p:nvPr/>
          </p:nvSpPr>
          <p:spPr>
            <a:xfrm>
              <a:off x="7248550" y="2825719"/>
              <a:ext cx="232012" cy="218364"/>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cxnSp>
          <p:nvCxnSpPr>
            <p:cNvPr id="12" name="直接连接符 11"/>
            <p:cNvCxnSpPr/>
            <p:nvPr/>
          </p:nvCxnSpPr>
          <p:spPr>
            <a:xfrm flipV="1">
              <a:off x="5801832" y="2470069"/>
              <a:ext cx="123700" cy="668368"/>
            </a:xfrm>
            <a:prstGeom prst="line">
              <a:avLst/>
            </a:prstGeom>
            <a:ln w="3810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flipV="1">
              <a:off x="4548250" y="3271369"/>
              <a:ext cx="1031971" cy="19609"/>
            </a:xfrm>
            <a:prstGeom prst="line">
              <a:avLst/>
            </a:prstGeom>
            <a:ln w="3810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5416235" y="3633384"/>
              <a:ext cx="240891" cy="821234"/>
            </a:xfrm>
            <a:prstGeom prst="line">
              <a:avLst/>
            </a:prstGeom>
            <a:ln w="3810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925532" y="3044083"/>
              <a:ext cx="1235289" cy="246895"/>
            </a:xfrm>
            <a:prstGeom prst="line">
              <a:avLst/>
            </a:prstGeom>
            <a:ln w="38100">
              <a:solidFill>
                <a:srgbClr val="FFC000"/>
              </a:solidFill>
              <a:prstDash val="sysDash"/>
            </a:ln>
          </p:spPr>
          <p:style>
            <a:lnRef idx="1">
              <a:schemeClr val="accent1"/>
            </a:lnRef>
            <a:fillRef idx="0">
              <a:schemeClr val="accent1"/>
            </a:fillRef>
            <a:effectRef idx="0">
              <a:schemeClr val="accent1"/>
            </a:effectRef>
            <a:fontRef idx="minor">
              <a:schemeClr val="tx1"/>
            </a:fontRef>
          </p:style>
        </p:cxnSp>
      </p:grpSp>
      <p:sp>
        <p:nvSpPr>
          <p:cNvPr id="58" name="TextBox 57"/>
          <p:cNvSpPr txBox="1"/>
          <p:nvPr/>
        </p:nvSpPr>
        <p:spPr>
          <a:xfrm>
            <a:off x="4702292" y="2836843"/>
            <a:ext cx="622286" cy="307777"/>
          </a:xfrm>
          <a:prstGeom prst="rect">
            <a:avLst/>
          </a:prstGeom>
          <a:noFill/>
        </p:spPr>
        <p:txBody>
          <a:bodyPr wrap="none" rtlCol="0">
            <a:spAutoFit/>
          </a:bodyPr>
          <a:lstStyle/>
          <a:p>
            <a:r>
              <a:rPr lang="en-US" sz="1400" b="1" dirty="0">
                <a:latin typeface="Arial" panose="020B0604020202020204" pitchFamily="34" charset="0"/>
                <a:cs typeface="Arial" panose="020B0604020202020204" pitchFamily="34" charset="0"/>
              </a:rPr>
              <a:t>MILA</a:t>
            </a:r>
            <a:endParaRPr lang="en-GB" sz="1400" b="1" dirty="0">
              <a:latin typeface="Arial" panose="020B0604020202020204" pitchFamily="34" charset="0"/>
              <a:cs typeface="Arial" panose="020B0604020202020204" pitchFamily="34" charset="0"/>
            </a:endParaRPr>
          </a:p>
        </p:txBody>
      </p:sp>
      <p:sp>
        <p:nvSpPr>
          <p:cNvPr id="59" name="TextBox 58"/>
          <p:cNvSpPr txBox="1"/>
          <p:nvPr/>
        </p:nvSpPr>
        <p:spPr>
          <a:xfrm>
            <a:off x="5015523" y="5179669"/>
            <a:ext cx="723275" cy="307777"/>
          </a:xfrm>
          <a:prstGeom prst="rect">
            <a:avLst/>
          </a:prstGeom>
          <a:noFill/>
        </p:spPr>
        <p:txBody>
          <a:bodyPr wrap="none" rtlCol="0">
            <a:spAutoFit/>
          </a:bodyPr>
          <a:lstStyle/>
          <a:p>
            <a:r>
              <a:rPr lang="en-US" sz="1400" b="1" dirty="0">
                <a:latin typeface="Arial" panose="020B0604020202020204" pitchFamily="34" charset="0"/>
                <a:cs typeface="Arial" panose="020B0604020202020204" pitchFamily="34" charset="0"/>
              </a:rPr>
              <a:t>ALICE</a:t>
            </a:r>
            <a:endParaRPr lang="en-GB" sz="1400" b="1" dirty="0">
              <a:latin typeface="Arial" panose="020B0604020202020204" pitchFamily="34" charset="0"/>
              <a:cs typeface="Arial" panose="020B0604020202020204" pitchFamily="34" charset="0"/>
            </a:endParaRPr>
          </a:p>
        </p:txBody>
      </p:sp>
      <p:sp>
        <p:nvSpPr>
          <p:cNvPr id="60" name="TextBox 59"/>
          <p:cNvSpPr txBox="1"/>
          <p:nvPr/>
        </p:nvSpPr>
        <p:spPr>
          <a:xfrm>
            <a:off x="8705637" y="5403634"/>
            <a:ext cx="611065" cy="307777"/>
          </a:xfrm>
          <a:prstGeom prst="rect">
            <a:avLst/>
          </a:prstGeom>
          <a:noFill/>
        </p:spPr>
        <p:txBody>
          <a:bodyPr wrap="none" rtlCol="0">
            <a:spAutoFit/>
          </a:bodyPr>
          <a:lstStyle/>
          <a:p>
            <a:r>
              <a:rPr lang="en-US" sz="1400" b="1" dirty="0" err="1">
                <a:latin typeface="Arial" panose="020B0604020202020204" pitchFamily="34" charset="0"/>
                <a:cs typeface="Arial" panose="020B0604020202020204" pitchFamily="34" charset="0"/>
              </a:rPr>
              <a:t>Luuk</a:t>
            </a:r>
            <a:endParaRPr lang="en-GB" sz="1400" b="1" dirty="0">
              <a:latin typeface="Arial" panose="020B0604020202020204" pitchFamily="34" charset="0"/>
              <a:cs typeface="Arial" panose="020B0604020202020204" pitchFamily="34" charset="0"/>
            </a:endParaRPr>
          </a:p>
        </p:txBody>
      </p:sp>
      <p:sp>
        <p:nvSpPr>
          <p:cNvPr id="25" name="TextBox 24"/>
          <p:cNvSpPr txBox="1"/>
          <p:nvPr/>
        </p:nvSpPr>
        <p:spPr>
          <a:xfrm>
            <a:off x="359902" y="2425952"/>
            <a:ext cx="5378896" cy="784830"/>
          </a:xfrm>
          <a:prstGeom prst="rect">
            <a:avLst/>
          </a:prstGeom>
          <a:noFill/>
        </p:spPr>
        <p:txBody>
          <a:bodyPr wrap="square" rtlCol="0">
            <a:spAutoFit/>
          </a:bodyPr>
          <a:lstStyle/>
          <a:p>
            <a:pPr>
              <a:spcBef>
                <a:spcPts val="600"/>
              </a:spcBef>
            </a:pPr>
            <a:r>
              <a:rPr lang="en-US" sz="2000" dirty="0">
                <a:solidFill>
                  <a:schemeClr val="tx1">
                    <a:lumMod val="85000"/>
                    <a:lumOff val="15000"/>
                  </a:schemeClr>
                </a:solidFill>
              </a:rPr>
              <a:t>1</a:t>
            </a:r>
            <a:r>
              <a:rPr lang="en-US" sz="2000" baseline="30000" dirty="0">
                <a:solidFill>
                  <a:schemeClr val="tx1">
                    <a:lumMod val="85000"/>
                    <a:lumOff val="15000"/>
                  </a:schemeClr>
                </a:solidFill>
              </a:rPr>
              <a:t>st</a:t>
            </a:r>
            <a:r>
              <a:rPr lang="en-US" sz="2000" dirty="0">
                <a:solidFill>
                  <a:schemeClr val="tx1">
                    <a:lumMod val="85000"/>
                    <a:lumOff val="15000"/>
                  </a:schemeClr>
                </a:solidFill>
              </a:rPr>
              <a:t> round: Bob</a:t>
            </a:r>
          </a:p>
          <a:p>
            <a:pPr>
              <a:spcBef>
                <a:spcPts val="600"/>
              </a:spcBef>
            </a:pPr>
            <a:endParaRPr lang="en-GB" sz="2000" dirty="0">
              <a:solidFill>
                <a:schemeClr val="tx1">
                  <a:lumMod val="85000"/>
                  <a:lumOff val="15000"/>
                </a:schemeClr>
              </a:solidFill>
            </a:endParaRPr>
          </a:p>
        </p:txBody>
      </p:sp>
      <p:sp>
        <p:nvSpPr>
          <p:cNvPr id="30" name="Rectangle 29">
            <a:extLst>
              <a:ext uri="{FF2B5EF4-FFF2-40B4-BE49-F238E27FC236}">
                <a16:creationId xmlns:a16="http://schemas.microsoft.com/office/drawing/2014/main" id="{837A25C2-9355-4167-8036-A4F2E1EAC544}"/>
              </a:ext>
            </a:extLst>
          </p:cNvPr>
          <p:cNvSpPr/>
          <p:nvPr/>
        </p:nvSpPr>
        <p:spPr>
          <a:xfrm>
            <a:off x="0" y="143124"/>
            <a:ext cx="133350" cy="9004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itle 1">
            <a:extLst>
              <a:ext uri="{FF2B5EF4-FFF2-40B4-BE49-F238E27FC236}">
                <a16:creationId xmlns:a16="http://schemas.microsoft.com/office/drawing/2014/main" id="{DE752192-AEA7-4414-B762-821A4F8FEE11}"/>
              </a:ext>
            </a:extLst>
          </p:cNvPr>
          <p:cNvSpPr txBox="1">
            <a:spLocks/>
          </p:cNvSpPr>
          <p:nvPr/>
        </p:nvSpPr>
        <p:spPr>
          <a:xfrm>
            <a:off x="162591" y="133305"/>
            <a:ext cx="10838784" cy="93532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chemeClr val="accent5">
                    <a:lumMod val="75000"/>
                  </a:schemeClr>
                </a:solidFill>
              </a:rPr>
              <a:t>Demonstration of complex contagion in a small network</a:t>
            </a:r>
            <a:endParaRPr lang="nl-NL" sz="4000" b="1" dirty="0">
              <a:solidFill>
                <a:schemeClr val="accent5">
                  <a:lumMod val="75000"/>
                </a:schemeClr>
              </a:solidFill>
            </a:endParaRPr>
          </a:p>
        </p:txBody>
      </p:sp>
      <p:pic>
        <p:nvPicPr>
          <p:cNvPr id="3" name="Picture 2">
            <a:extLst>
              <a:ext uri="{FF2B5EF4-FFF2-40B4-BE49-F238E27FC236}">
                <a16:creationId xmlns:a16="http://schemas.microsoft.com/office/drawing/2014/main" id="{9D79FF90-0C7B-4184-AF4F-531907D33DC1}"/>
              </a:ext>
            </a:extLst>
          </p:cNvPr>
          <p:cNvPicPr>
            <a:picLocks noChangeAspect="1"/>
          </p:cNvPicPr>
          <p:nvPr/>
        </p:nvPicPr>
        <p:blipFill>
          <a:blip r:embed="rId4"/>
          <a:stretch>
            <a:fillRect/>
          </a:stretch>
        </p:blipFill>
        <p:spPr>
          <a:xfrm>
            <a:off x="345095" y="3989100"/>
            <a:ext cx="3623388" cy="2347653"/>
          </a:xfrm>
          <a:prstGeom prst="rect">
            <a:avLst/>
          </a:prstGeom>
        </p:spPr>
      </p:pic>
      <p:sp>
        <p:nvSpPr>
          <p:cNvPr id="13" name="TextBox 12">
            <a:extLst>
              <a:ext uri="{FF2B5EF4-FFF2-40B4-BE49-F238E27FC236}">
                <a16:creationId xmlns:a16="http://schemas.microsoft.com/office/drawing/2014/main" id="{D2F32DEE-2BA1-4CD0-9BA4-B9BC227C5879}"/>
              </a:ext>
            </a:extLst>
          </p:cNvPr>
          <p:cNvSpPr txBox="1"/>
          <p:nvPr/>
        </p:nvSpPr>
        <p:spPr>
          <a:xfrm>
            <a:off x="7997413" y="1735786"/>
            <a:ext cx="351378" cy="523220"/>
          </a:xfrm>
          <a:prstGeom prst="rect">
            <a:avLst/>
          </a:prstGeom>
          <a:noFill/>
        </p:spPr>
        <p:txBody>
          <a:bodyPr wrap="none" rtlCol="0">
            <a:spAutoFit/>
          </a:bodyPr>
          <a:lstStyle/>
          <a:p>
            <a:r>
              <a:rPr lang="en-US" sz="2800" dirty="0">
                <a:solidFill>
                  <a:srgbClr val="C00000"/>
                </a:solidFill>
              </a:rPr>
              <a:t>?</a:t>
            </a:r>
          </a:p>
        </p:txBody>
      </p:sp>
      <p:sp>
        <p:nvSpPr>
          <p:cNvPr id="33" name="TextBox 32">
            <a:extLst>
              <a:ext uri="{FF2B5EF4-FFF2-40B4-BE49-F238E27FC236}">
                <a16:creationId xmlns:a16="http://schemas.microsoft.com/office/drawing/2014/main" id="{904CB88D-59D4-4B65-BC5A-57B8A0D33042}"/>
              </a:ext>
            </a:extLst>
          </p:cNvPr>
          <p:cNvSpPr txBox="1"/>
          <p:nvPr/>
        </p:nvSpPr>
        <p:spPr>
          <a:xfrm>
            <a:off x="9515589" y="3122239"/>
            <a:ext cx="351378" cy="523220"/>
          </a:xfrm>
          <a:prstGeom prst="rect">
            <a:avLst/>
          </a:prstGeom>
          <a:noFill/>
        </p:spPr>
        <p:txBody>
          <a:bodyPr wrap="none" rtlCol="0">
            <a:spAutoFit/>
          </a:bodyPr>
          <a:lstStyle/>
          <a:p>
            <a:r>
              <a:rPr lang="en-US" sz="2800" dirty="0">
                <a:solidFill>
                  <a:srgbClr val="C00000"/>
                </a:solidFill>
              </a:rPr>
              <a:t>?</a:t>
            </a:r>
          </a:p>
        </p:txBody>
      </p:sp>
      <p:sp>
        <p:nvSpPr>
          <p:cNvPr id="35" name="TextBox 34">
            <a:extLst>
              <a:ext uri="{FF2B5EF4-FFF2-40B4-BE49-F238E27FC236}">
                <a16:creationId xmlns:a16="http://schemas.microsoft.com/office/drawing/2014/main" id="{4105688F-73FF-4A4C-920B-5871F3DA4AB3}"/>
              </a:ext>
            </a:extLst>
          </p:cNvPr>
          <p:cNvSpPr txBox="1"/>
          <p:nvPr/>
        </p:nvSpPr>
        <p:spPr>
          <a:xfrm>
            <a:off x="7223518" y="5333557"/>
            <a:ext cx="351378" cy="523220"/>
          </a:xfrm>
          <a:prstGeom prst="rect">
            <a:avLst/>
          </a:prstGeom>
          <a:noFill/>
        </p:spPr>
        <p:txBody>
          <a:bodyPr wrap="none" rtlCol="0">
            <a:spAutoFit/>
          </a:bodyPr>
          <a:lstStyle/>
          <a:p>
            <a:r>
              <a:rPr lang="en-US" sz="2800" dirty="0">
                <a:solidFill>
                  <a:srgbClr val="C00000"/>
                </a:solidFill>
              </a:rPr>
              <a:t>?</a:t>
            </a:r>
          </a:p>
        </p:txBody>
      </p:sp>
      <p:sp>
        <p:nvSpPr>
          <p:cNvPr id="37" name="TextBox 36">
            <a:extLst>
              <a:ext uri="{FF2B5EF4-FFF2-40B4-BE49-F238E27FC236}">
                <a16:creationId xmlns:a16="http://schemas.microsoft.com/office/drawing/2014/main" id="{670F3AC8-87C5-47C3-B968-6CE5379E0061}"/>
              </a:ext>
            </a:extLst>
          </p:cNvPr>
          <p:cNvSpPr txBox="1"/>
          <p:nvPr/>
        </p:nvSpPr>
        <p:spPr>
          <a:xfrm>
            <a:off x="5715509" y="3436411"/>
            <a:ext cx="351378" cy="523220"/>
          </a:xfrm>
          <a:prstGeom prst="rect">
            <a:avLst/>
          </a:prstGeom>
          <a:noFill/>
        </p:spPr>
        <p:txBody>
          <a:bodyPr wrap="none" rtlCol="0">
            <a:spAutoFit/>
          </a:bodyPr>
          <a:lstStyle/>
          <a:p>
            <a:r>
              <a:rPr lang="en-US" sz="2800" dirty="0">
                <a:solidFill>
                  <a:srgbClr val="C00000"/>
                </a:solidFill>
              </a:rPr>
              <a:t>?</a:t>
            </a:r>
          </a:p>
        </p:txBody>
      </p:sp>
      <p:sp>
        <p:nvSpPr>
          <p:cNvPr id="38" name="TextBox 37">
            <a:extLst>
              <a:ext uri="{FF2B5EF4-FFF2-40B4-BE49-F238E27FC236}">
                <a16:creationId xmlns:a16="http://schemas.microsoft.com/office/drawing/2014/main" id="{1CC9326B-99F4-471D-8CCD-93F24FE5643E}"/>
              </a:ext>
            </a:extLst>
          </p:cNvPr>
          <p:cNvSpPr txBox="1"/>
          <p:nvPr/>
        </p:nvSpPr>
        <p:spPr>
          <a:xfrm>
            <a:off x="133350" y="1038232"/>
            <a:ext cx="8091740" cy="830997"/>
          </a:xfrm>
          <a:prstGeom prst="rect">
            <a:avLst/>
          </a:prstGeom>
          <a:noFill/>
        </p:spPr>
        <p:txBody>
          <a:bodyPr wrap="square" rtlCol="0">
            <a:spAutoFit/>
          </a:bodyPr>
          <a:lstStyle/>
          <a:p>
            <a:r>
              <a:rPr lang="en-GB" sz="2400" dirty="0">
                <a:solidFill>
                  <a:srgbClr val="00B050"/>
                </a:solidFill>
              </a:rPr>
              <a:t>Bob is now considering joining an illegal climate change protest </a:t>
            </a:r>
          </a:p>
          <a:p>
            <a:r>
              <a:rPr lang="en-GB" sz="2400" b="1" i="1" dirty="0">
                <a:solidFill>
                  <a:srgbClr val="E0A831"/>
                </a:solidFill>
              </a:rPr>
              <a:t>(High-risk social movement)</a:t>
            </a:r>
          </a:p>
        </p:txBody>
      </p:sp>
    </p:spTree>
    <p:extLst>
      <p:ext uri="{BB962C8B-B14F-4D97-AF65-F5344CB8AC3E}">
        <p14:creationId xmlns:p14="http://schemas.microsoft.com/office/powerpoint/2010/main" val="1784693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889958" y="1840434"/>
            <a:ext cx="5360248" cy="44589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椭圆 4"/>
          <p:cNvSpPr/>
          <p:nvPr/>
        </p:nvSpPr>
        <p:spPr>
          <a:xfrm>
            <a:off x="7504487" y="3770736"/>
            <a:ext cx="232012" cy="218364"/>
          </a:xfrm>
          <a:prstGeom prst="ellipse">
            <a:avLst/>
          </a:prstGeom>
          <a:solidFill>
            <a:srgbClr val="00B050"/>
          </a:solidFill>
          <a:ln>
            <a:solidFill>
              <a:schemeClr val="accent6">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7" name="椭圆 6"/>
          <p:cNvSpPr/>
          <p:nvPr/>
        </p:nvSpPr>
        <p:spPr>
          <a:xfrm>
            <a:off x="7772893" y="2426845"/>
            <a:ext cx="232012" cy="218364"/>
          </a:xfrm>
          <a:prstGeom prst="ellipse">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8" name="椭圆 7"/>
          <p:cNvSpPr/>
          <p:nvPr/>
        </p:nvSpPr>
        <p:spPr>
          <a:xfrm>
            <a:off x="6072743" y="3641945"/>
            <a:ext cx="232012" cy="218364"/>
          </a:xfrm>
          <a:prstGeom prst="ellipse">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10" name="椭圆 9"/>
          <p:cNvSpPr/>
          <p:nvPr/>
        </p:nvSpPr>
        <p:spPr>
          <a:xfrm>
            <a:off x="9095911" y="3305477"/>
            <a:ext cx="232012" cy="218364"/>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cxnSp>
        <p:nvCxnSpPr>
          <p:cNvPr id="12" name="直接连接符 11"/>
          <p:cNvCxnSpPr/>
          <p:nvPr/>
        </p:nvCxnSpPr>
        <p:spPr>
          <a:xfrm flipV="1">
            <a:off x="7649193" y="2949827"/>
            <a:ext cx="123700" cy="668368"/>
          </a:xfrm>
          <a:prstGeom prst="line">
            <a:avLst/>
          </a:prstGeom>
          <a:ln w="3810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flipV="1">
            <a:off x="6395611" y="3751127"/>
            <a:ext cx="1031971" cy="19609"/>
          </a:xfrm>
          <a:prstGeom prst="line">
            <a:avLst/>
          </a:prstGeom>
          <a:ln w="3810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7263596" y="4113142"/>
            <a:ext cx="240891" cy="821234"/>
          </a:xfrm>
          <a:prstGeom prst="line">
            <a:avLst/>
          </a:prstGeom>
          <a:ln w="3810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7772893" y="3523841"/>
            <a:ext cx="1235289" cy="246895"/>
          </a:xfrm>
          <a:prstGeom prst="line">
            <a:avLst/>
          </a:prstGeom>
          <a:ln w="3810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6395611" y="2645209"/>
            <a:ext cx="1315432" cy="878632"/>
          </a:xfrm>
          <a:prstGeom prst="line">
            <a:avLst/>
          </a:prstGeom>
          <a:ln w="28575">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4702292" y="2836843"/>
            <a:ext cx="622286" cy="307777"/>
          </a:xfrm>
          <a:prstGeom prst="rect">
            <a:avLst/>
          </a:prstGeom>
          <a:noFill/>
        </p:spPr>
        <p:txBody>
          <a:bodyPr wrap="none" rtlCol="0">
            <a:spAutoFit/>
          </a:bodyPr>
          <a:lstStyle/>
          <a:p>
            <a:r>
              <a:rPr lang="en-US" sz="1400" b="1" dirty="0">
                <a:latin typeface="Arial" panose="020B0604020202020204" pitchFamily="34" charset="0"/>
                <a:cs typeface="Arial" panose="020B0604020202020204" pitchFamily="34" charset="0"/>
              </a:rPr>
              <a:t>MILA</a:t>
            </a:r>
            <a:endParaRPr lang="en-GB" sz="1400" b="1" dirty="0">
              <a:latin typeface="Arial" panose="020B0604020202020204" pitchFamily="34" charset="0"/>
              <a:cs typeface="Arial" panose="020B0604020202020204" pitchFamily="34" charset="0"/>
            </a:endParaRPr>
          </a:p>
        </p:txBody>
      </p:sp>
      <p:sp>
        <p:nvSpPr>
          <p:cNvPr id="59" name="TextBox 58"/>
          <p:cNvSpPr txBox="1"/>
          <p:nvPr/>
        </p:nvSpPr>
        <p:spPr>
          <a:xfrm>
            <a:off x="5015523" y="5179669"/>
            <a:ext cx="723275" cy="307777"/>
          </a:xfrm>
          <a:prstGeom prst="rect">
            <a:avLst/>
          </a:prstGeom>
          <a:noFill/>
        </p:spPr>
        <p:txBody>
          <a:bodyPr wrap="none" rtlCol="0">
            <a:spAutoFit/>
          </a:bodyPr>
          <a:lstStyle/>
          <a:p>
            <a:r>
              <a:rPr lang="en-US" sz="1400" b="1" dirty="0">
                <a:latin typeface="Arial" panose="020B0604020202020204" pitchFamily="34" charset="0"/>
                <a:cs typeface="Arial" panose="020B0604020202020204" pitchFamily="34" charset="0"/>
              </a:rPr>
              <a:t>ALICE</a:t>
            </a:r>
            <a:endParaRPr lang="en-GB" sz="1400" b="1" dirty="0">
              <a:latin typeface="Arial" panose="020B0604020202020204" pitchFamily="34" charset="0"/>
              <a:cs typeface="Arial" panose="020B0604020202020204" pitchFamily="34" charset="0"/>
            </a:endParaRPr>
          </a:p>
        </p:txBody>
      </p:sp>
      <p:sp>
        <p:nvSpPr>
          <p:cNvPr id="60" name="TextBox 59"/>
          <p:cNvSpPr txBox="1"/>
          <p:nvPr/>
        </p:nvSpPr>
        <p:spPr>
          <a:xfrm>
            <a:off x="8705637" y="5403634"/>
            <a:ext cx="611065" cy="307777"/>
          </a:xfrm>
          <a:prstGeom prst="rect">
            <a:avLst/>
          </a:prstGeom>
          <a:noFill/>
        </p:spPr>
        <p:txBody>
          <a:bodyPr wrap="none" rtlCol="0">
            <a:spAutoFit/>
          </a:bodyPr>
          <a:lstStyle/>
          <a:p>
            <a:r>
              <a:rPr lang="en-US" sz="1400" b="1" dirty="0" err="1">
                <a:latin typeface="Arial" panose="020B0604020202020204" pitchFamily="34" charset="0"/>
                <a:cs typeface="Arial" panose="020B0604020202020204" pitchFamily="34" charset="0"/>
              </a:rPr>
              <a:t>Luuk</a:t>
            </a:r>
            <a:endParaRPr lang="en-GB" sz="1400" b="1" dirty="0">
              <a:latin typeface="Arial" panose="020B0604020202020204" pitchFamily="34" charset="0"/>
              <a:cs typeface="Arial" panose="020B0604020202020204" pitchFamily="34" charset="0"/>
            </a:endParaRPr>
          </a:p>
        </p:txBody>
      </p:sp>
      <p:sp>
        <p:nvSpPr>
          <p:cNvPr id="61" name="矩形 60"/>
          <p:cNvSpPr/>
          <p:nvPr/>
        </p:nvSpPr>
        <p:spPr>
          <a:xfrm>
            <a:off x="316720" y="6024986"/>
            <a:ext cx="8364907" cy="707886"/>
          </a:xfrm>
          <a:prstGeom prst="rect">
            <a:avLst/>
          </a:prstGeom>
        </p:spPr>
        <p:txBody>
          <a:bodyPr wrap="square">
            <a:spAutoFit/>
          </a:bodyPr>
          <a:lstStyle/>
          <a:p>
            <a:pPr>
              <a:spcBef>
                <a:spcPts val="600"/>
              </a:spcBef>
            </a:pPr>
            <a:r>
              <a:rPr lang="en-US" sz="2000" dirty="0">
                <a:solidFill>
                  <a:srgbClr val="0070C0"/>
                </a:solidFill>
                <a:sym typeface="Wingdings" panose="05000000000000000000" pitchFamily="2" charset="2"/>
              </a:rPr>
              <a:t>Thanks to the redundancy of strong ties, Kevin, Maria and Tim have multiple sources to confirm the credibility of the behavior and support each other.</a:t>
            </a:r>
          </a:p>
        </p:txBody>
      </p:sp>
      <p:sp>
        <p:nvSpPr>
          <p:cNvPr id="62" name="圆角矩形标注 61"/>
          <p:cNvSpPr/>
          <p:nvPr/>
        </p:nvSpPr>
        <p:spPr>
          <a:xfrm>
            <a:off x="9211917" y="1264334"/>
            <a:ext cx="2932548" cy="1434091"/>
          </a:xfrm>
          <a:prstGeom prst="wedgeRoundRectCallout">
            <a:avLst>
              <a:gd name="adj1" fmla="val -43486"/>
              <a:gd name="adj2" fmla="val 82528"/>
              <a:gd name="adj3" fmla="val 16667"/>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Maybe not….Bob told me he will join. But I don’t know him that well and my other friends are not going! </a:t>
            </a:r>
            <a:endParaRPr lang="en-GB" dirty="0"/>
          </a:p>
        </p:txBody>
      </p:sp>
      <p:sp>
        <p:nvSpPr>
          <p:cNvPr id="28" name="圆角矩形标注 27"/>
          <p:cNvSpPr/>
          <p:nvPr/>
        </p:nvSpPr>
        <p:spPr>
          <a:xfrm>
            <a:off x="2843176" y="4330837"/>
            <a:ext cx="1952949" cy="900611"/>
          </a:xfrm>
          <a:prstGeom prst="wedgeRoundRectCallout">
            <a:avLst>
              <a:gd name="adj1" fmla="val 91091"/>
              <a:gd name="adj2" fmla="val -75430"/>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I know Bob very well and he convinces me!</a:t>
            </a:r>
            <a:endParaRPr lang="en-GB" dirty="0"/>
          </a:p>
        </p:txBody>
      </p:sp>
      <p:sp>
        <p:nvSpPr>
          <p:cNvPr id="29" name="圆角矩形标注 28"/>
          <p:cNvSpPr/>
          <p:nvPr/>
        </p:nvSpPr>
        <p:spPr>
          <a:xfrm>
            <a:off x="5925965" y="1068627"/>
            <a:ext cx="1785078" cy="900611"/>
          </a:xfrm>
          <a:prstGeom prst="wedgeRoundRectCallout">
            <a:avLst>
              <a:gd name="adj1" fmla="val 50443"/>
              <a:gd name="adj2" fmla="val 80655"/>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Kevin and Bob are both going. I will join them!</a:t>
            </a:r>
            <a:endParaRPr lang="en-GB" dirty="0"/>
          </a:p>
        </p:txBody>
      </p:sp>
      <p:sp>
        <p:nvSpPr>
          <p:cNvPr id="2" name="矩形 1"/>
          <p:cNvSpPr/>
          <p:nvPr/>
        </p:nvSpPr>
        <p:spPr>
          <a:xfrm>
            <a:off x="8273944" y="3291827"/>
            <a:ext cx="413896" cy="646331"/>
          </a:xfrm>
          <a:prstGeom prst="rect">
            <a:avLst/>
          </a:prstGeom>
        </p:spPr>
        <p:txBody>
          <a:bodyPr wrap="none">
            <a:spAutoFit/>
          </a:bodyPr>
          <a:lstStyle/>
          <a:p>
            <a:r>
              <a:rPr lang="en-US" sz="3600" b="1" dirty="0">
                <a:solidFill>
                  <a:srgbClr val="C00000"/>
                </a:solidFill>
                <a:sym typeface="Wingdings" panose="05000000000000000000" pitchFamily="2" charset="2"/>
              </a:rPr>
              <a:t>×</a:t>
            </a:r>
            <a:endParaRPr lang="en-GB" sz="3600" dirty="0">
              <a:solidFill>
                <a:srgbClr val="C00000"/>
              </a:solidFill>
            </a:endParaRPr>
          </a:p>
        </p:txBody>
      </p:sp>
      <p:sp>
        <p:nvSpPr>
          <p:cNvPr id="31" name="矩形 30"/>
          <p:cNvSpPr/>
          <p:nvPr/>
        </p:nvSpPr>
        <p:spPr>
          <a:xfrm>
            <a:off x="9192102" y="4065554"/>
            <a:ext cx="2999898" cy="1308050"/>
          </a:xfrm>
          <a:prstGeom prst="rect">
            <a:avLst/>
          </a:prstGeom>
        </p:spPr>
        <p:txBody>
          <a:bodyPr wrap="square">
            <a:spAutoFit/>
          </a:bodyPr>
          <a:lstStyle/>
          <a:p>
            <a:pPr>
              <a:spcBef>
                <a:spcPts val="600"/>
              </a:spcBef>
            </a:pPr>
            <a:r>
              <a:rPr lang="en-US" dirty="0">
                <a:solidFill>
                  <a:schemeClr val="tx1">
                    <a:lumMod val="75000"/>
                    <a:lumOff val="25000"/>
                  </a:schemeClr>
                </a:solidFill>
                <a:sym typeface="Wingdings" panose="05000000000000000000" pitchFamily="2" charset="2"/>
              </a:rPr>
              <a:t>The connection between Bob and Sarah is not strong enough to convince Sarah.</a:t>
            </a:r>
          </a:p>
          <a:p>
            <a:pPr>
              <a:spcBef>
                <a:spcPts val="600"/>
              </a:spcBef>
            </a:pPr>
            <a:r>
              <a:rPr lang="en-US" sz="2000" i="1" dirty="0">
                <a:solidFill>
                  <a:srgbClr val="B42926"/>
                </a:solidFill>
                <a:sym typeface="Wingdings" panose="05000000000000000000" pitchFamily="2" charset="2"/>
              </a:rPr>
              <a:t>(Weak tie fails!)</a:t>
            </a:r>
          </a:p>
        </p:txBody>
      </p:sp>
      <p:sp>
        <p:nvSpPr>
          <p:cNvPr id="25" name="TextBox 24"/>
          <p:cNvSpPr txBox="1"/>
          <p:nvPr/>
        </p:nvSpPr>
        <p:spPr>
          <a:xfrm>
            <a:off x="93827" y="2306004"/>
            <a:ext cx="5378896" cy="1169551"/>
          </a:xfrm>
          <a:prstGeom prst="rect">
            <a:avLst/>
          </a:prstGeom>
          <a:noFill/>
        </p:spPr>
        <p:txBody>
          <a:bodyPr wrap="square" rtlCol="0">
            <a:spAutoFit/>
          </a:bodyPr>
          <a:lstStyle/>
          <a:p>
            <a:pPr>
              <a:spcBef>
                <a:spcPts val="600"/>
              </a:spcBef>
            </a:pPr>
            <a:r>
              <a:rPr lang="en-US" sz="2000" dirty="0">
                <a:solidFill>
                  <a:schemeClr val="tx1">
                    <a:lumMod val="85000"/>
                    <a:lumOff val="15000"/>
                  </a:schemeClr>
                </a:solidFill>
              </a:rPr>
              <a:t>1</a:t>
            </a:r>
            <a:r>
              <a:rPr lang="en-US" sz="2000" baseline="30000" dirty="0">
                <a:solidFill>
                  <a:schemeClr val="tx1">
                    <a:lumMod val="85000"/>
                    <a:lumOff val="15000"/>
                  </a:schemeClr>
                </a:solidFill>
              </a:rPr>
              <a:t>st</a:t>
            </a:r>
            <a:r>
              <a:rPr lang="en-US" sz="2000" dirty="0">
                <a:solidFill>
                  <a:schemeClr val="tx1">
                    <a:lumMod val="85000"/>
                    <a:lumOff val="15000"/>
                  </a:schemeClr>
                </a:solidFill>
              </a:rPr>
              <a:t> round: Bob</a:t>
            </a:r>
          </a:p>
          <a:p>
            <a:pPr>
              <a:spcBef>
                <a:spcPts val="600"/>
              </a:spcBef>
            </a:pPr>
            <a:r>
              <a:rPr lang="en-US" sz="2000" dirty="0">
                <a:solidFill>
                  <a:schemeClr val="tx1">
                    <a:lumMod val="85000"/>
                    <a:lumOff val="15000"/>
                  </a:schemeClr>
                </a:solidFill>
              </a:rPr>
              <a:t>2</a:t>
            </a:r>
            <a:r>
              <a:rPr lang="en-US" sz="2000" baseline="30000" dirty="0">
                <a:solidFill>
                  <a:schemeClr val="tx1">
                    <a:lumMod val="85000"/>
                    <a:lumOff val="15000"/>
                  </a:schemeClr>
                </a:solidFill>
              </a:rPr>
              <a:t>nd</a:t>
            </a:r>
            <a:r>
              <a:rPr lang="en-US" sz="2000" dirty="0">
                <a:solidFill>
                  <a:schemeClr val="tx1">
                    <a:lumMod val="85000"/>
                    <a:lumOff val="15000"/>
                  </a:schemeClr>
                </a:solidFill>
              </a:rPr>
              <a:t> round: Bob </a:t>
            </a:r>
            <a:r>
              <a:rPr lang="en-US" sz="2000" dirty="0">
                <a:solidFill>
                  <a:schemeClr val="tx1">
                    <a:lumMod val="85000"/>
                    <a:lumOff val="15000"/>
                  </a:schemeClr>
                </a:solidFill>
                <a:sym typeface="Wingdings" panose="05000000000000000000" pitchFamily="2" charset="2"/>
              </a:rPr>
              <a:t> </a:t>
            </a:r>
            <a:r>
              <a:rPr lang="en-US" sz="2000" dirty="0">
                <a:solidFill>
                  <a:schemeClr val="tx1">
                    <a:lumMod val="85000"/>
                    <a:lumOff val="15000"/>
                  </a:schemeClr>
                </a:solidFill>
              </a:rPr>
              <a:t>Kevin, Maria, Tim, Sarah</a:t>
            </a:r>
          </a:p>
          <a:p>
            <a:pPr>
              <a:spcBef>
                <a:spcPts val="600"/>
              </a:spcBef>
            </a:pPr>
            <a:endParaRPr lang="en-GB" sz="2000" dirty="0">
              <a:solidFill>
                <a:schemeClr val="tx1">
                  <a:lumMod val="85000"/>
                  <a:lumOff val="15000"/>
                </a:schemeClr>
              </a:solidFill>
            </a:endParaRPr>
          </a:p>
        </p:txBody>
      </p:sp>
      <p:sp>
        <p:nvSpPr>
          <p:cNvPr id="30" name="Rectangle 29">
            <a:extLst>
              <a:ext uri="{FF2B5EF4-FFF2-40B4-BE49-F238E27FC236}">
                <a16:creationId xmlns:a16="http://schemas.microsoft.com/office/drawing/2014/main" id="{837A25C2-9355-4167-8036-A4F2E1EAC544}"/>
              </a:ext>
            </a:extLst>
          </p:cNvPr>
          <p:cNvSpPr/>
          <p:nvPr/>
        </p:nvSpPr>
        <p:spPr>
          <a:xfrm>
            <a:off x="0" y="143124"/>
            <a:ext cx="133350" cy="9004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itle 1">
            <a:extLst>
              <a:ext uri="{FF2B5EF4-FFF2-40B4-BE49-F238E27FC236}">
                <a16:creationId xmlns:a16="http://schemas.microsoft.com/office/drawing/2014/main" id="{DE752192-AEA7-4414-B762-821A4F8FEE11}"/>
              </a:ext>
            </a:extLst>
          </p:cNvPr>
          <p:cNvSpPr txBox="1">
            <a:spLocks/>
          </p:cNvSpPr>
          <p:nvPr/>
        </p:nvSpPr>
        <p:spPr>
          <a:xfrm>
            <a:off x="162591" y="133305"/>
            <a:ext cx="10838784" cy="93532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chemeClr val="accent5">
                    <a:lumMod val="75000"/>
                  </a:schemeClr>
                </a:solidFill>
              </a:rPr>
              <a:t>Demonstration of complex contagion in a small network</a:t>
            </a:r>
            <a:endParaRPr lang="nl-NL" sz="4000" b="1" dirty="0">
              <a:solidFill>
                <a:schemeClr val="accent5">
                  <a:lumMod val="75000"/>
                </a:schemeClr>
              </a:solidFill>
            </a:endParaRPr>
          </a:p>
        </p:txBody>
      </p:sp>
      <p:sp>
        <p:nvSpPr>
          <p:cNvPr id="26" name="TextBox 25">
            <a:extLst>
              <a:ext uri="{FF2B5EF4-FFF2-40B4-BE49-F238E27FC236}">
                <a16:creationId xmlns:a16="http://schemas.microsoft.com/office/drawing/2014/main" id="{64F77AEB-BD86-4114-9BF2-4BC5322067FC}"/>
              </a:ext>
            </a:extLst>
          </p:cNvPr>
          <p:cNvSpPr txBox="1"/>
          <p:nvPr/>
        </p:nvSpPr>
        <p:spPr>
          <a:xfrm>
            <a:off x="133350" y="1038232"/>
            <a:ext cx="5339373" cy="1200329"/>
          </a:xfrm>
          <a:prstGeom prst="rect">
            <a:avLst/>
          </a:prstGeom>
          <a:noFill/>
        </p:spPr>
        <p:txBody>
          <a:bodyPr wrap="square" rtlCol="0">
            <a:spAutoFit/>
          </a:bodyPr>
          <a:lstStyle/>
          <a:p>
            <a:r>
              <a:rPr lang="en-GB" sz="2400" dirty="0">
                <a:solidFill>
                  <a:srgbClr val="00B050"/>
                </a:solidFill>
              </a:rPr>
              <a:t>Bob is now considering joining an illegal climate change protest </a:t>
            </a:r>
          </a:p>
          <a:p>
            <a:r>
              <a:rPr lang="en-GB" sz="2400" b="1" i="1" dirty="0">
                <a:solidFill>
                  <a:srgbClr val="E0A831"/>
                </a:solidFill>
              </a:rPr>
              <a:t>(High-risk social movement)</a:t>
            </a:r>
          </a:p>
        </p:txBody>
      </p:sp>
    </p:spTree>
    <p:extLst>
      <p:ext uri="{BB962C8B-B14F-4D97-AF65-F5344CB8AC3E}">
        <p14:creationId xmlns:p14="http://schemas.microsoft.com/office/powerpoint/2010/main" val="403406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61" grpId="0"/>
      <p:bldP spid="62" grpId="0" animBg="1"/>
      <p:bldP spid="28" grpId="0" animBg="1"/>
      <p:bldP spid="29" grpId="0" animBg="1"/>
      <p:bldP spid="2"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B76D444-2756-434F-AE61-96D69830C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AA48552-CF5A-4566-AED6-E65FFF9F9FD4}"/>
              </a:ext>
            </a:extLst>
          </p:cNvPr>
          <p:cNvSpPr>
            <a:spLocks noGrp="1"/>
          </p:cNvSpPr>
          <p:nvPr>
            <p:ph type="title"/>
          </p:nvPr>
        </p:nvSpPr>
        <p:spPr>
          <a:xfrm>
            <a:off x="841248" y="1018308"/>
            <a:ext cx="4887685" cy="4222173"/>
          </a:xfrm>
        </p:spPr>
        <p:txBody>
          <a:bodyPr vert="horz" lIns="91440" tIns="45720" rIns="91440" bIns="45720" rtlCol="0" anchor="b">
            <a:noAutofit/>
          </a:bodyPr>
          <a:lstStyle/>
          <a:p>
            <a:r>
              <a:rPr lang="en-US" sz="3200" b="1" dirty="0"/>
              <a:t>Complex Contagions and </a:t>
            </a:r>
            <a:r>
              <a:rPr lang="en-US" sz="3200" b="1" i="1" u="sng" dirty="0">
                <a:solidFill>
                  <a:srgbClr val="FFFF00"/>
                </a:solidFill>
              </a:rPr>
              <a:t>the Weakness of Long Ties</a:t>
            </a:r>
            <a:r>
              <a:rPr lang="en-US" sz="3200" b="1" dirty="0"/>
              <a:t>, </a:t>
            </a:r>
            <a:r>
              <a:rPr lang="en-US" sz="3200" b="1" dirty="0" err="1"/>
              <a:t>Centola</a:t>
            </a:r>
            <a:r>
              <a:rPr lang="en-US" sz="3200" b="1" dirty="0"/>
              <a:t> &amp;Macy, 2007</a:t>
            </a:r>
            <a:br>
              <a:rPr lang="en-US" sz="2800" dirty="0"/>
            </a:br>
            <a:br>
              <a:rPr lang="en-US" sz="2800" dirty="0"/>
            </a:br>
            <a:r>
              <a:rPr lang="en-US" sz="2800" dirty="0"/>
              <a:t>Complex contagions depend primarily on the </a:t>
            </a:r>
            <a:r>
              <a:rPr lang="en-US" sz="2800" dirty="0">
                <a:solidFill>
                  <a:srgbClr val="FFFF00"/>
                </a:solidFill>
              </a:rPr>
              <a:t>width of the bridges across a network, not just their length</a:t>
            </a:r>
            <a:r>
              <a:rPr lang="en-US" sz="2800" dirty="0"/>
              <a:t>. </a:t>
            </a:r>
          </a:p>
        </p:txBody>
      </p:sp>
      <p:sp>
        <p:nvSpPr>
          <p:cNvPr id="5" name="Rectangle 4">
            <a:extLst>
              <a:ext uri="{FF2B5EF4-FFF2-40B4-BE49-F238E27FC236}">
                <a16:creationId xmlns:a16="http://schemas.microsoft.com/office/drawing/2014/main" id="{EC5B9BC8-FF12-4F4D-A054-6CD623FA8954}"/>
              </a:ext>
            </a:extLst>
          </p:cNvPr>
          <p:cNvSpPr/>
          <p:nvPr/>
        </p:nvSpPr>
        <p:spPr>
          <a:xfrm>
            <a:off x="7810931" y="5122645"/>
            <a:ext cx="4887685" cy="636070"/>
          </a:xfrm>
          <a:prstGeom prst="rect">
            <a:avLst/>
          </a:prstGeom>
        </p:spPr>
        <p:txBody>
          <a:bodyPr vert="horz" lIns="91440" tIns="45720" rIns="91440" bIns="45720" rtlCol="0" anchor="t">
            <a:normAutofit fontScale="92500" lnSpcReduction="20000"/>
          </a:bodyPr>
          <a:lstStyle/>
          <a:p>
            <a:pPr algn="ctr">
              <a:lnSpc>
                <a:spcPct val="90000"/>
              </a:lnSpc>
              <a:spcAft>
                <a:spcPts val="600"/>
              </a:spcAft>
            </a:pPr>
            <a:r>
              <a:rPr lang="en-US" sz="2000" dirty="0"/>
              <a:t>Damon </a:t>
            </a:r>
            <a:r>
              <a:rPr lang="en-US" sz="2000" dirty="0" err="1"/>
              <a:t>Centola</a:t>
            </a:r>
            <a:endParaRPr lang="en-US" sz="2000" dirty="0"/>
          </a:p>
          <a:p>
            <a:pPr algn="ctr">
              <a:lnSpc>
                <a:spcPct val="90000"/>
              </a:lnSpc>
              <a:spcAft>
                <a:spcPts val="600"/>
              </a:spcAft>
            </a:pPr>
            <a:r>
              <a:rPr lang="en-US" sz="2000" dirty="0"/>
              <a:t>https://www.damoncentola.com/</a:t>
            </a:r>
          </a:p>
        </p:txBody>
      </p:sp>
      <p:cxnSp>
        <p:nvCxnSpPr>
          <p:cNvPr id="13" name="Straight Connector 12">
            <a:extLst>
              <a:ext uri="{FF2B5EF4-FFF2-40B4-BE49-F238E27FC236}">
                <a16:creationId xmlns:a16="http://schemas.microsoft.com/office/drawing/2014/main" id="{CF8F36E2-BBE5-43FE-822F-AD8CAE08C0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8597" y="1417320"/>
            <a:ext cx="0" cy="40233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AC7EC7ED-C1D8-4EEB-96B5-D7A9753A2C55}"/>
              </a:ext>
            </a:extLst>
          </p:cNvPr>
          <p:cNvPicPr>
            <a:picLocks noChangeAspect="1"/>
          </p:cNvPicPr>
          <p:nvPr/>
        </p:nvPicPr>
        <p:blipFill rotWithShape="1">
          <a:blip r:embed="rId3"/>
          <a:srcRect r="-2" b="19988"/>
          <a:stretch/>
        </p:blipFill>
        <p:spPr>
          <a:xfrm>
            <a:off x="8165838" y="573679"/>
            <a:ext cx="3686512" cy="4125321"/>
          </a:xfrm>
          <a:prstGeom prst="rect">
            <a:avLst/>
          </a:prstGeom>
        </p:spPr>
      </p:pic>
    </p:spTree>
    <p:extLst>
      <p:ext uri="{BB962C8B-B14F-4D97-AF65-F5344CB8AC3E}">
        <p14:creationId xmlns:p14="http://schemas.microsoft.com/office/powerpoint/2010/main" val="1198735226"/>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A783D-124F-4447-B617-FF8BCEB9AC2F}"/>
              </a:ext>
            </a:extLst>
          </p:cNvPr>
          <p:cNvSpPr>
            <a:spLocks noGrp="1"/>
          </p:cNvSpPr>
          <p:nvPr>
            <p:ph type="title"/>
          </p:nvPr>
        </p:nvSpPr>
        <p:spPr>
          <a:xfrm>
            <a:off x="562857" y="305748"/>
            <a:ext cx="10515600" cy="1325563"/>
          </a:xfrm>
        </p:spPr>
        <p:txBody>
          <a:bodyPr/>
          <a:lstStyle/>
          <a:p>
            <a:r>
              <a:rPr lang="en-US" b="1" dirty="0">
                <a:solidFill>
                  <a:schemeClr val="accent5">
                    <a:lumMod val="75000"/>
                  </a:schemeClr>
                </a:solidFill>
              </a:rPr>
              <a:t>Width of a bridge decides the diffusion of complex behavior</a:t>
            </a:r>
            <a:endParaRPr lang="nl-NL" b="1" dirty="0">
              <a:solidFill>
                <a:schemeClr val="accent5">
                  <a:lumMod val="75000"/>
                </a:schemeClr>
              </a:solidFill>
            </a:endParaRPr>
          </a:p>
        </p:txBody>
      </p:sp>
      <p:sp>
        <p:nvSpPr>
          <p:cNvPr id="3" name="Content Placeholder 2">
            <a:extLst>
              <a:ext uri="{FF2B5EF4-FFF2-40B4-BE49-F238E27FC236}">
                <a16:creationId xmlns:a16="http://schemas.microsoft.com/office/drawing/2014/main" id="{C0D78643-18FB-4AEF-AF9F-FB1E87D56510}"/>
              </a:ext>
            </a:extLst>
          </p:cNvPr>
          <p:cNvSpPr>
            <a:spLocks noGrp="1"/>
          </p:cNvSpPr>
          <p:nvPr>
            <p:ph idx="1"/>
          </p:nvPr>
        </p:nvSpPr>
        <p:spPr>
          <a:xfrm>
            <a:off x="475486" y="1609920"/>
            <a:ext cx="11538858" cy="1402836"/>
          </a:xfrm>
        </p:spPr>
        <p:txBody>
          <a:bodyPr>
            <a:normAutofit/>
          </a:bodyPr>
          <a:lstStyle/>
          <a:p>
            <a:pPr>
              <a:spcBef>
                <a:spcPts val="1200"/>
              </a:spcBef>
              <a:spcAft>
                <a:spcPts val="600"/>
              </a:spcAft>
            </a:pPr>
            <a:r>
              <a:rPr lang="en-GB" sz="2600" dirty="0"/>
              <a:t>The </a:t>
            </a:r>
            <a:r>
              <a:rPr lang="en-GB" sz="2600" dirty="0">
                <a:solidFill>
                  <a:schemeClr val="accent2">
                    <a:lumMod val="75000"/>
                  </a:schemeClr>
                </a:solidFill>
              </a:rPr>
              <a:t>width of a bridge </a:t>
            </a:r>
            <a:r>
              <a:rPr lang="en-GB" sz="2600" dirty="0"/>
              <a:t>between two communities is defined as the </a:t>
            </a:r>
            <a:r>
              <a:rPr lang="en-GB" sz="2600" dirty="0">
                <a:solidFill>
                  <a:schemeClr val="accent2">
                    <a:lumMod val="75000"/>
                  </a:schemeClr>
                </a:solidFill>
              </a:rPr>
              <a:t>number of overlapping ties </a:t>
            </a:r>
            <a:r>
              <a:rPr lang="en-GB" sz="2600" dirty="0"/>
              <a:t>between them.</a:t>
            </a:r>
            <a:endParaRPr lang="en-US" sz="2600" dirty="0"/>
          </a:p>
        </p:txBody>
      </p:sp>
      <p:sp>
        <p:nvSpPr>
          <p:cNvPr id="21" name="Rectangle 20">
            <a:extLst>
              <a:ext uri="{FF2B5EF4-FFF2-40B4-BE49-F238E27FC236}">
                <a16:creationId xmlns:a16="http://schemas.microsoft.com/office/drawing/2014/main" id="{CC716508-0278-46B7-BE5B-AA4D412D54A2}"/>
              </a:ext>
            </a:extLst>
          </p:cNvPr>
          <p:cNvSpPr/>
          <p:nvPr/>
        </p:nvSpPr>
        <p:spPr>
          <a:xfrm>
            <a:off x="1" y="305748"/>
            <a:ext cx="171450" cy="11134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F8DCB30B-FCFD-476D-BB00-4C3AC601054D}"/>
              </a:ext>
            </a:extLst>
          </p:cNvPr>
          <p:cNvGrpSpPr/>
          <p:nvPr/>
        </p:nvGrpSpPr>
        <p:grpSpPr>
          <a:xfrm>
            <a:off x="3480954" y="2736062"/>
            <a:ext cx="4333009" cy="3762456"/>
            <a:chOff x="403874" y="1473711"/>
            <a:chExt cx="3427882" cy="3072691"/>
          </a:xfrm>
        </p:grpSpPr>
        <p:sp>
          <p:nvSpPr>
            <p:cNvPr id="24" name="Oval 23">
              <a:extLst>
                <a:ext uri="{FF2B5EF4-FFF2-40B4-BE49-F238E27FC236}">
                  <a16:creationId xmlns:a16="http://schemas.microsoft.com/office/drawing/2014/main" id="{4DDDA271-5C9F-4CB6-BDA3-913672E0E616}"/>
                </a:ext>
              </a:extLst>
            </p:cNvPr>
            <p:cNvSpPr/>
            <p:nvPr/>
          </p:nvSpPr>
          <p:spPr>
            <a:xfrm>
              <a:off x="747053" y="1919131"/>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970D165C-7D4A-4335-9B90-BBBB2C5B1A31}"/>
                </a:ext>
              </a:extLst>
            </p:cNvPr>
            <p:cNvSpPr/>
            <p:nvPr/>
          </p:nvSpPr>
          <p:spPr>
            <a:xfrm>
              <a:off x="1013475" y="169584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D04B1FB-B30F-4515-964F-5BA928C12838}"/>
                </a:ext>
              </a:extLst>
            </p:cNvPr>
            <p:cNvSpPr/>
            <p:nvPr/>
          </p:nvSpPr>
          <p:spPr>
            <a:xfrm>
              <a:off x="1303088" y="177027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5D4C044-F0E9-44B0-8847-B73E32132A9A}"/>
                </a:ext>
              </a:extLst>
            </p:cNvPr>
            <p:cNvSpPr/>
            <p:nvPr/>
          </p:nvSpPr>
          <p:spPr>
            <a:xfrm>
              <a:off x="1463288" y="199355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E225A3C-973F-4547-9CBF-DDBC43FFAE02}"/>
                </a:ext>
              </a:extLst>
            </p:cNvPr>
            <p:cNvSpPr/>
            <p:nvPr/>
          </p:nvSpPr>
          <p:spPr>
            <a:xfrm>
              <a:off x="811053" y="2190312"/>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D54F0157-2C93-458A-AF25-53162E56C42C}"/>
                </a:ext>
              </a:extLst>
            </p:cNvPr>
            <p:cNvSpPr/>
            <p:nvPr/>
          </p:nvSpPr>
          <p:spPr>
            <a:xfrm>
              <a:off x="1087903" y="2306764"/>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8C2BF81-C962-4526-B6ED-0B83346B6F40}"/>
                </a:ext>
              </a:extLst>
            </p:cNvPr>
            <p:cNvSpPr/>
            <p:nvPr/>
          </p:nvSpPr>
          <p:spPr>
            <a:xfrm>
              <a:off x="1368807" y="2232336"/>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F4910412-4B16-4F71-ADEE-6EED9B4D2E41}"/>
                </a:ext>
              </a:extLst>
            </p:cNvPr>
            <p:cNvCxnSpPr>
              <a:stCxn id="25" idx="4"/>
              <a:endCxn id="29" idx="0"/>
            </p:cNvCxnSpPr>
            <p:nvPr/>
          </p:nvCxnSpPr>
          <p:spPr>
            <a:xfrm>
              <a:off x="1087903" y="1844703"/>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4D68BD7-4828-4219-BE57-B07DC7675FD9}"/>
                </a:ext>
              </a:extLst>
            </p:cNvPr>
            <p:cNvCxnSpPr>
              <a:stCxn id="24" idx="6"/>
              <a:endCxn id="30" idx="1"/>
            </p:cNvCxnSpPr>
            <p:nvPr/>
          </p:nvCxnSpPr>
          <p:spPr>
            <a:xfrm>
              <a:off x="895909" y="1993559"/>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4CDB430-911B-4CB5-842C-2356F638E01B}"/>
                </a:ext>
              </a:extLst>
            </p:cNvPr>
            <p:cNvCxnSpPr>
              <a:stCxn id="28" idx="7"/>
              <a:endCxn id="26" idx="2"/>
            </p:cNvCxnSpPr>
            <p:nvPr/>
          </p:nvCxnSpPr>
          <p:spPr>
            <a:xfrm flipV="1">
              <a:off x="938110" y="1844703"/>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94B3032-54EA-49F4-AE2E-DB39A1E8CA79}"/>
                </a:ext>
              </a:extLst>
            </p:cNvPr>
            <p:cNvCxnSpPr>
              <a:cxnSpLocks/>
              <a:stCxn id="24" idx="6"/>
              <a:endCxn id="27" idx="2"/>
            </p:cNvCxnSpPr>
            <p:nvPr/>
          </p:nvCxnSpPr>
          <p:spPr>
            <a:xfrm>
              <a:off x="895909" y="1993559"/>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23BDC10-E047-43E7-8DFA-BC7C0C0522DD}"/>
                </a:ext>
              </a:extLst>
            </p:cNvPr>
            <p:cNvCxnSpPr>
              <a:stCxn id="24" idx="0"/>
              <a:endCxn id="25" idx="2"/>
            </p:cNvCxnSpPr>
            <p:nvPr/>
          </p:nvCxnSpPr>
          <p:spPr>
            <a:xfrm flipV="1">
              <a:off x="821481" y="1770275"/>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5CEEFF8-72FE-4DCB-9D0A-91C719A1A4EC}"/>
                </a:ext>
              </a:extLst>
            </p:cNvPr>
            <p:cNvCxnSpPr>
              <a:stCxn id="25" idx="7"/>
              <a:endCxn id="26" idx="0"/>
            </p:cNvCxnSpPr>
            <p:nvPr/>
          </p:nvCxnSpPr>
          <p:spPr>
            <a:xfrm>
              <a:off x="1140532" y="1717646"/>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09A65F7-C044-4E92-9C36-80DD3E10ECE6}"/>
                </a:ext>
              </a:extLst>
            </p:cNvPr>
            <p:cNvCxnSpPr>
              <a:stCxn id="26" idx="5"/>
              <a:endCxn id="27" idx="1"/>
            </p:cNvCxnSpPr>
            <p:nvPr/>
          </p:nvCxnSpPr>
          <p:spPr>
            <a:xfrm>
              <a:off x="1430145" y="1897332"/>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D7504F2-8DE7-4AF2-A720-107840D4B0D5}"/>
                </a:ext>
              </a:extLst>
            </p:cNvPr>
            <p:cNvCxnSpPr>
              <a:stCxn id="27" idx="4"/>
              <a:endCxn id="30" idx="7"/>
            </p:cNvCxnSpPr>
            <p:nvPr/>
          </p:nvCxnSpPr>
          <p:spPr>
            <a:xfrm flipH="1">
              <a:off x="1495864" y="2142415"/>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99DE723-2160-4E25-8D24-C13B407756E3}"/>
                </a:ext>
              </a:extLst>
            </p:cNvPr>
            <p:cNvCxnSpPr>
              <a:stCxn id="30" idx="4"/>
              <a:endCxn id="29" idx="6"/>
            </p:cNvCxnSpPr>
            <p:nvPr/>
          </p:nvCxnSpPr>
          <p:spPr>
            <a:xfrm flipH="1">
              <a:off x="1236759" y="2381192"/>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1D70E05-8008-422D-AA4B-1D553E016E17}"/>
                </a:ext>
              </a:extLst>
            </p:cNvPr>
            <p:cNvCxnSpPr>
              <a:stCxn id="28" idx="4"/>
              <a:endCxn id="29" idx="2"/>
            </p:cNvCxnSpPr>
            <p:nvPr/>
          </p:nvCxnSpPr>
          <p:spPr>
            <a:xfrm>
              <a:off x="885481" y="2339168"/>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A8DC8E3-4C9E-4D27-90DC-C6996A8CAC05}"/>
                </a:ext>
              </a:extLst>
            </p:cNvPr>
            <p:cNvCxnSpPr>
              <a:stCxn id="24" idx="4"/>
              <a:endCxn id="28" idx="1"/>
            </p:cNvCxnSpPr>
            <p:nvPr/>
          </p:nvCxnSpPr>
          <p:spPr>
            <a:xfrm>
              <a:off x="821481" y="2067987"/>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44A9C8E-FFAF-4EF6-AFF7-AD62E03C4A3C}"/>
                </a:ext>
              </a:extLst>
            </p:cNvPr>
            <p:cNvCxnSpPr>
              <a:stCxn id="26" idx="3"/>
              <a:endCxn id="29" idx="0"/>
            </p:cNvCxnSpPr>
            <p:nvPr/>
          </p:nvCxnSpPr>
          <p:spPr>
            <a:xfrm flipH="1">
              <a:off x="1162331" y="1897332"/>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52FD915-21E3-4574-9894-CACF20E56807}"/>
                </a:ext>
              </a:extLst>
            </p:cNvPr>
            <p:cNvCxnSpPr>
              <a:stCxn id="25" idx="4"/>
              <a:endCxn id="30" idx="1"/>
            </p:cNvCxnSpPr>
            <p:nvPr/>
          </p:nvCxnSpPr>
          <p:spPr>
            <a:xfrm>
              <a:off x="1087903" y="1844703"/>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94B7674-C68D-4FE7-B686-49533B2BE7FE}"/>
                </a:ext>
              </a:extLst>
            </p:cNvPr>
            <p:cNvCxnSpPr>
              <a:stCxn id="25" idx="4"/>
              <a:endCxn id="28" idx="7"/>
            </p:cNvCxnSpPr>
            <p:nvPr/>
          </p:nvCxnSpPr>
          <p:spPr>
            <a:xfrm flipH="1">
              <a:off x="938110" y="1844703"/>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773CDF-64FD-408F-A87A-19F24E93F694}"/>
                </a:ext>
              </a:extLst>
            </p:cNvPr>
            <p:cNvCxnSpPr>
              <a:stCxn id="28" idx="7"/>
              <a:endCxn id="30" idx="1"/>
            </p:cNvCxnSpPr>
            <p:nvPr/>
          </p:nvCxnSpPr>
          <p:spPr>
            <a:xfrm>
              <a:off x="938110" y="2212111"/>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67619E8-D9EA-464F-8EBA-A6AEE7A7B941}"/>
                </a:ext>
              </a:extLst>
            </p:cNvPr>
            <p:cNvCxnSpPr>
              <a:cxnSpLocks/>
              <a:stCxn id="26" idx="2"/>
              <a:endCxn id="24" idx="6"/>
            </p:cNvCxnSpPr>
            <p:nvPr/>
          </p:nvCxnSpPr>
          <p:spPr>
            <a:xfrm flipH="1">
              <a:off x="895909" y="1844703"/>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AF17AC1-9918-4916-9DF9-98E5E9A401B3}"/>
                </a:ext>
              </a:extLst>
            </p:cNvPr>
            <p:cNvCxnSpPr>
              <a:stCxn id="24" idx="5"/>
              <a:endCxn id="29" idx="1"/>
            </p:cNvCxnSpPr>
            <p:nvPr/>
          </p:nvCxnSpPr>
          <p:spPr>
            <a:xfrm>
              <a:off x="874110" y="2046188"/>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BD6950D9-F2D6-4EF6-96C1-A614361192FD}"/>
                </a:ext>
              </a:extLst>
            </p:cNvPr>
            <p:cNvSpPr/>
            <p:nvPr/>
          </p:nvSpPr>
          <p:spPr>
            <a:xfrm>
              <a:off x="2012635" y="169699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6DD8A674-FE45-43F4-8A13-2CB6E7BC014B}"/>
                </a:ext>
              </a:extLst>
            </p:cNvPr>
            <p:cNvSpPr/>
            <p:nvPr/>
          </p:nvSpPr>
          <p:spPr>
            <a:xfrm>
              <a:off x="2279057" y="1473711"/>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1FED705B-6253-410F-B9BD-BC718BBBE3F5}"/>
                </a:ext>
              </a:extLst>
            </p:cNvPr>
            <p:cNvSpPr/>
            <p:nvPr/>
          </p:nvSpPr>
          <p:spPr>
            <a:xfrm>
              <a:off x="2568670" y="154813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6A7909A3-99F9-4FCA-98B9-7F2E4C79436D}"/>
                </a:ext>
              </a:extLst>
            </p:cNvPr>
            <p:cNvSpPr/>
            <p:nvPr/>
          </p:nvSpPr>
          <p:spPr>
            <a:xfrm>
              <a:off x="2728870" y="1771423"/>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19270A9B-4B74-4D0C-B450-23D2576E2F76}"/>
                </a:ext>
              </a:extLst>
            </p:cNvPr>
            <p:cNvSpPr/>
            <p:nvPr/>
          </p:nvSpPr>
          <p:spPr>
            <a:xfrm>
              <a:off x="2076635" y="1968176"/>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4AC0D08C-F253-4803-9726-3786E8EF3F30}"/>
                </a:ext>
              </a:extLst>
            </p:cNvPr>
            <p:cNvSpPr/>
            <p:nvPr/>
          </p:nvSpPr>
          <p:spPr>
            <a:xfrm>
              <a:off x="2353485" y="2084628"/>
              <a:ext cx="148856" cy="148856"/>
            </a:xfrm>
            <a:prstGeom prst="ellipse">
              <a:avLst/>
            </a:prstGeom>
            <a:solidFill>
              <a:schemeClr val="accent4">
                <a:lumMod val="60000"/>
                <a:lumOff val="4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7566B263-82EF-4503-8DEA-A3B724C68E78}"/>
                </a:ext>
              </a:extLst>
            </p:cNvPr>
            <p:cNvSpPr/>
            <p:nvPr/>
          </p:nvSpPr>
          <p:spPr>
            <a:xfrm>
              <a:off x="2634389" y="2010200"/>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B0BED495-29C5-45D3-B097-919F3D6AAFB9}"/>
                </a:ext>
              </a:extLst>
            </p:cNvPr>
            <p:cNvCxnSpPr>
              <a:stCxn id="49" idx="4"/>
              <a:endCxn id="53" idx="0"/>
            </p:cNvCxnSpPr>
            <p:nvPr/>
          </p:nvCxnSpPr>
          <p:spPr>
            <a:xfrm>
              <a:off x="2353485" y="1622567"/>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FB35E02-C6E0-4AA5-AD13-73074E14D8C8}"/>
                </a:ext>
              </a:extLst>
            </p:cNvPr>
            <p:cNvCxnSpPr>
              <a:stCxn id="48" idx="6"/>
              <a:endCxn id="54" idx="1"/>
            </p:cNvCxnSpPr>
            <p:nvPr/>
          </p:nvCxnSpPr>
          <p:spPr>
            <a:xfrm>
              <a:off x="2161491" y="1771423"/>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9191A93-E971-432E-8D23-1D7095570558}"/>
                </a:ext>
              </a:extLst>
            </p:cNvPr>
            <p:cNvCxnSpPr>
              <a:stCxn id="52" idx="7"/>
              <a:endCxn id="50" idx="2"/>
            </p:cNvCxnSpPr>
            <p:nvPr/>
          </p:nvCxnSpPr>
          <p:spPr>
            <a:xfrm flipV="1">
              <a:off x="2203692" y="1622567"/>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CFF161B-FF8C-40A6-B011-B47F2F0948E5}"/>
                </a:ext>
              </a:extLst>
            </p:cNvPr>
            <p:cNvCxnSpPr>
              <a:cxnSpLocks/>
              <a:stCxn id="48" idx="6"/>
              <a:endCxn id="51" idx="2"/>
            </p:cNvCxnSpPr>
            <p:nvPr/>
          </p:nvCxnSpPr>
          <p:spPr>
            <a:xfrm>
              <a:off x="2161491" y="1771423"/>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18ACE34-E95E-4F94-85D8-7AA6921C52EA}"/>
                </a:ext>
              </a:extLst>
            </p:cNvPr>
            <p:cNvCxnSpPr>
              <a:stCxn id="48" idx="0"/>
              <a:endCxn id="49" idx="2"/>
            </p:cNvCxnSpPr>
            <p:nvPr/>
          </p:nvCxnSpPr>
          <p:spPr>
            <a:xfrm flipV="1">
              <a:off x="2087063" y="1548139"/>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9065AB8-0912-4C1F-AF30-6E41F1E9CE13}"/>
                </a:ext>
              </a:extLst>
            </p:cNvPr>
            <p:cNvCxnSpPr>
              <a:stCxn id="49" idx="7"/>
              <a:endCxn id="50" idx="0"/>
            </p:cNvCxnSpPr>
            <p:nvPr/>
          </p:nvCxnSpPr>
          <p:spPr>
            <a:xfrm>
              <a:off x="2406114" y="1495510"/>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6AB2154-BB66-4D45-A295-FD9A54722DD6}"/>
                </a:ext>
              </a:extLst>
            </p:cNvPr>
            <p:cNvCxnSpPr>
              <a:stCxn id="50" idx="5"/>
              <a:endCxn id="51" idx="1"/>
            </p:cNvCxnSpPr>
            <p:nvPr/>
          </p:nvCxnSpPr>
          <p:spPr>
            <a:xfrm>
              <a:off x="2695727" y="1675196"/>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FA02C5B-5AFC-47EF-A3DB-5528C0C6CFBE}"/>
                </a:ext>
              </a:extLst>
            </p:cNvPr>
            <p:cNvCxnSpPr>
              <a:stCxn id="51" idx="4"/>
              <a:endCxn id="54" idx="7"/>
            </p:cNvCxnSpPr>
            <p:nvPr/>
          </p:nvCxnSpPr>
          <p:spPr>
            <a:xfrm flipH="1">
              <a:off x="2761446" y="1920279"/>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C5CD1E5-0832-4BC2-8EC3-7CBC0B52A07F}"/>
                </a:ext>
              </a:extLst>
            </p:cNvPr>
            <p:cNvCxnSpPr>
              <a:stCxn id="54" idx="4"/>
              <a:endCxn id="53" idx="6"/>
            </p:cNvCxnSpPr>
            <p:nvPr/>
          </p:nvCxnSpPr>
          <p:spPr>
            <a:xfrm flipH="1">
              <a:off x="2502341" y="2159056"/>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543C55A-C2AE-4FC7-A4AE-0842391B5287}"/>
                </a:ext>
              </a:extLst>
            </p:cNvPr>
            <p:cNvCxnSpPr>
              <a:stCxn id="52" idx="4"/>
              <a:endCxn id="53" idx="2"/>
            </p:cNvCxnSpPr>
            <p:nvPr/>
          </p:nvCxnSpPr>
          <p:spPr>
            <a:xfrm>
              <a:off x="2151063" y="2117032"/>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C47AA69-0664-408E-9487-6CD3EF99B93D}"/>
                </a:ext>
              </a:extLst>
            </p:cNvPr>
            <p:cNvCxnSpPr>
              <a:stCxn id="48" idx="4"/>
              <a:endCxn id="52" idx="1"/>
            </p:cNvCxnSpPr>
            <p:nvPr/>
          </p:nvCxnSpPr>
          <p:spPr>
            <a:xfrm>
              <a:off x="2087063" y="1845851"/>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E5A5A77-7F7A-497A-82C5-77421E5D9C29}"/>
                </a:ext>
              </a:extLst>
            </p:cNvPr>
            <p:cNvCxnSpPr>
              <a:stCxn id="50" idx="3"/>
              <a:endCxn id="53" idx="0"/>
            </p:cNvCxnSpPr>
            <p:nvPr/>
          </p:nvCxnSpPr>
          <p:spPr>
            <a:xfrm flipH="1">
              <a:off x="2427913" y="1675196"/>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DF96253-9BE3-4812-AE91-B7DF5908B053}"/>
                </a:ext>
              </a:extLst>
            </p:cNvPr>
            <p:cNvCxnSpPr>
              <a:stCxn id="49" idx="4"/>
              <a:endCxn id="54" idx="1"/>
            </p:cNvCxnSpPr>
            <p:nvPr/>
          </p:nvCxnSpPr>
          <p:spPr>
            <a:xfrm>
              <a:off x="2353485" y="1622567"/>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10D1C1EB-3BAA-45A2-B577-791C68950416}"/>
                </a:ext>
              </a:extLst>
            </p:cNvPr>
            <p:cNvCxnSpPr>
              <a:stCxn id="49" idx="4"/>
              <a:endCxn id="52" idx="7"/>
            </p:cNvCxnSpPr>
            <p:nvPr/>
          </p:nvCxnSpPr>
          <p:spPr>
            <a:xfrm flipH="1">
              <a:off x="2203692" y="1622567"/>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D7977F9-FAB0-4C03-8BDC-D802CA4CE707}"/>
                </a:ext>
              </a:extLst>
            </p:cNvPr>
            <p:cNvCxnSpPr>
              <a:stCxn id="52" idx="7"/>
              <a:endCxn id="54" idx="1"/>
            </p:cNvCxnSpPr>
            <p:nvPr/>
          </p:nvCxnSpPr>
          <p:spPr>
            <a:xfrm>
              <a:off x="2203692" y="1989975"/>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9B5444F4-7DEE-4C3E-B293-599BBBEF0AAB}"/>
                </a:ext>
              </a:extLst>
            </p:cNvPr>
            <p:cNvCxnSpPr>
              <a:cxnSpLocks/>
              <a:stCxn id="50" idx="2"/>
              <a:endCxn id="48" idx="6"/>
            </p:cNvCxnSpPr>
            <p:nvPr/>
          </p:nvCxnSpPr>
          <p:spPr>
            <a:xfrm flipH="1">
              <a:off x="2161491" y="1622567"/>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6C8F25-20D0-4314-B0ED-6675BD5C4FCD}"/>
                </a:ext>
              </a:extLst>
            </p:cNvPr>
            <p:cNvCxnSpPr>
              <a:stCxn id="48" idx="5"/>
              <a:endCxn id="53" idx="1"/>
            </p:cNvCxnSpPr>
            <p:nvPr/>
          </p:nvCxnSpPr>
          <p:spPr>
            <a:xfrm>
              <a:off x="2139692" y="1824052"/>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72" name="Oval 71">
              <a:extLst>
                <a:ext uri="{FF2B5EF4-FFF2-40B4-BE49-F238E27FC236}">
                  <a16:creationId xmlns:a16="http://schemas.microsoft.com/office/drawing/2014/main" id="{95185CBE-F572-4425-9140-3530B1882721}"/>
                </a:ext>
              </a:extLst>
            </p:cNvPr>
            <p:cNvSpPr/>
            <p:nvPr/>
          </p:nvSpPr>
          <p:spPr>
            <a:xfrm>
              <a:off x="2902832" y="2361352"/>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7CB1D281-465F-433F-8BEC-3CE77277CC51}"/>
                </a:ext>
              </a:extLst>
            </p:cNvPr>
            <p:cNvSpPr/>
            <p:nvPr/>
          </p:nvSpPr>
          <p:spPr>
            <a:xfrm>
              <a:off x="3169254" y="2138068"/>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778C11DF-348C-438F-ADE4-77E4E3BCCC02}"/>
                </a:ext>
              </a:extLst>
            </p:cNvPr>
            <p:cNvSpPr/>
            <p:nvPr/>
          </p:nvSpPr>
          <p:spPr>
            <a:xfrm>
              <a:off x="3458867" y="2212496"/>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11B80248-F0D4-4BE8-9AAC-C2D296139B99}"/>
                </a:ext>
              </a:extLst>
            </p:cNvPr>
            <p:cNvSpPr/>
            <p:nvPr/>
          </p:nvSpPr>
          <p:spPr>
            <a:xfrm>
              <a:off x="3619067" y="2435780"/>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A94B7A2D-9193-4B1B-AAA3-13A33ED9EC0C}"/>
                </a:ext>
              </a:extLst>
            </p:cNvPr>
            <p:cNvSpPr/>
            <p:nvPr/>
          </p:nvSpPr>
          <p:spPr>
            <a:xfrm>
              <a:off x="2966832" y="2632533"/>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FAEB4D05-2CD6-4F62-AC3D-DBC85EFB9FA5}"/>
                </a:ext>
              </a:extLst>
            </p:cNvPr>
            <p:cNvSpPr/>
            <p:nvPr/>
          </p:nvSpPr>
          <p:spPr>
            <a:xfrm>
              <a:off x="3243682" y="274898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9A538C10-CF5A-45C7-A169-3E9AA1E9C098}"/>
                </a:ext>
              </a:extLst>
            </p:cNvPr>
            <p:cNvSpPr/>
            <p:nvPr/>
          </p:nvSpPr>
          <p:spPr>
            <a:xfrm>
              <a:off x="3524586" y="267455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79" name="Straight Connector 78">
              <a:extLst>
                <a:ext uri="{FF2B5EF4-FFF2-40B4-BE49-F238E27FC236}">
                  <a16:creationId xmlns:a16="http://schemas.microsoft.com/office/drawing/2014/main" id="{BC710BF4-32D6-49B4-937E-0D8C613E4BBC}"/>
                </a:ext>
              </a:extLst>
            </p:cNvPr>
            <p:cNvCxnSpPr>
              <a:stCxn id="73" idx="4"/>
              <a:endCxn id="77" idx="0"/>
            </p:cNvCxnSpPr>
            <p:nvPr/>
          </p:nvCxnSpPr>
          <p:spPr>
            <a:xfrm>
              <a:off x="3243682" y="2286924"/>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20CCB89-6703-4A00-B423-2451810893DD}"/>
                </a:ext>
              </a:extLst>
            </p:cNvPr>
            <p:cNvCxnSpPr>
              <a:stCxn id="72" idx="6"/>
              <a:endCxn id="78" idx="1"/>
            </p:cNvCxnSpPr>
            <p:nvPr/>
          </p:nvCxnSpPr>
          <p:spPr>
            <a:xfrm>
              <a:off x="3051688" y="2435780"/>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1643BBF7-CC03-45E9-BC24-FE5C57033013}"/>
                </a:ext>
              </a:extLst>
            </p:cNvPr>
            <p:cNvCxnSpPr>
              <a:stCxn id="76" idx="7"/>
              <a:endCxn id="74" idx="2"/>
            </p:cNvCxnSpPr>
            <p:nvPr/>
          </p:nvCxnSpPr>
          <p:spPr>
            <a:xfrm flipV="1">
              <a:off x="3093889" y="2286924"/>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F88A470-61FB-4D8A-BF73-2D9B7DC1BC90}"/>
                </a:ext>
              </a:extLst>
            </p:cNvPr>
            <p:cNvCxnSpPr>
              <a:cxnSpLocks/>
              <a:stCxn id="72" idx="6"/>
              <a:endCxn id="75" idx="2"/>
            </p:cNvCxnSpPr>
            <p:nvPr/>
          </p:nvCxnSpPr>
          <p:spPr>
            <a:xfrm>
              <a:off x="3051688" y="2435780"/>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A923084-F267-42BA-A8BE-99231C592F39}"/>
                </a:ext>
              </a:extLst>
            </p:cNvPr>
            <p:cNvCxnSpPr>
              <a:stCxn id="72" idx="0"/>
              <a:endCxn id="73" idx="2"/>
            </p:cNvCxnSpPr>
            <p:nvPr/>
          </p:nvCxnSpPr>
          <p:spPr>
            <a:xfrm flipV="1">
              <a:off x="2977260" y="2212496"/>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56E39CF2-9C56-490D-974B-AB7CB25D79F1}"/>
                </a:ext>
              </a:extLst>
            </p:cNvPr>
            <p:cNvCxnSpPr>
              <a:stCxn id="73" idx="7"/>
              <a:endCxn id="74" idx="0"/>
            </p:cNvCxnSpPr>
            <p:nvPr/>
          </p:nvCxnSpPr>
          <p:spPr>
            <a:xfrm>
              <a:off x="3296311" y="2159867"/>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7E1B689-9506-4125-B965-DA8BB1203B9E}"/>
                </a:ext>
              </a:extLst>
            </p:cNvPr>
            <p:cNvCxnSpPr>
              <a:stCxn id="74" idx="5"/>
              <a:endCxn id="75" idx="1"/>
            </p:cNvCxnSpPr>
            <p:nvPr/>
          </p:nvCxnSpPr>
          <p:spPr>
            <a:xfrm>
              <a:off x="3585924" y="2339553"/>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776F475-4CE6-40D8-92BB-123F123026A3}"/>
                </a:ext>
              </a:extLst>
            </p:cNvPr>
            <p:cNvCxnSpPr>
              <a:stCxn id="75" idx="4"/>
              <a:endCxn id="78" idx="7"/>
            </p:cNvCxnSpPr>
            <p:nvPr/>
          </p:nvCxnSpPr>
          <p:spPr>
            <a:xfrm flipH="1">
              <a:off x="3651643" y="2584636"/>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19137984-EA6F-4A22-9482-927CCBB17347}"/>
                </a:ext>
              </a:extLst>
            </p:cNvPr>
            <p:cNvCxnSpPr>
              <a:stCxn id="78" idx="4"/>
              <a:endCxn id="77" idx="6"/>
            </p:cNvCxnSpPr>
            <p:nvPr/>
          </p:nvCxnSpPr>
          <p:spPr>
            <a:xfrm flipH="1">
              <a:off x="3392538" y="2823413"/>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1B43429D-1F07-49D8-AA80-5EBCA4CA5AFB}"/>
                </a:ext>
              </a:extLst>
            </p:cNvPr>
            <p:cNvCxnSpPr>
              <a:stCxn id="76" idx="4"/>
              <a:endCxn id="77" idx="2"/>
            </p:cNvCxnSpPr>
            <p:nvPr/>
          </p:nvCxnSpPr>
          <p:spPr>
            <a:xfrm>
              <a:off x="3041260" y="2781389"/>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B3C13D8B-E509-4EB8-8D8E-FFCB6E646F0C}"/>
                </a:ext>
              </a:extLst>
            </p:cNvPr>
            <p:cNvCxnSpPr>
              <a:stCxn id="72" idx="4"/>
              <a:endCxn id="76" idx="1"/>
            </p:cNvCxnSpPr>
            <p:nvPr/>
          </p:nvCxnSpPr>
          <p:spPr>
            <a:xfrm>
              <a:off x="2977260" y="2510208"/>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38C3149E-93D8-4916-9222-C1121DE9A49C}"/>
                </a:ext>
              </a:extLst>
            </p:cNvPr>
            <p:cNvCxnSpPr>
              <a:stCxn id="74" idx="3"/>
              <a:endCxn id="77" idx="0"/>
            </p:cNvCxnSpPr>
            <p:nvPr/>
          </p:nvCxnSpPr>
          <p:spPr>
            <a:xfrm flipH="1">
              <a:off x="3318110" y="2339553"/>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C4E0115-D739-440A-9229-A7BC8A757A6E}"/>
                </a:ext>
              </a:extLst>
            </p:cNvPr>
            <p:cNvCxnSpPr>
              <a:stCxn id="73" idx="4"/>
              <a:endCxn id="78" idx="1"/>
            </p:cNvCxnSpPr>
            <p:nvPr/>
          </p:nvCxnSpPr>
          <p:spPr>
            <a:xfrm>
              <a:off x="3243682" y="2286924"/>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51650A4-8920-492F-8799-04929EBA15B1}"/>
                </a:ext>
              </a:extLst>
            </p:cNvPr>
            <p:cNvCxnSpPr>
              <a:stCxn id="73" idx="4"/>
              <a:endCxn id="76" idx="7"/>
            </p:cNvCxnSpPr>
            <p:nvPr/>
          </p:nvCxnSpPr>
          <p:spPr>
            <a:xfrm flipH="1">
              <a:off x="3093889" y="2286924"/>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84AB6A4-4AB7-48F8-9A84-1762EEAFCD10}"/>
                </a:ext>
              </a:extLst>
            </p:cNvPr>
            <p:cNvCxnSpPr>
              <a:stCxn id="76" idx="7"/>
              <a:endCxn id="78" idx="1"/>
            </p:cNvCxnSpPr>
            <p:nvPr/>
          </p:nvCxnSpPr>
          <p:spPr>
            <a:xfrm>
              <a:off x="3093889" y="2654332"/>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4E1B2B4-B599-4B14-96CA-21E00DFA0A8E}"/>
                </a:ext>
              </a:extLst>
            </p:cNvPr>
            <p:cNvCxnSpPr>
              <a:cxnSpLocks/>
              <a:stCxn id="74" idx="2"/>
              <a:endCxn id="72" idx="6"/>
            </p:cNvCxnSpPr>
            <p:nvPr/>
          </p:nvCxnSpPr>
          <p:spPr>
            <a:xfrm flipH="1">
              <a:off x="3051688" y="2286924"/>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2C84418-33FD-462D-ADA8-CAF31D2FE311}"/>
                </a:ext>
              </a:extLst>
            </p:cNvPr>
            <p:cNvCxnSpPr>
              <a:stCxn id="72" idx="5"/>
              <a:endCxn id="77" idx="1"/>
            </p:cNvCxnSpPr>
            <p:nvPr/>
          </p:nvCxnSpPr>
          <p:spPr>
            <a:xfrm>
              <a:off x="3029889" y="2488409"/>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96" name="Oval 95">
              <a:extLst>
                <a:ext uri="{FF2B5EF4-FFF2-40B4-BE49-F238E27FC236}">
                  <a16:creationId xmlns:a16="http://schemas.microsoft.com/office/drawing/2014/main" id="{897D953E-B2D0-484E-8E34-64650B231549}"/>
                </a:ext>
              </a:extLst>
            </p:cNvPr>
            <p:cNvSpPr/>
            <p:nvPr/>
          </p:nvSpPr>
          <p:spPr>
            <a:xfrm>
              <a:off x="403874" y="297226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9284C04B-F26E-40DB-AAEC-4B51E26C8D0E}"/>
                </a:ext>
              </a:extLst>
            </p:cNvPr>
            <p:cNvSpPr/>
            <p:nvPr/>
          </p:nvSpPr>
          <p:spPr>
            <a:xfrm>
              <a:off x="670296" y="274898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EE46FF36-B3FC-41A0-833D-B1A451BD7F94}"/>
                </a:ext>
              </a:extLst>
            </p:cNvPr>
            <p:cNvSpPr/>
            <p:nvPr/>
          </p:nvSpPr>
          <p:spPr>
            <a:xfrm>
              <a:off x="959909" y="2823413"/>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2877C187-55D5-46F7-B5A1-07693A4DD7C0}"/>
                </a:ext>
              </a:extLst>
            </p:cNvPr>
            <p:cNvSpPr/>
            <p:nvPr/>
          </p:nvSpPr>
          <p:spPr>
            <a:xfrm>
              <a:off x="1120109" y="304669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07642B37-C1BA-4B72-A035-B4F59BCDC765}"/>
                </a:ext>
              </a:extLst>
            </p:cNvPr>
            <p:cNvSpPr/>
            <p:nvPr/>
          </p:nvSpPr>
          <p:spPr>
            <a:xfrm>
              <a:off x="467874" y="3243450"/>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CD1097AB-E45E-4CBC-B4B7-D62A7DA79505}"/>
                </a:ext>
              </a:extLst>
            </p:cNvPr>
            <p:cNvSpPr/>
            <p:nvPr/>
          </p:nvSpPr>
          <p:spPr>
            <a:xfrm>
              <a:off x="744724" y="3359902"/>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176858BB-8B19-4180-A451-915E17601085}"/>
                </a:ext>
              </a:extLst>
            </p:cNvPr>
            <p:cNvSpPr/>
            <p:nvPr/>
          </p:nvSpPr>
          <p:spPr>
            <a:xfrm>
              <a:off x="1025628" y="3285474"/>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03" name="Straight Connector 102">
              <a:extLst>
                <a:ext uri="{FF2B5EF4-FFF2-40B4-BE49-F238E27FC236}">
                  <a16:creationId xmlns:a16="http://schemas.microsoft.com/office/drawing/2014/main" id="{B4F27C52-655B-41D5-980D-FBE4B61FACAC}"/>
                </a:ext>
              </a:extLst>
            </p:cNvPr>
            <p:cNvCxnSpPr>
              <a:stCxn id="97" idx="4"/>
              <a:endCxn id="101" idx="0"/>
            </p:cNvCxnSpPr>
            <p:nvPr/>
          </p:nvCxnSpPr>
          <p:spPr>
            <a:xfrm>
              <a:off x="744724" y="2897841"/>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3AA6756E-7F2E-4815-B925-2285D2026220}"/>
                </a:ext>
              </a:extLst>
            </p:cNvPr>
            <p:cNvCxnSpPr>
              <a:stCxn id="96" idx="6"/>
              <a:endCxn id="102" idx="1"/>
            </p:cNvCxnSpPr>
            <p:nvPr/>
          </p:nvCxnSpPr>
          <p:spPr>
            <a:xfrm>
              <a:off x="552730" y="3046697"/>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B613A7D5-EA5D-4A93-942D-948180AF8434}"/>
                </a:ext>
              </a:extLst>
            </p:cNvPr>
            <p:cNvCxnSpPr>
              <a:stCxn id="100" idx="7"/>
              <a:endCxn id="98" idx="2"/>
            </p:cNvCxnSpPr>
            <p:nvPr/>
          </p:nvCxnSpPr>
          <p:spPr>
            <a:xfrm flipV="1">
              <a:off x="594931" y="2897841"/>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388E4512-2AA5-452B-A1F2-F2744F8AEF90}"/>
                </a:ext>
              </a:extLst>
            </p:cNvPr>
            <p:cNvCxnSpPr>
              <a:cxnSpLocks/>
              <a:stCxn id="96" idx="6"/>
              <a:endCxn id="99" idx="2"/>
            </p:cNvCxnSpPr>
            <p:nvPr/>
          </p:nvCxnSpPr>
          <p:spPr>
            <a:xfrm>
              <a:off x="552730" y="3046697"/>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C1A5C45-3417-4D95-AD47-0837A513AC63}"/>
                </a:ext>
              </a:extLst>
            </p:cNvPr>
            <p:cNvCxnSpPr>
              <a:stCxn id="96" idx="0"/>
              <a:endCxn id="97" idx="2"/>
            </p:cNvCxnSpPr>
            <p:nvPr/>
          </p:nvCxnSpPr>
          <p:spPr>
            <a:xfrm flipV="1">
              <a:off x="478302" y="2823413"/>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6B38B85-40DD-4816-B39A-9BA4C182B990}"/>
                </a:ext>
              </a:extLst>
            </p:cNvPr>
            <p:cNvCxnSpPr>
              <a:stCxn id="97" idx="7"/>
              <a:endCxn id="98" idx="0"/>
            </p:cNvCxnSpPr>
            <p:nvPr/>
          </p:nvCxnSpPr>
          <p:spPr>
            <a:xfrm>
              <a:off x="797353" y="2770784"/>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1EDC4439-05B1-4CAB-A6F8-DD6841632024}"/>
                </a:ext>
              </a:extLst>
            </p:cNvPr>
            <p:cNvCxnSpPr>
              <a:stCxn id="98" idx="5"/>
              <a:endCxn id="99" idx="1"/>
            </p:cNvCxnSpPr>
            <p:nvPr/>
          </p:nvCxnSpPr>
          <p:spPr>
            <a:xfrm>
              <a:off x="1086966" y="2950470"/>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EB2A485-9650-49B3-A20E-60DA2A75394B}"/>
                </a:ext>
              </a:extLst>
            </p:cNvPr>
            <p:cNvCxnSpPr>
              <a:stCxn id="99" idx="4"/>
              <a:endCxn id="102" idx="7"/>
            </p:cNvCxnSpPr>
            <p:nvPr/>
          </p:nvCxnSpPr>
          <p:spPr>
            <a:xfrm flipH="1">
              <a:off x="1152685" y="3195553"/>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643211E9-58D0-4C94-8FAA-6B9EC777CC11}"/>
                </a:ext>
              </a:extLst>
            </p:cNvPr>
            <p:cNvCxnSpPr>
              <a:stCxn id="102" idx="4"/>
              <a:endCxn id="101" idx="6"/>
            </p:cNvCxnSpPr>
            <p:nvPr/>
          </p:nvCxnSpPr>
          <p:spPr>
            <a:xfrm flipH="1">
              <a:off x="893580" y="3434330"/>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F43DE207-C83E-42EB-A02B-451784D85758}"/>
                </a:ext>
              </a:extLst>
            </p:cNvPr>
            <p:cNvCxnSpPr>
              <a:stCxn id="100" idx="4"/>
              <a:endCxn id="101" idx="2"/>
            </p:cNvCxnSpPr>
            <p:nvPr/>
          </p:nvCxnSpPr>
          <p:spPr>
            <a:xfrm>
              <a:off x="542302" y="3392306"/>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D67E2CF3-B745-44F2-ADDD-746BD8942C76}"/>
                </a:ext>
              </a:extLst>
            </p:cNvPr>
            <p:cNvCxnSpPr>
              <a:stCxn id="96" idx="4"/>
              <a:endCxn id="100" idx="1"/>
            </p:cNvCxnSpPr>
            <p:nvPr/>
          </p:nvCxnSpPr>
          <p:spPr>
            <a:xfrm>
              <a:off x="478302" y="3121125"/>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7A7FDB4E-BB32-4CFF-A210-B3512ACE96CE}"/>
                </a:ext>
              </a:extLst>
            </p:cNvPr>
            <p:cNvCxnSpPr>
              <a:stCxn id="98" idx="3"/>
              <a:endCxn id="101" idx="0"/>
            </p:cNvCxnSpPr>
            <p:nvPr/>
          </p:nvCxnSpPr>
          <p:spPr>
            <a:xfrm flipH="1">
              <a:off x="819152" y="2950470"/>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22E14377-A2BD-4433-AE8A-A5ABD4663F24}"/>
                </a:ext>
              </a:extLst>
            </p:cNvPr>
            <p:cNvCxnSpPr>
              <a:stCxn id="97" idx="4"/>
              <a:endCxn id="102" idx="1"/>
            </p:cNvCxnSpPr>
            <p:nvPr/>
          </p:nvCxnSpPr>
          <p:spPr>
            <a:xfrm>
              <a:off x="744724" y="2897841"/>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04618896-D503-4EA5-902F-554FF250A839}"/>
                </a:ext>
              </a:extLst>
            </p:cNvPr>
            <p:cNvCxnSpPr>
              <a:stCxn id="97" idx="4"/>
              <a:endCxn id="100" idx="7"/>
            </p:cNvCxnSpPr>
            <p:nvPr/>
          </p:nvCxnSpPr>
          <p:spPr>
            <a:xfrm flipH="1">
              <a:off x="594931" y="2897841"/>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FC227E7A-9F2D-4A45-B1DB-2BB04A18CFCF}"/>
                </a:ext>
              </a:extLst>
            </p:cNvPr>
            <p:cNvCxnSpPr>
              <a:stCxn id="100" idx="7"/>
              <a:endCxn id="102" idx="1"/>
            </p:cNvCxnSpPr>
            <p:nvPr/>
          </p:nvCxnSpPr>
          <p:spPr>
            <a:xfrm>
              <a:off x="594931" y="3265249"/>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71E1FC75-E3AE-4CC0-A557-A6D5888088F6}"/>
                </a:ext>
              </a:extLst>
            </p:cNvPr>
            <p:cNvCxnSpPr>
              <a:cxnSpLocks/>
              <a:stCxn id="98" idx="2"/>
              <a:endCxn id="96" idx="6"/>
            </p:cNvCxnSpPr>
            <p:nvPr/>
          </p:nvCxnSpPr>
          <p:spPr>
            <a:xfrm flipH="1">
              <a:off x="552730" y="2897841"/>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4369E1F2-4093-4493-8717-C0F4711DDA0C}"/>
                </a:ext>
              </a:extLst>
            </p:cNvPr>
            <p:cNvCxnSpPr>
              <a:stCxn id="96" idx="5"/>
              <a:endCxn id="101" idx="1"/>
            </p:cNvCxnSpPr>
            <p:nvPr/>
          </p:nvCxnSpPr>
          <p:spPr>
            <a:xfrm>
              <a:off x="530931" y="3099326"/>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120" name="Oval 119">
              <a:extLst>
                <a:ext uri="{FF2B5EF4-FFF2-40B4-BE49-F238E27FC236}">
                  <a16:creationId xmlns:a16="http://schemas.microsoft.com/office/drawing/2014/main" id="{D8051EE3-723F-4514-AD3A-71D39882E2DB}"/>
                </a:ext>
              </a:extLst>
            </p:cNvPr>
            <p:cNvSpPr/>
            <p:nvPr/>
          </p:nvSpPr>
          <p:spPr>
            <a:xfrm>
              <a:off x="1037287" y="3957284"/>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978D484C-4EE0-4D8F-8F62-938C8081164B}"/>
                </a:ext>
              </a:extLst>
            </p:cNvPr>
            <p:cNvSpPr/>
            <p:nvPr/>
          </p:nvSpPr>
          <p:spPr>
            <a:xfrm>
              <a:off x="1303709" y="3734000"/>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710BE6A5-3175-4EB6-AF36-81E03A1447DC}"/>
                </a:ext>
              </a:extLst>
            </p:cNvPr>
            <p:cNvSpPr/>
            <p:nvPr/>
          </p:nvSpPr>
          <p:spPr>
            <a:xfrm>
              <a:off x="1593322" y="3808428"/>
              <a:ext cx="148856" cy="148856"/>
            </a:xfrm>
            <a:prstGeom prst="ellipse">
              <a:avLst/>
            </a:prstGeom>
            <a:solidFill>
              <a:schemeClr val="accent4">
                <a:lumMod val="60000"/>
                <a:lumOff val="4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CA520E86-C954-4D73-8468-B930F8A075DA}"/>
                </a:ext>
              </a:extLst>
            </p:cNvPr>
            <p:cNvSpPr/>
            <p:nvPr/>
          </p:nvSpPr>
          <p:spPr>
            <a:xfrm>
              <a:off x="1753522" y="4031712"/>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1033FCB4-579F-47A2-A238-3EC9ADC0B264}"/>
                </a:ext>
              </a:extLst>
            </p:cNvPr>
            <p:cNvSpPr/>
            <p:nvPr/>
          </p:nvSpPr>
          <p:spPr>
            <a:xfrm>
              <a:off x="1101287" y="422846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DCDA73A9-3678-45BE-A41B-6EE2858780AE}"/>
                </a:ext>
              </a:extLst>
            </p:cNvPr>
            <p:cNvSpPr/>
            <p:nvPr/>
          </p:nvSpPr>
          <p:spPr>
            <a:xfrm>
              <a:off x="1378137" y="434491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68138859-8941-4879-8613-991B7052E5FE}"/>
                </a:ext>
              </a:extLst>
            </p:cNvPr>
            <p:cNvSpPr/>
            <p:nvPr/>
          </p:nvSpPr>
          <p:spPr>
            <a:xfrm>
              <a:off x="1659041" y="427048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27" name="Straight Connector 126">
              <a:extLst>
                <a:ext uri="{FF2B5EF4-FFF2-40B4-BE49-F238E27FC236}">
                  <a16:creationId xmlns:a16="http://schemas.microsoft.com/office/drawing/2014/main" id="{9471D53C-6A79-4195-B2B6-12B2AF3904BA}"/>
                </a:ext>
              </a:extLst>
            </p:cNvPr>
            <p:cNvCxnSpPr>
              <a:cxnSpLocks/>
              <a:stCxn id="121" idx="4"/>
              <a:endCxn id="125" idx="0"/>
            </p:cNvCxnSpPr>
            <p:nvPr/>
          </p:nvCxnSpPr>
          <p:spPr>
            <a:xfrm>
              <a:off x="1378137" y="3882856"/>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4B43694F-59DE-4A5A-9282-0BFF84AD9167}"/>
                </a:ext>
              </a:extLst>
            </p:cNvPr>
            <p:cNvCxnSpPr>
              <a:cxnSpLocks/>
              <a:stCxn id="120" idx="6"/>
              <a:endCxn id="126" idx="1"/>
            </p:cNvCxnSpPr>
            <p:nvPr/>
          </p:nvCxnSpPr>
          <p:spPr>
            <a:xfrm>
              <a:off x="1186143" y="4031712"/>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F93F4097-ECDA-4F71-94D0-CE974F027C2B}"/>
                </a:ext>
              </a:extLst>
            </p:cNvPr>
            <p:cNvCxnSpPr>
              <a:cxnSpLocks/>
              <a:stCxn id="124" idx="7"/>
              <a:endCxn id="122" idx="2"/>
            </p:cNvCxnSpPr>
            <p:nvPr/>
          </p:nvCxnSpPr>
          <p:spPr>
            <a:xfrm flipV="1">
              <a:off x="1228344" y="3882856"/>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F89C6A4C-772F-431D-B927-D2CF0DEE4CBB}"/>
                </a:ext>
              </a:extLst>
            </p:cNvPr>
            <p:cNvCxnSpPr>
              <a:cxnSpLocks/>
              <a:stCxn id="120" idx="6"/>
              <a:endCxn id="123" idx="2"/>
            </p:cNvCxnSpPr>
            <p:nvPr/>
          </p:nvCxnSpPr>
          <p:spPr>
            <a:xfrm>
              <a:off x="1186143" y="4031712"/>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4EAFA4AF-F256-4D4B-80BE-069807334EF1}"/>
                </a:ext>
              </a:extLst>
            </p:cNvPr>
            <p:cNvCxnSpPr>
              <a:cxnSpLocks/>
              <a:stCxn id="120" idx="0"/>
              <a:endCxn id="121" idx="2"/>
            </p:cNvCxnSpPr>
            <p:nvPr/>
          </p:nvCxnSpPr>
          <p:spPr>
            <a:xfrm flipV="1">
              <a:off x="1111715" y="3808428"/>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4F76B389-FBDF-4DC6-A1AD-C738DE04B781}"/>
                </a:ext>
              </a:extLst>
            </p:cNvPr>
            <p:cNvCxnSpPr>
              <a:cxnSpLocks/>
              <a:stCxn id="121" idx="7"/>
              <a:endCxn id="122" idx="0"/>
            </p:cNvCxnSpPr>
            <p:nvPr/>
          </p:nvCxnSpPr>
          <p:spPr>
            <a:xfrm>
              <a:off x="1430766" y="3755799"/>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A9CD580-64FE-4601-8B1B-FCC93F4605BF}"/>
                </a:ext>
              </a:extLst>
            </p:cNvPr>
            <p:cNvCxnSpPr>
              <a:cxnSpLocks/>
              <a:stCxn id="122" idx="5"/>
              <a:endCxn id="123" idx="1"/>
            </p:cNvCxnSpPr>
            <p:nvPr/>
          </p:nvCxnSpPr>
          <p:spPr>
            <a:xfrm>
              <a:off x="1720379" y="3935485"/>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F95A79DF-1842-4D58-A66E-ADBAB215B51B}"/>
                </a:ext>
              </a:extLst>
            </p:cNvPr>
            <p:cNvCxnSpPr>
              <a:cxnSpLocks/>
              <a:stCxn id="123" idx="4"/>
              <a:endCxn id="126" idx="7"/>
            </p:cNvCxnSpPr>
            <p:nvPr/>
          </p:nvCxnSpPr>
          <p:spPr>
            <a:xfrm flipH="1">
              <a:off x="1786098" y="4180568"/>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78C0C80-6429-4D65-8FDF-2529D928EACC}"/>
                </a:ext>
              </a:extLst>
            </p:cNvPr>
            <p:cNvCxnSpPr>
              <a:cxnSpLocks/>
              <a:stCxn id="126" idx="4"/>
              <a:endCxn id="125" idx="6"/>
            </p:cNvCxnSpPr>
            <p:nvPr/>
          </p:nvCxnSpPr>
          <p:spPr>
            <a:xfrm flipH="1">
              <a:off x="1526993" y="4419345"/>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7CEC4A5C-D32D-4D6F-BCDE-83B05A059E2C}"/>
                </a:ext>
              </a:extLst>
            </p:cNvPr>
            <p:cNvCxnSpPr>
              <a:cxnSpLocks/>
              <a:stCxn id="124" idx="4"/>
              <a:endCxn id="125" idx="2"/>
            </p:cNvCxnSpPr>
            <p:nvPr/>
          </p:nvCxnSpPr>
          <p:spPr>
            <a:xfrm>
              <a:off x="1175715" y="4377321"/>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90A36871-095F-48F2-A74C-CBFD817A09A0}"/>
                </a:ext>
              </a:extLst>
            </p:cNvPr>
            <p:cNvCxnSpPr>
              <a:cxnSpLocks/>
              <a:stCxn id="120" idx="4"/>
              <a:endCxn id="124" idx="1"/>
            </p:cNvCxnSpPr>
            <p:nvPr/>
          </p:nvCxnSpPr>
          <p:spPr>
            <a:xfrm>
              <a:off x="1111715" y="4106140"/>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D3C85EC4-CCA9-4633-A224-E17752BD3D26}"/>
                </a:ext>
              </a:extLst>
            </p:cNvPr>
            <p:cNvCxnSpPr>
              <a:cxnSpLocks/>
              <a:stCxn id="122" idx="3"/>
              <a:endCxn id="125" idx="0"/>
            </p:cNvCxnSpPr>
            <p:nvPr/>
          </p:nvCxnSpPr>
          <p:spPr>
            <a:xfrm flipH="1">
              <a:off x="1452565" y="3935485"/>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A3FCCDAE-20C6-46E7-982F-DB98F0D758C1}"/>
                </a:ext>
              </a:extLst>
            </p:cNvPr>
            <p:cNvCxnSpPr>
              <a:cxnSpLocks/>
              <a:stCxn id="121" idx="4"/>
              <a:endCxn id="126" idx="1"/>
            </p:cNvCxnSpPr>
            <p:nvPr/>
          </p:nvCxnSpPr>
          <p:spPr>
            <a:xfrm>
              <a:off x="1378137" y="3882856"/>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9BC0A7B3-314B-4389-A3D3-7AEF23D7607A}"/>
                </a:ext>
              </a:extLst>
            </p:cNvPr>
            <p:cNvCxnSpPr>
              <a:cxnSpLocks/>
              <a:stCxn id="121" idx="4"/>
              <a:endCxn id="124" idx="7"/>
            </p:cNvCxnSpPr>
            <p:nvPr/>
          </p:nvCxnSpPr>
          <p:spPr>
            <a:xfrm flipH="1">
              <a:off x="1228344" y="3882856"/>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93EA5557-D845-4B39-9DB2-9A7E256CBFA0}"/>
                </a:ext>
              </a:extLst>
            </p:cNvPr>
            <p:cNvCxnSpPr>
              <a:cxnSpLocks/>
              <a:stCxn id="124" idx="7"/>
              <a:endCxn id="126" idx="1"/>
            </p:cNvCxnSpPr>
            <p:nvPr/>
          </p:nvCxnSpPr>
          <p:spPr>
            <a:xfrm>
              <a:off x="1228344" y="4250264"/>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4205B390-FDAE-4EBA-BBEB-9266F0411E46}"/>
                </a:ext>
              </a:extLst>
            </p:cNvPr>
            <p:cNvCxnSpPr>
              <a:cxnSpLocks/>
              <a:stCxn id="122" idx="2"/>
              <a:endCxn id="120" idx="6"/>
            </p:cNvCxnSpPr>
            <p:nvPr/>
          </p:nvCxnSpPr>
          <p:spPr>
            <a:xfrm flipH="1">
              <a:off x="1186143" y="3882856"/>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6105F8FD-336C-4BE8-B4A8-E26A48B8BB10}"/>
                </a:ext>
              </a:extLst>
            </p:cNvPr>
            <p:cNvCxnSpPr>
              <a:cxnSpLocks/>
              <a:stCxn id="120" idx="5"/>
              <a:endCxn id="125" idx="1"/>
            </p:cNvCxnSpPr>
            <p:nvPr/>
          </p:nvCxnSpPr>
          <p:spPr>
            <a:xfrm>
              <a:off x="1164344" y="4084341"/>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144" name="Oval 143">
              <a:extLst>
                <a:ext uri="{FF2B5EF4-FFF2-40B4-BE49-F238E27FC236}">
                  <a16:creationId xmlns:a16="http://schemas.microsoft.com/office/drawing/2014/main" id="{1814442E-1CAF-4614-B4EF-563091DB92A1}"/>
                </a:ext>
              </a:extLst>
            </p:cNvPr>
            <p:cNvSpPr/>
            <p:nvPr/>
          </p:nvSpPr>
          <p:spPr>
            <a:xfrm>
              <a:off x="2249619" y="4009913"/>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88C969E7-1CC9-49D7-9CBE-6D2CB0C5DBD8}"/>
                </a:ext>
              </a:extLst>
            </p:cNvPr>
            <p:cNvSpPr/>
            <p:nvPr/>
          </p:nvSpPr>
          <p:spPr>
            <a:xfrm>
              <a:off x="2516041" y="378662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9CED5ED6-A6E6-4230-8CE8-4C4FBF9265D0}"/>
                </a:ext>
              </a:extLst>
            </p:cNvPr>
            <p:cNvSpPr/>
            <p:nvPr/>
          </p:nvSpPr>
          <p:spPr>
            <a:xfrm>
              <a:off x="2805654" y="386105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F5BBB637-7ABA-434D-88D4-77E9E64C9457}"/>
                </a:ext>
              </a:extLst>
            </p:cNvPr>
            <p:cNvSpPr/>
            <p:nvPr/>
          </p:nvSpPr>
          <p:spPr>
            <a:xfrm>
              <a:off x="2965854" y="4084341"/>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8" name="Oval 147">
              <a:extLst>
                <a:ext uri="{FF2B5EF4-FFF2-40B4-BE49-F238E27FC236}">
                  <a16:creationId xmlns:a16="http://schemas.microsoft.com/office/drawing/2014/main" id="{7789A9B3-0A94-41C3-9D04-B8545DDF28B1}"/>
                </a:ext>
              </a:extLst>
            </p:cNvPr>
            <p:cNvSpPr/>
            <p:nvPr/>
          </p:nvSpPr>
          <p:spPr>
            <a:xfrm>
              <a:off x="2313619" y="4281094"/>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0D760C5C-1611-4C41-A441-38CD1DFA70BE}"/>
                </a:ext>
              </a:extLst>
            </p:cNvPr>
            <p:cNvSpPr/>
            <p:nvPr/>
          </p:nvSpPr>
          <p:spPr>
            <a:xfrm>
              <a:off x="2590469" y="4397546"/>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F45D4404-5253-4AC6-8E48-9D751419FDF1}"/>
                </a:ext>
              </a:extLst>
            </p:cNvPr>
            <p:cNvSpPr/>
            <p:nvPr/>
          </p:nvSpPr>
          <p:spPr>
            <a:xfrm>
              <a:off x="2871373" y="4323118"/>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51" name="Straight Connector 150">
              <a:extLst>
                <a:ext uri="{FF2B5EF4-FFF2-40B4-BE49-F238E27FC236}">
                  <a16:creationId xmlns:a16="http://schemas.microsoft.com/office/drawing/2014/main" id="{4FB56C10-F226-40E0-8E8A-8B2CCD5555F7}"/>
                </a:ext>
              </a:extLst>
            </p:cNvPr>
            <p:cNvCxnSpPr>
              <a:cxnSpLocks/>
              <a:stCxn id="145" idx="4"/>
              <a:endCxn id="149" idx="0"/>
            </p:cNvCxnSpPr>
            <p:nvPr/>
          </p:nvCxnSpPr>
          <p:spPr>
            <a:xfrm>
              <a:off x="2590469" y="3935485"/>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01C75ED8-37F2-454D-96AF-8AC02AF8B19F}"/>
                </a:ext>
              </a:extLst>
            </p:cNvPr>
            <p:cNvCxnSpPr>
              <a:cxnSpLocks/>
              <a:stCxn id="144" idx="6"/>
              <a:endCxn id="150" idx="1"/>
            </p:cNvCxnSpPr>
            <p:nvPr/>
          </p:nvCxnSpPr>
          <p:spPr>
            <a:xfrm>
              <a:off x="2398475" y="4084341"/>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766F23E0-45F0-46D5-B730-54D89399330C}"/>
                </a:ext>
              </a:extLst>
            </p:cNvPr>
            <p:cNvCxnSpPr>
              <a:cxnSpLocks/>
              <a:stCxn id="148" idx="7"/>
              <a:endCxn id="146" idx="2"/>
            </p:cNvCxnSpPr>
            <p:nvPr/>
          </p:nvCxnSpPr>
          <p:spPr>
            <a:xfrm flipV="1">
              <a:off x="2440676" y="3935485"/>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E2AA48CC-9C99-43C0-B27B-88852A0D0C09}"/>
                </a:ext>
              </a:extLst>
            </p:cNvPr>
            <p:cNvCxnSpPr>
              <a:cxnSpLocks/>
              <a:stCxn id="144" idx="6"/>
              <a:endCxn id="147" idx="2"/>
            </p:cNvCxnSpPr>
            <p:nvPr/>
          </p:nvCxnSpPr>
          <p:spPr>
            <a:xfrm>
              <a:off x="2398475" y="4084341"/>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F16EF3C9-8173-4152-A356-32D91A1D1EF0}"/>
                </a:ext>
              </a:extLst>
            </p:cNvPr>
            <p:cNvCxnSpPr>
              <a:cxnSpLocks/>
              <a:stCxn id="144" idx="0"/>
              <a:endCxn id="145" idx="2"/>
            </p:cNvCxnSpPr>
            <p:nvPr/>
          </p:nvCxnSpPr>
          <p:spPr>
            <a:xfrm flipV="1">
              <a:off x="2324047" y="3861057"/>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19CFE782-F6D3-46F0-B677-5CD27BE9187B}"/>
                </a:ext>
              </a:extLst>
            </p:cNvPr>
            <p:cNvCxnSpPr>
              <a:cxnSpLocks/>
              <a:stCxn id="145" idx="7"/>
              <a:endCxn id="146" idx="0"/>
            </p:cNvCxnSpPr>
            <p:nvPr/>
          </p:nvCxnSpPr>
          <p:spPr>
            <a:xfrm>
              <a:off x="2643098" y="3808428"/>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CD68A9E7-7A6D-4C4A-8D93-7E7F60D6457F}"/>
                </a:ext>
              </a:extLst>
            </p:cNvPr>
            <p:cNvCxnSpPr>
              <a:cxnSpLocks/>
              <a:stCxn id="146" idx="5"/>
              <a:endCxn id="147" idx="1"/>
            </p:cNvCxnSpPr>
            <p:nvPr/>
          </p:nvCxnSpPr>
          <p:spPr>
            <a:xfrm>
              <a:off x="2932711" y="3988114"/>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D6B252CA-3707-421F-AA9D-68E4E5BC7F18}"/>
                </a:ext>
              </a:extLst>
            </p:cNvPr>
            <p:cNvCxnSpPr>
              <a:cxnSpLocks/>
              <a:stCxn id="147" idx="4"/>
              <a:endCxn id="150" idx="7"/>
            </p:cNvCxnSpPr>
            <p:nvPr/>
          </p:nvCxnSpPr>
          <p:spPr>
            <a:xfrm flipH="1">
              <a:off x="2998430" y="4233197"/>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0048C1C0-2F85-4D36-9DCF-B3589AB26002}"/>
                </a:ext>
              </a:extLst>
            </p:cNvPr>
            <p:cNvCxnSpPr>
              <a:cxnSpLocks/>
              <a:stCxn id="150" idx="4"/>
              <a:endCxn id="149" idx="6"/>
            </p:cNvCxnSpPr>
            <p:nvPr/>
          </p:nvCxnSpPr>
          <p:spPr>
            <a:xfrm flipH="1">
              <a:off x="2739325" y="4471974"/>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13B614A5-FB2E-4A2D-A8FD-A2EA28258E3E}"/>
                </a:ext>
              </a:extLst>
            </p:cNvPr>
            <p:cNvCxnSpPr>
              <a:cxnSpLocks/>
              <a:stCxn id="148" idx="4"/>
              <a:endCxn id="149" idx="2"/>
            </p:cNvCxnSpPr>
            <p:nvPr/>
          </p:nvCxnSpPr>
          <p:spPr>
            <a:xfrm>
              <a:off x="2388047" y="4429950"/>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4B7E6507-4091-4521-817C-86CB93F83DA1}"/>
                </a:ext>
              </a:extLst>
            </p:cNvPr>
            <p:cNvCxnSpPr>
              <a:cxnSpLocks/>
              <a:stCxn id="144" idx="4"/>
              <a:endCxn id="148" idx="1"/>
            </p:cNvCxnSpPr>
            <p:nvPr/>
          </p:nvCxnSpPr>
          <p:spPr>
            <a:xfrm>
              <a:off x="2324047" y="4158769"/>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6445E30F-7DA7-46B9-B823-51964814589D}"/>
                </a:ext>
              </a:extLst>
            </p:cNvPr>
            <p:cNvCxnSpPr>
              <a:cxnSpLocks/>
              <a:stCxn id="146" idx="3"/>
              <a:endCxn id="149" idx="0"/>
            </p:cNvCxnSpPr>
            <p:nvPr/>
          </p:nvCxnSpPr>
          <p:spPr>
            <a:xfrm flipH="1">
              <a:off x="2664897" y="3988114"/>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24D97FE7-3617-4BA5-871E-86E2A78D1867}"/>
                </a:ext>
              </a:extLst>
            </p:cNvPr>
            <p:cNvCxnSpPr>
              <a:cxnSpLocks/>
              <a:stCxn id="145" idx="4"/>
              <a:endCxn id="150" idx="1"/>
            </p:cNvCxnSpPr>
            <p:nvPr/>
          </p:nvCxnSpPr>
          <p:spPr>
            <a:xfrm>
              <a:off x="2590469" y="3935485"/>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D771763C-C50C-4866-9626-63FB2229D905}"/>
                </a:ext>
              </a:extLst>
            </p:cNvPr>
            <p:cNvCxnSpPr>
              <a:cxnSpLocks/>
              <a:stCxn id="145" idx="4"/>
              <a:endCxn id="148" idx="7"/>
            </p:cNvCxnSpPr>
            <p:nvPr/>
          </p:nvCxnSpPr>
          <p:spPr>
            <a:xfrm flipH="1">
              <a:off x="2440676" y="3935485"/>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79F0970E-1BE4-4F89-806D-830786053445}"/>
                </a:ext>
              </a:extLst>
            </p:cNvPr>
            <p:cNvCxnSpPr>
              <a:cxnSpLocks/>
              <a:stCxn id="148" idx="7"/>
              <a:endCxn id="150" idx="1"/>
            </p:cNvCxnSpPr>
            <p:nvPr/>
          </p:nvCxnSpPr>
          <p:spPr>
            <a:xfrm>
              <a:off x="2440676" y="4302893"/>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ACAB20D3-DAB6-42CF-981F-92E56E4E62D9}"/>
                </a:ext>
              </a:extLst>
            </p:cNvPr>
            <p:cNvCxnSpPr>
              <a:cxnSpLocks/>
              <a:stCxn id="146" idx="2"/>
              <a:endCxn id="144" idx="6"/>
            </p:cNvCxnSpPr>
            <p:nvPr/>
          </p:nvCxnSpPr>
          <p:spPr>
            <a:xfrm flipH="1">
              <a:off x="2398475" y="3935485"/>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291BFB1F-1E8C-4072-BD4D-605001E23595}"/>
                </a:ext>
              </a:extLst>
            </p:cNvPr>
            <p:cNvCxnSpPr>
              <a:cxnSpLocks/>
              <a:stCxn id="144" idx="5"/>
              <a:endCxn id="149" idx="1"/>
            </p:cNvCxnSpPr>
            <p:nvPr/>
          </p:nvCxnSpPr>
          <p:spPr>
            <a:xfrm>
              <a:off x="2376676" y="4136970"/>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168" name="Oval 167">
              <a:extLst>
                <a:ext uri="{FF2B5EF4-FFF2-40B4-BE49-F238E27FC236}">
                  <a16:creationId xmlns:a16="http://schemas.microsoft.com/office/drawing/2014/main" id="{2DF32379-D679-4DAA-A9E3-27ED1D8F9E67}"/>
                </a:ext>
              </a:extLst>
            </p:cNvPr>
            <p:cNvSpPr/>
            <p:nvPr/>
          </p:nvSpPr>
          <p:spPr>
            <a:xfrm>
              <a:off x="2966665" y="3263111"/>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69" name="Oval 168">
              <a:extLst>
                <a:ext uri="{FF2B5EF4-FFF2-40B4-BE49-F238E27FC236}">
                  <a16:creationId xmlns:a16="http://schemas.microsoft.com/office/drawing/2014/main" id="{7BD61D55-C012-4623-9AF6-1CFA7DA35EA7}"/>
                </a:ext>
              </a:extLst>
            </p:cNvPr>
            <p:cNvSpPr/>
            <p:nvPr/>
          </p:nvSpPr>
          <p:spPr>
            <a:xfrm>
              <a:off x="3233087" y="303982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70" name="Oval 169">
              <a:extLst>
                <a:ext uri="{FF2B5EF4-FFF2-40B4-BE49-F238E27FC236}">
                  <a16:creationId xmlns:a16="http://schemas.microsoft.com/office/drawing/2014/main" id="{CF4BE0C6-1520-4D9E-92A1-7CD524BBD0FC}"/>
                </a:ext>
              </a:extLst>
            </p:cNvPr>
            <p:cNvSpPr/>
            <p:nvPr/>
          </p:nvSpPr>
          <p:spPr>
            <a:xfrm>
              <a:off x="3522700" y="311425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71" name="Oval 170">
              <a:extLst>
                <a:ext uri="{FF2B5EF4-FFF2-40B4-BE49-F238E27FC236}">
                  <a16:creationId xmlns:a16="http://schemas.microsoft.com/office/drawing/2014/main" id="{BF6316A5-8BF3-456F-92DF-7A6BF0C920EF}"/>
                </a:ext>
              </a:extLst>
            </p:cNvPr>
            <p:cNvSpPr/>
            <p:nvPr/>
          </p:nvSpPr>
          <p:spPr>
            <a:xfrm>
              <a:off x="3682900" y="333753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72" name="Oval 171">
              <a:extLst>
                <a:ext uri="{FF2B5EF4-FFF2-40B4-BE49-F238E27FC236}">
                  <a16:creationId xmlns:a16="http://schemas.microsoft.com/office/drawing/2014/main" id="{FD9F9FD0-56F9-4866-9AB6-C51F501D0ABB}"/>
                </a:ext>
              </a:extLst>
            </p:cNvPr>
            <p:cNvSpPr/>
            <p:nvPr/>
          </p:nvSpPr>
          <p:spPr>
            <a:xfrm>
              <a:off x="3030665" y="3534292"/>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D4F11CA9-7FF4-46AE-8E77-7D83886DD3CF}"/>
                </a:ext>
              </a:extLst>
            </p:cNvPr>
            <p:cNvSpPr/>
            <p:nvPr/>
          </p:nvSpPr>
          <p:spPr>
            <a:xfrm>
              <a:off x="3307515" y="3650744"/>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195F60FC-0D1D-48B1-9AE1-57D6E04B7061}"/>
                </a:ext>
              </a:extLst>
            </p:cNvPr>
            <p:cNvSpPr/>
            <p:nvPr/>
          </p:nvSpPr>
          <p:spPr>
            <a:xfrm>
              <a:off x="3588419" y="3576316"/>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75" name="Straight Connector 174">
              <a:extLst>
                <a:ext uri="{FF2B5EF4-FFF2-40B4-BE49-F238E27FC236}">
                  <a16:creationId xmlns:a16="http://schemas.microsoft.com/office/drawing/2014/main" id="{99B9EE83-2ACA-4D6C-922B-1B5DCAB03460}"/>
                </a:ext>
              </a:extLst>
            </p:cNvPr>
            <p:cNvCxnSpPr>
              <a:cxnSpLocks/>
              <a:stCxn id="169" idx="4"/>
              <a:endCxn id="173" idx="0"/>
            </p:cNvCxnSpPr>
            <p:nvPr/>
          </p:nvCxnSpPr>
          <p:spPr>
            <a:xfrm>
              <a:off x="3307515" y="3188683"/>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2621B932-FDA6-4B92-8AD5-4DF1AAA65C96}"/>
                </a:ext>
              </a:extLst>
            </p:cNvPr>
            <p:cNvCxnSpPr>
              <a:cxnSpLocks/>
              <a:stCxn id="168" idx="6"/>
              <a:endCxn id="174" idx="1"/>
            </p:cNvCxnSpPr>
            <p:nvPr/>
          </p:nvCxnSpPr>
          <p:spPr>
            <a:xfrm>
              <a:off x="3115521" y="3337539"/>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C6BB5693-2648-48ED-BE74-AD3320071729}"/>
                </a:ext>
              </a:extLst>
            </p:cNvPr>
            <p:cNvCxnSpPr>
              <a:cxnSpLocks/>
              <a:stCxn id="172" idx="7"/>
              <a:endCxn id="170" idx="2"/>
            </p:cNvCxnSpPr>
            <p:nvPr/>
          </p:nvCxnSpPr>
          <p:spPr>
            <a:xfrm flipV="1">
              <a:off x="3157722" y="3188683"/>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1515F6AD-10D5-4E22-991D-7A14ED65128B}"/>
                </a:ext>
              </a:extLst>
            </p:cNvPr>
            <p:cNvCxnSpPr>
              <a:cxnSpLocks/>
              <a:stCxn id="168" idx="6"/>
              <a:endCxn id="171" idx="2"/>
            </p:cNvCxnSpPr>
            <p:nvPr/>
          </p:nvCxnSpPr>
          <p:spPr>
            <a:xfrm>
              <a:off x="3115521" y="3337539"/>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7EB972C5-CCCB-4F6C-8948-C176938F546A}"/>
                </a:ext>
              </a:extLst>
            </p:cNvPr>
            <p:cNvCxnSpPr>
              <a:cxnSpLocks/>
              <a:stCxn id="168" idx="0"/>
              <a:endCxn id="169" idx="2"/>
            </p:cNvCxnSpPr>
            <p:nvPr/>
          </p:nvCxnSpPr>
          <p:spPr>
            <a:xfrm flipV="1">
              <a:off x="3041093" y="3114255"/>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6AE7D045-3E76-44A6-A32F-00E0732C5372}"/>
                </a:ext>
              </a:extLst>
            </p:cNvPr>
            <p:cNvCxnSpPr>
              <a:cxnSpLocks/>
              <a:stCxn id="169" idx="7"/>
              <a:endCxn id="170" idx="0"/>
            </p:cNvCxnSpPr>
            <p:nvPr/>
          </p:nvCxnSpPr>
          <p:spPr>
            <a:xfrm>
              <a:off x="3360144" y="3061626"/>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B7A2DAF4-7A42-4659-AC96-53D24626137B}"/>
                </a:ext>
              </a:extLst>
            </p:cNvPr>
            <p:cNvCxnSpPr>
              <a:cxnSpLocks/>
              <a:stCxn id="170" idx="5"/>
              <a:endCxn id="171" idx="1"/>
            </p:cNvCxnSpPr>
            <p:nvPr/>
          </p:nvCxnSpPr>
          <p:spPr>
            <a:xfrm>
              <a:off x="3649757" y="3241312"/>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E6A9279A-22BD-4693-82E7-EDC25455809B}"/>
                </a:ext>
              </a:extLst>
            </p:cNvPr>
            <p:cNvCxnSpPr>
              <a:cxnSpLocks/>
              <a:stCxn id="171" idx="4"/>
              <a:endCxn id="174" idx="7"/>
            </p:cNvCxnSpPr>
            <p:nvPr/>
          </p:nvCxnSpPr>
          <p:spPr>
            <a:xfrm flipH="1">
              <a:off x="3715476" y="3486395"/>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BB9F66B1-5E19-499B-BEA5-860D74762859}"/>
                </a:ext>
              </a:extLst>
            </p:cNvPr>
            <p:cNvCxnSpPr>
              <a:cxnSpLocks/>
              <a:stCxn id="174" idx="4"/>
              <a:endCxn id="173" idx="6"/>
            </p:cNvCxnSpPr>
            <p:nvPr/>
          </p:nvCxnSpPr>
          <p:spPr>
            <a:xfrm flipH="1">
              <a:off x="3456371" y="3725172"/>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6B857E7A-42CB-4892-A124-AB173716C010}"/>
                </a:ext>
              </a:extLst>
            </p:cNvPr>
            <p:cNvCxnSpPr>
              <a:cxnSpLocks/>
              <a:stCxn id="172" idx="4"/>
              <a:endCxn id="173" idx="2"/>
            </p:cNvCxnSpPr>
            <p:nvPr/>
          </p:nvCxnSpPr>
          <p:spPr>
            <a:xfrm>
              <a:off x="3105093" y="3683148"/>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CCB97B25-99CA-4684-BC96-99F52FA213F3}"/>
                </a:ext>
              </a:extLst>
            </p:cNvPr>
            <p:cNvCxnSpPr>
              <a:cxnSpLocks/>
              <a:stCxn id="168" idx="4"/>
              <a:endCxn id="172" idx="1"/>
            </p:cNvCxnSpPr>
            <p:nvPr/>
          </p:nvCxnSpPr>
          <p:spPr>
            <a:xfrm>
              <a:off x="3041093" y="3411967"/>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E2B9FA2E-2798-4968-991C-65E8DFA85DDF}"/>
                </a:ext>
              </a:extLst>
            </p:cNvPr>
            <p:cNvCxnSpPr>
              <a:cxnSpLocks/>
              <a:stCxn id="170" idx="3"/>
              <a:endCxn id="173" idx="0"/>
            </p:cNvCxnSpPr>
            <p:nvPr/>
          </p:nvCxnSpPr>
          <p:spPr>
            <a:xfrm flipH="1">
              <a:off x="3381943" y="3241312"/>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682F822B-DA3B-4D45-A281-C1D9EBB05233}"/>
                </a:ext>
              </a:extLst>
            </p:cNvPr>
            <p:cNvCxnSpPr>
              <a:cxnSpLocks/>
              <a:stCxn id="169" idx="4"/>
              <a:endCxn id="174" idx="1"/>
            </p:cNvCxnSpPr>
            <p:nvPr/>
          </p:nvCxnSpPr>
          <p:spPr>
            <a:xfrm>
              <a:off x="3307515" y="3188683"/>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CBC8A84E-F4CD-4E2D-B1AD-3BBA78F29DE2}"/>
                </a:ext>
              </a:extLst>
            </p:cNvPr>
            <p:cNvCxnSpPr>
              <a:cxnSpLocks/>
              <a:stCxn id="169" idx="4"/>
              <a:endCxn id="172" idx="7"/>
            </p:cNvCxnSpPr>
            <p:nvPr/>
          </p:nvCxnSpPr>
          <p:spPr>
            <a:xfrm flipH="1">
              <a:off x="3157722" y="3188683"/>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CC48E2B2-27FA-4EE6-BAD5-0825D81CED88}"/>
                </a:ext>
              </a:extLst>
            </p:cNvPr>
            <p:cNvCxnSpPr>
              <a:cxnSpLocks/>
              <a:stCxn id="172" idx="7"/>
              <a:endCxn id="174" idx="1"/>
            </p:cNvCxnSpPr>
            <p:nvPr/>
          </p:nvCxnSpPr>
          <p:spPr>
            <a:xfrm>
              <a:off x="3157722" y="3556091"/>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33BB3A4A-64E3-4253-9900-7064A7FD97F1}"/>
                </a:ext>
              </a:extLst>
            </p:cNvPr>
            <p:cNvCxnSpPr>
              <a:cxnSpLocks/>
              <a:stCxn id="170" idx="2"/>
              <a:endCxn id="168" idx="6"/>
            </p:cNvCxnSpPr>
            <p:nvPr/>
          </p:nvCxnSpPr>
          <p:spPr>
            <a:xfrm flipH="1">
              <a:off x="3115521" y="3188683"/>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B75C54F7-BE67-4BEF-B723-22E344EC4344}"/>
                </a:ext>
              </a:extLst>
            </p:cNvPr>
            <p:cNvCxnSpPr>
              <a:cxnSpLocks/>
              <a:stCxn id="168" idx="5"/>
              <a:endCxn id="173" idx="1"/>
            </p:cNvCxnSpPr>
            <p:nvPr/>
          </p:nvCxnSpPr>
          <p:spPr>
            <a:xfrm>
              <a:off x="3093722" y="3390168"/>
              <a:ext cx="235592" cy="2823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0D0515F5-8DAD-4718-8187-B4777CF465CF}"/>
                </a:ext>
              </a:extLst>
            </p:cNvPr>
            <p:cNvCxnSpPr>
              <a:cxnSpLocks/>
              <a:endCxn id="26" idx="7"/>
            </p:cNvCxnSpPr>
            <p:nvPr/>
          </p:nvCxnSpPr>
          <p:spPr>
            <a:xfrm flipH="1">
              <a:off x="1430145" y="1792074"/>
              <a:ext cx="582492" cy="0"/>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F20EB341-11BF-47F4-A39A-AFDF9C8E85F9}"/>
                </a:ext>
              </a:extLst>
            </p:cNvPr>
            <p:cNvCxnSpPr>
              <a:stCxn id="48" idx="3"/>
              <a:endCxn id="27" idx="0"/>
            </p:cNvCxnSpPr>
            <p:nvPr/>
          </p:nvCxnSpPr>
          <p:spPr>
            <a:xfrm flipH="1">
              <a:off x="1537716" y="1824052"/>
              <a:ext cx="496718" cy="169507"/>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FFED6E06-1B1A-48CF-B74D-D724AA9B1607}"/>
                </a:ext>
              </a:extLst>
            </p:cNvPr>
            <p:cNvCxnSpPr>
              <a:stCxn id="25" idx="7"/>
              <a:endCxn id="49" idx="2"/>
            </p:cNvCxnSpPr>
            <p:nvPr/>
          </p:nvCxnSpPr>
          <p:spPr>
            <a:xfrm flipV="1">
              <a:off x="1140532" y="1548139"/>
              <a:ext cx="1138525" cy="169507"/>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61095E37-1B21-4574-B2ED-54F302C55649}"/>
                </a:ext>
              </a:extLst>
            </p:cNvPr>
            <p:cNvCxnSpPr>
              <a:stCxn id="52" idx="3"/>
              <a:endCxn id="27" idx="6"/>
            </p:cNvCxnSpPr>
            <p:nvPr/>
          </p:nvCxnSpPr>
          <p:spPr>
            <a:xfrm flipH="1" flipV="1">
              <a:off x="1612144" y="2067987"/>
              <a:ext cx="486290" cy="27246"/>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4C9CC1EA-D499-4D6E-A496-5E8A1057E8FC}"/>
                </a:ext>
              </a:extLst>
            </p:cNvPr>
            <p:cNvCxnSpPr>
              <a:stCxn id="30" idx="6"/>
              <a:endCxn id="48" idx="3"/>
            </p:cNvCxnSpPr>
            <p:nvPr/>
          </p:nvCxnSpPr>
          <p:spPr>
            <a:xfrm flipV="1">
              <a:off x="1517663" y="1824052"/>
              <a:ext cx="516771" cy="48271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F25A693D-77B8-48CE-BB4A-AF999EFBDD79}"/>
                </a:ext>
              </a:extLst>
            </p:cNvPr>
            <p:cNvCxnSpPr>
              <a:stCxn id="54" idx="4"/>
              <a:endCxn id="72" idx="5"/>
            </p:cNvCxnSpPr>
            <p:nvPr/>
          </p:nvCxnSpPr>
          <p:spPr>
            <a:xfrm>
              <a:off x="2708817" y="2159056"/>
              <a:ext cx="321072" cy="3293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184B0A2C-548A-4AD4-A8DE-9509CB0F76FD}"/>
                </a:ext>
              </a:extLst>
            </p:cNvPr>
            <p:cNvCxnSpPr>
              <a:stCxn id="51" idx="5"/>
              <a:endCxn id="73" idx="0"/>
            </p:cNvCxnSpPr>
            <p:nvPr/>
          </p:nvCxnSpPr>
          <p:spPr>
            <a:xfrm>
              <a:off x="2855927" y="1898480"/>
              <a:ext cx="387755" cy="239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4FF1A8BE-DF81-4B05-8F08-3BD58C87C82F}"/>
                </a:ext>
              </a:extLst>
            </p:cNvPr>
            <p:cNvCxnSpPr>
              <a:stCxn id="51" idx="5"/>
              <a:endCxn id="72" idx="0"/>
            </p:cNvCxnSpPr>
            <p:nvPr/>
          </p:nvCxnSpPr>
          <p:spPr>
            <a:xfrm>
              <a:off x="2855927" y="1898480"/>
              <a:ext cx="121333" cy="4628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0879B8D4-85B5-423D-BF83-37EAD9C60B11}"/>
                </a:ext>
              </a:extLst>
            </p:cNvPr>
            <p:cNvCxnSpPr>
              <a:stCxn id="50" idx="5"/>
              <a:endCxn id="73" idx="0"/>
            </p:cNvCxnSpPr>
            <p:nvPr/>
          </p:nvCxnSpPr>
          <p:spPr>
            <a:xfrm>
              <a:off x="2695727" y="1675196"/>
              <a:ext cx="547955" cy="4628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6EE76AD5-9F3F-444A-B7B2-C6B60654D052}"/>
                </a:ext>
              </a:extLst>
            </p:cNvPr>
            <p:cNvCxnSpPr>
              <a:stCxn id="54" idx="5"/>
              <a:endCxn id="73" idx="2"/>
            </p:cNvCxnSpPr>
            <p:nvPr/>
          </p:nvCxnSpPr>
          <p:spPr>
            <a:xfrm>
              <a:off x="2761446" y="2137257"/>
              <a:ext cx="407808" cy="752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3E1619F7-31A4-4381-81DB-623E32E1270D}"/>
                </a:ext>
              </a:extLst>
            </p:cNvPr>
            <p:cNvCxnSpPr>
              <a:stCxn id="53" idx="4"/>
              <a:endCxn id="72" idx="2"/>
            </p:cNvCxnSpPr>
            <p:nvPr/>
          </p:nvCxnSpPr>
          <p:spPr>
            <a:xfrm>
              <a:off x="2427913" y="2233484"/>
              <a:ext cx="474919" cy="202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D69F0E6A-B6F1-4D03-81E7-F3B2B330C8E8}"/>
                </a:ext>
              </a:extLst>
            </p:cNvPr>
            <p:cNvCxnSpPr>
              <a:stCxn id="77" idx="4"/>
              <a:endCxn id="169" idx="0"/>
            </p:cNvCxnSpPr>
            <p:nvPr/>
          </p:nvCxnSpPr>
          <p:spPr>
            <a:xfrm flipH="1">
              <a:off x="3307515" y="2897841"/>
              <a:ext cx="10595" cy="1419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6E859687-9FCD-4B72-9FD8-9A2144138D0B}"/>
                </a:ext>
              </a:extLst>
            </p:cNvPr>
            <p:cNvCxnSpPr>
              <a:stCxn id="78" idx="4"/>
              <a:endCxn id="170" idx="0"/>
            </p:cNvCxnSpPr>
            <p:nvPr/>
          </p:nvCxnSpPr>
          <p:spPr>
            <a:xfrm flipH="1">
              <a:off x="3597128" y="2823413"/>
              <a:ext cx="1886" cy="2908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756DA03E-8957-4301-8840-0D4B5BE9D4AE}"/>
                </a:ext>
              </a:extLst>
            </p:cNvPr>
            <p:cNvCxnSpPr>
              <a:stCxn id="75" idx="5"/>
              <a:endCxn id="170" idx="6"/>
            </p:cNvCxnSpPr>
            <p:nvPr/>
          </p:nvCxnSpPr>
          <p:spPr>
            <a:xfrm flipH="1">
              <a:off x="3671556" y="2562837"/>
              <a:ext cx="74568" cy="6258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17694DB-E7E8-4576-A512-AA2AA91F0177}"/>
                </a:ext>
              </a:extLst>
            </p:cNvPr>
            <p:cNvCxnSpPr>
              <a:stCxn id="172" idx="3"/>
              <a:endCxn id="146" idx="7"/>
            </p:cNvCxnSpPr>
            <p:nvPr/>
          </p:nvCxnSpPr>
          <p:spPr>
            <a:xfrm flipH="1">
              <a:off x="2932711" y="3661349"/>
              <a:ext cx="119753" cy="221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8F27AC0E-A190-4F89-9B50-B5B5953C484C}"/>
                </a:ext>
              </a:extLst>
            </p:cNvPr>
            <p:cNvCxnSpPr>
              <a:stCxn id="173" idx="3"/>
              <a:endCxn id="147" idx="7"/>
            </p:cNvCxnSpPr>
            <p:nvPr/>
          </p:nvCxnSpPr>
          <p:spPr>
            <a:xfrm flipH="1">
              <a:off x="3092911" y="3777801"/>
              <a:ext cx="236403" cy="328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57F792FA-90E6-4FB7-B9AE-384574FB7F17}"/>
                </a:ext>
              </a:extLst>
            </p:cNvPr>
            <p:cNvCxnSpPr>
              <a:stCxn id="174" idx="4"/>
              <a:endCxn id="147" idx="6"/>
            </p:cNvCxnSpPr>
            <p:nvPr/>
          </p:nvCxnSpPr>
          <p:spPr>
            <a:xfrm flipH="1">
              <a:off x="3114710" y="3725172"/>
              <a:ext cx="548137" cy="43359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18BF2888-64F6-4AEA-9E06-E02077172040}"/>
                </a:ext>
              </a:extLst>
            </p:cNvPr>
            <p:cNvCxnSpPr>
              <a:stCxn id="168" idx="2"/>
              <a:endCxn id="145" idx="7"/>
            </p:cNvCxnSpPr>
            <p:nvPr/>
          </p:nvCxnSpPr>
          <p:spPr>
            <a:xfrm flipH="1">
              <a:off x="2643098" y="3337539"/>
              <a:ext cx="323567" cy="470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9321AF8F-6105-4B21-AFEA-47F1475EADE8}"/>
                </a:ext>
              </a:extLst>
            </p:cNvPr>
            <p:cNvCxnSpPr>
              <a:stCxn id="168" idx="3"/>
              <a:endCxn id="146" idx="7"/>
            </p:cNvCxnSpPr>
            <p:nvPr/>
          </p:nvCxnSpPr>
          <p:spPr>
            <a:xfrm flipH="1">
              <a:off x="2932711" y="3390168"/>
              <a:ext cx="55753" cy="49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5CB5F044-76C3-465C-A195-5F8DC9D3A2E8}"/>
                </a:ext>
              </a:extLst>
            </p:cNvPr>
            <p:cNvCxnSpPr>
              <a:stCxn id="172" idx="4"/>
              <a:endCxn id="147" idx="6"/>
            </p:cNvCxnSpPr>
            <p:nvPr/>
          </p:nvCxnSpPr>
          <p:spPr>
            <a:xfrm>
              <a:off x="3105093" y="3683148"/>
              <a:ext cx="9617" cy="475621"/>
            </a:xfrm>
            <a:prstGeom prst="line">
              <a:avLst/>
            </a:prstGeom>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92C82273-1319-4077-8180-00C4974B4345}"/>
                </a:ext>
              </a:extLst>
            </p:cNvPr>
            <p:cNvCxnSpPr>
              <a:stCxn id="123" idx="5"/>
              <a:endCxn id="144" idx="3"/>
            </p:cNvCxnSpPr>
            <p:nvPr/>
          </p:nvCxnSpPr>
          <p:spPr>
            <a:xfrm flipV="1">
              <a:off x="1880579" y="4136970"/>
              <a:ext cx="390839" cy="217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7259EBB2-8C30-47C2-86A7-FDFDAFD6CD58}"/>
                </a:ext>
              </a:extLst>
            </p:cNvPr>
            <p:cNvCxnSpPr>
              <a:cxnSpLocks/>
              <a:stCxn id="126" idx="5"/>
              <a:endCxn id="148" idx="3"/>
            </p:cNvCxnSpPr>
            <p:nvPr/>
          </p:nvCxnSpPr>
          <p:spPr>
            <a:xfrm>
              <a:off x="1786098" y="4397546"/>
              <a:ext cx="549320" cy="106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F094A698-6945-4750-AEA8-93844208FA56}"/>
                </a:ext>
              </a:extLst>
            </p:cNvPr>
            <p:cNvCxnSpPr>
              <a:stCxn id="126" idx="6"/>
              <a:endCxn id="144" idx="5"/>
            </p:cNvCxnSpPr>
            <p:nvPr/>
          </p:nvCxnSpPr>
          <p:spPr>
            <a:xfrm flipV="1">
              <a:off x="1807897" y="4136970"/>
              <a:ext cx="568779" cy="2079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F7C5A86C-EB2F-45FE-9A58-56259D97AFB7}"/>
                </a:ext>
              </a:extLst>
            </p:cNvPr>
            <p:cNvCxnSpPr>
              <a:stCxn id="122" idx="6"/>
              <a:endCxn id="144" idx="1"/>
            </p:cNvCxnSpPr>
            <p:nvPr/>
          </p:nvCxnSpPr>
          <p:spPr>
            <a:xfrm>
              <a:off x="1742178" y="3882856"/>
              <a:ext cx="529240"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72C8C4AC-4904-40A4-BF46-D1105B24CCF2}"/>
                </a:ext>
              </a:extLst>
            </p:cNvPr>
            <p:cNvCxnSpPr>
              <a:stCxn id="28" idx="3"/>
              <a:endCxn id="97" idx="7"/>
            </p:cNvCxnSpPr>
            <p:nvPr/>
          </p:nvCxnSpPr>
          <p:spPr>
            <a:xfrm flipH="1">
              <a:off x="797353" y="2317369"/>
              <a:ext cx="35499" cy="4534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1869FD63-59C9-468F-A247-35A7AE18EEB8}"/>
                </a:ext>
              </a:extLst>
            </p:cNvPr>
            <p:cNvCxnSpPr>
              <a:stCxn id="29" idx="3"/>
              <a:endCxn id="98" idx="0"/>
            </p:cNvCxnSpPr>
            <p:nvPr/>
          </p:nvCxnSpPr>
          <p:spPr>
            <a:xfrm flipH="1">
              <a:off x="1034337" y="2433821"/>
              <a:ext cx="75365" cy="389592"/>
            </a:xfrm>
            <a:prstGeom prst="line">
              <a:avLst/>
            </a:prstGeom>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D2AF10B7-7CD5-48D7-8453-4463E57B6B86}"/>
                </a:ext>
              </a:extLst>
            </p:cNvPr>
            <p:cNvCxnSpPr>
              <a:stCxn id="30" idx="5"/>
              <a:endCxn id="98" idx="5"/>
            </p:cNvCxnSpPr>
            <p:nvPr/>
          </p:nvCxnSpPr>
          <p:spPr>
            <a:xfrm flipH="1">
              <a:off x="1086966" y="2359393"/>
              <a:ext cx="408898" cy="59107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7E46BD95-A5CC-4C64-810B-3CFC79CCAD08}"/>
                </a:ext>
              </a:extLst>
            </p:cNvPr>
            <p:cNvCxnSpPr>
              <a:stCxn id="28" idx="4"/>
              <a:endCxn id="98" idx="1"/>
            </p:cNvCxnSpPr>
            <p:nvPr/>
          </p:nvCxnSpPr>
          <p:spPr>
            <a:xfrm>
              <a:off x="885481" y="2339168"/>
              <a:ext cx="96227" cy="50604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411674BE-ECCB-456C-AE37-F716113D684A}"/>
                </a:ext>
              </a:extLst>
            </p:cNvPr>
            <p:cNvCxnSpPr>
              <a:stCxn id="101" idx="4"/>
              <a:endCxn id="120" idx="2"/>
            </p:cNvCxnSpPr>
            <p:nvPr/>
          </p:nvCxnSpPr>
          <p:spPr>
            <a:xfrm>
              <a:off x="819152" y="3508758"/>
              <a:ext cx="218135" cy="5229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B73038AD-973F-46A7-94B3-BDDB92764C0E}"/>
                </a:ext>
              </a:extLst>
            </p:cNvPr>
            <p:cNvCxnSpPr>
              <a:stCxn id="101" idx="4"/>
              <a:endCxn id="121" idx="2"/>
            </p:cNvCxnSpPr>
            <p:nvPr/>
          </p:nvCxnSpPr>
          <p:spPr>
            <a:xfrm>
              <a:off x="819152" y="3508758"/>
              <a:ext cx="484557" cy="2996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EA0212E5-029B-415B-BA75-AC9D24D55D57}"/>
                </a:ext>
              </a:extLst>
            </p:cNvPr>
            <p:cNvCxnSpPr>
              <a:stCxn id="102" idx="5"/>
              <a:endCxn id="121" idx="1"/>
            </p:cNvCxnSpPr>
            <p:nvPr/>
          </p:nvCxnSpPr>
          <p:spPr>
            <a:xfrm>
              <a:off x="1152685" y="3412531"/>
              <a:ext cx="172823" cy="343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9D864C79-D40A-4726-9FCF-6B1E53271022}"/>
                </a:ext>
              </a:extLst>
            </p:cNvPr>
            <p:cNvCxnSpPr>
              <a:stCxn id="53" idx="3"/>
              <a:endCxn id="122" idx="7"/>
            </p:cNvCxnSpPr>
            <p:nvPr/>
          </p:nvCxnSpPr>
          <p:spPr>
            <a:xfrm flipH="1">
              <a:off x="1720379" y="2211685"/>
              <a:ext cx="654905" cy="1618542"/>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E513E494-C80B-4419-940F-D39231F4D91A}"/>
              </a:ext>
            </a:extLst>
          </p:cNvPr>
          <p:cNvSpPr txBox="1"/>
          <p:nvPr/>
        </p:nvSpPr>
        <p:spPr>
          <a:xfrm rot="21139898">
            <a:off x="4690126" y="2609992"/>
            <a:ext cx="599844" cy="338554"/>
          </a:xfrm>
          <a:prstGeom prst="rect">
            <a:avLst/>
          </a:prstGeom>
          <a:noFill/>
        </p:spPr>
        <p:txBody>
          <a:bodyPr wrap="none" rtlCol="0">
            <a:spAutoFit/>
          </a:bodyPr>
          <a:lstStyle/>
          <a:p>
            <a:r>
              <a:rPr lang="en-US" sz="1600" b="1" dirty="0">
                <a:solidFill>
                  <a:srgbClr val="B42926"/>
                </a:solidFill>
              </a:rPr>
              <a:t>wide</a:t>
            </a:r>
          </a:p>
        </p:txBody>
      </p:sp>
      <p:sp>
        <p:nvSpPr>
          <p:cNvPr id="224" name="TextBox 223">
            <a:extLst>
              <a:ext uri="{FF2B5EF4-FFF2-40B4-BE49-F238E27FC236}">
                <a16:creationId xmlns:a16="http://schemas.microsoft.com/office/drawing/2014/main" id="{96FB3703-9157-49A3-9F80-28DAA625915B}"/>
              </a:ext>
            </a:extLst>
          </p:cNvPr>
          <p:cNvSpPr txBox="1"/>
          <p:nvPr/>
        </p:nvSpPr>
        <p:spPr>
          <a:xfrm rot="17554178">
            <a:off x="5237869" y="4648216"/>
            <a:ext cx="803746" cy="338554"/>
          </a:xfrm>
          <a:prstGeom prst="rect">
            <a:avLst/>
          </a:prstGeom>
          <a:noFill/>
        </p:spPr>
        <p:txBody>
          <a:bodyPr wrap="none" rtlCol="0">
            <a:spAutoFit/>
          </a:bodyPr>
          <a:lstStyle/>
          <a:p>
            <a:r>
              <a:rPr lang="en-US" sz="1600" b="1" dirty="0">
                <a:solidFill>
                  <a:srgbClr val="92D050"/>
                </a:solidFill>
              </a:rPr>
              <a:t>narrow</a:t>
            </a:r>
          </a:p>
        </p:txBody>
      </p:sp>
      <p:sp>
        <p:nvSpPr>
          <p:cNvPr id="4" name="TextBox 3">
            <a:extLst>
              <a:ext uri="{FF2B5EF4-FFF2-40B4-BE49-F238E27FC236}">
                <a16:creationId xmlns:a16="http://schemas.microsoft.com/office/drawing/2014/main" id="{72FBC88C-B531-434D-9738-B33505C023DD}"/>
              </a:ext>
            </a:extLst>
          </p:cNvPr>
          <p:cNvSpPr txBox="1"/>
          <p:nvPr/>
        </p:nvSpPr>
        <p:spPr>
          <a:xfrm>
            <a:off x="2637621" y="2885444"/>
            <a:ext cx="1641453" cy="369332"/>
          </a:xfrm>
          <a:prstGeom prst="rect">
            <a:avLst/>
          </a:prstGeom>
          <a:noFill/>
        </p:spPr>
        <p:txBody>
          <a:bodyPr wrap="square" rtlCol="0">
            <a:spAutoFit/>
          </a:bodyPr>
          <a:lstStyle/>
          <a:p>
            <a:r>
              <a:rPr lang="en-US" dirty="0"/>
              <a:t>Community B</a:t>
            </a:r>
          </a:p>
        </p:txBody>
      </p:sp>
      <p:sp>
        <p:nvSpPr>
          <p:cNvPr id="225" name="TextBox 224">
            <a:extLst>
              <a:ext uri="{FF2B5EF4-FFF2-40B4-BE49-F238E27FC236}">
                <a16:creationId xmlns:a16="http://schemas.microsoft.com/office/drawing/2014/main" id="{C31F13F0-AF2E-4219-B4E0-1EA30C01D45D}"/>
              </a:ext>
            </a:extLst>
          </p:cNvPr>
          <p:cNvSpPr txBox="1"/>
          <p:nvPr/>
        </p:nvSpPr>
        <p:spPr>
          <a:xfrm>
            <a:off x="6197187" y="2342369"/>
            <a:ext cx="1641453" cy="369332"/>
          </a:xfrm>
          <a:prstGeom prst="rect">
            <a:avLst/>
          </a:prstGeom>
          <a:noFill/>
        </p:spPr>
        <p:txBody>
          <a:bodyPr wrap="square" rtlCol="0">
            <a:spAutoFit/>
          </a:bodyPr>
          <a:lstStyle/>
          <a:p>
            <a:r>
              <a:rPr lang="en-US" dirty="0"/>
              <a:t>Community A</a:t>
            </a:r>
          </a:p>
        </p:txBody>
      </p:sp>
      <p:sp>
        <p:nvSpPr>
          <p:cNvPr id="226" name="TextBox 225">
            <a:extLst>
              <a:ext uri="{FF2B5EF4-FFF2-40B4-BE49-F238E27FC236}">
                <a16:creationId xmlns:a16="http://schemas.microsoft.com/office/drawing/2014/main" id="{3E4A0287-895A-42BA-BF8A-E86951E1C13B}"/>
              </a:ext>
            </a:extLst>
          </p:cNvPr>
          <p:cNvSpPr txBox="1"/>
          <p:nvPr/>
        </p:nvSpPr>
        <p:spPr>
          <a:xfrm>
            <a:off x="2946467" y="6112804"/>
            <a:ext cx="1641453" cy="369332"/>
          </a:xfrm>
          <a:prstGeom prst="rect">
            <a:avLst/>
          </a:prstGeom>
          <a:noFill/>
        </p:spPr>
        <p:txBody>
          <a:bodyPr wrap="square" rtlCol="0">
            <a:spAutoFit/>
          </a:bodyPr>
          <a:lstStyle/>
          <a:p>
            <a:r>
              <a:rPr lang="en-US" dirty="0"/>
              <a:t>Community C</a:t>
            </a:r>
          </a:p>
        </p:txBody>
      </p:sp>
    </p:spTree>
    <p:extLst>
      <p:ext uri="{BB962C8B-B14F-4D97-AF65-F5344CB8AC3E}">
        <p14:creationId xmlns:p14="http://schemas.microsoft.com/office/powerpoint/2010/main" val="905373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0391923-B59A-1798-4426-EE6C96E5C1FC}"/>
              </a:ext>
            </a:extLst>
          </p:cNvPr>
          <p:cNvSpPr/>
          <p:nvPr/>
        </p:nvSpPr>
        <p:spPr>
          <a:xfrm>
            <a:off x="0" y="894"/>
            <a:ext cx="12192000" cy="811055"/>
          </a:xfrm>
          <a:prstGeom prst="rect">
            <a:avLst/>
          </a:prstGeom>
          <a:solidFill>
            <a:srgbClr val="156082"/>
          </a:solidFill>
          <a:ln>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799"/>
          </a:p>
        </p:txBody>
      </p:sp>
      <p:sp>
        <p:nvSpPr>
          <p:cNvPr id="2" name="Title 1">
            <a:extLst>
              <a:ext uri="{FF2B5EF4-FFF2-40B4-BE49-F238E27FC236}">
                <a16:creationId xmlns:a16="http://schemas.microsoft.com/office/drawing/2014/main" id="{80891985-C261-B66B-4541-3A577152899E}"/>
              </a:ext>
            </a:extLst>
          </p:cNvPr>
          <p:cNvSpPr>
            <a:spLocks noGrp="1"/>
          </p:cNvSpPr>
          <p:nvPr>
            <p:ph type="title"/>
          </p:nvPr>
        </p:nvSpPr>
        <p:spPr>
          <a:xfrm>
            <a:off x="175278" y="72167"/>
            <a:ext cx="10933377" cy="663616"/>
          </a:xfrm>
        </p:spPr>
        <p:txBody>
          <a:bodyPr>
            <a:normAutofit/>
          </a:bodyPr>
          <a:lstStyle/>
          <a:p>
            <a:r>
              <a:rPr lang="nl-NL" sz="3199" dirty="0">
                <a:solidFill>
                  <a:schemeClr val="bg1"/>
                </a:solidFill>
                <a:latin typeface="Aptos" panose="020B0004020202020204" pitchFamily="34" charset="0"/>
              </a:rPr>
              <a:t>Het “Health </a:t>
            </a:r>
            <a:r>
              <a:rPr lang="nl-NL" sz="3199" dirty="0" err="1">
                <a:solidFill>
                  <a:schemeClr val="bg1"/>
                </a:solidFill>
                <a:latin typeface="Aptos" panose="020B0004020202020204" pitchFamily="34" charset="0"/>
              </a:rPr>
              <a:t>Buddies</a:t>
            </a:r>
            <a:r>
              <a:rPr lang="nl-NL" sz="3199" dirty="0">
                <a:solidFill>
                  <a:schemeClr val="bg1"/>
                </a:solidFill>
                <a:latin typeface="Aptos" panose="020B0004020202020204" pitchFamily="34" charset="0"/>
              </a:rPr>
              <a:t>”-experiment</a:t>
            </a:r>
            <a:endParaRPr lang="nl-NL" sz="3199" b="1" dirty="0">
              <a:solidFill>
                <a:schemeClr val="bg1"/>
              </a:solidFill>
              <a:latin typeface="Aptos" panose="020B0004020202020204" pitchFamily="34" charset="0"/>
            </a:endParaRPr>
          </a:p>
        </p:txBody>
      </p:sp>
      <p:sp>
        <p:nvSpPr>
          <p:cNvPr id="6" name="TextBox 5">
            <a:extLst>
              <a:ext uri="{FF2B5EF4-FFF2-40B4-BE49-F238E27FC236}">
                <a16:creationId xmlns:a16="http://schemas.microsoft.com/office/drawing/2014/main" id="{74E9CD12-DE09-9CD9-F8A6-CA91E83D7C20}"/>
              </a:ext>
            </a:extLst>
          </p:cNvPr>
          <p:cNvSpPr txBox="1"/>
          <p:nvPr/>
        </p:nvSpPr>
        <p:spPr>
          <a:xfrm>
            <a:off x="286328" y="1015091"/>
            <a:ext cx="11390458" cy="1907718"/>
          </a:xfrm>
          <a:prstGeom prst="rect">
            <a:avLst/>
          </a:prstGeom>
          <a:noFill/>
        </p:spPr>
        <p:txBody>
          <a:bodyPr wrap="square">
            <a:spAutoFit/>
          </a:bodyPr>
          <a:lstStyle/>
          <a:p>
            <a:pPr>
              <a:spcBef>
                <a:spcPts val="600"/>
              </a:spcBef>
              <a:buFontTx/>
              <a:buChar char="-"/>
            </a:pPr>
            <a:r>
              <a:rPr lang="nl-NL" sz="1799" dirty="0"/>
              <a:t>Deelnemers werden gekoppeld aan andere deelnemers — aangeduid als “health </a:t>
            </a:r>
            <a:r>
              <a:rPr lang="nl-NL" sz="1799" dirty="0" err="1"/>
              <a:t>buddies</a:t>
            </a:r>
            <a:r>
              <a:rPr lang="nl-NL" sz="1799" dirty="0"/>
              <a:t>” — binnen een online gezondheidsgemeenschap.</a:t>
            </a:r>
          </a:p>
          <a:p>
            <a:pPr>
              <a:spcBef>
                <a:spcPts val="600"/>
              </a:spcBef>
              <a:buFontTx/>
              <a:buChar char="-"/>
            </a:pPr>
            <a:r>
              <a:rPr lang="nl-NL" sz="1799" dirty="0"/>
              <a:t>Deelnemers konden niet rechtstreeks contact opnemen met hun health </a:t>
            </a:r>
            <a:r>
              <a:rPr lang="nl-NL" sz="1799" dirty="0" err="1"/>
              <a:t>buddies</a:t>
            </a:r>
            <a:r>
              <a:rPr lang="nl-NL" sz="1799" dirty="0"/>
              <a:t>, maar ontvingen wel e-mails van het onderzoeksteam over de activiteiten van hun health </a:t>
            </a:r>
            <a:r>
              <a:rPr lang="nl-NL" sz="1799" dirty="0" err="1"/>
              <a:t>buddies</a:t>
            </a:r>
            <a:r>
              <a:rPr lang="nl-NL" sz="1799" dirty="0"/>
              <a:t>.</a:t>
            </a:r>
          </a:p>
          <a:p>
            <a:pPr>
              <a:spcBef>
                <a:spcPts val="600"/>
              </a:spcBef>
              <a:buFontTx/>
              <a:buChar char="-"/>
            </a:pPr>
            <a:r>
              <a:rPr lang="nl-NL" sz="1799" dirty="0"/>
              <a:t>Belangrijkste inzicht: gedragsverandering verspreidt zich beter en blijft langer bestaan wanneer mensen samen van elkaar leren in meer samenhangende groepen.</a:t>
            </a:r>
            <a:endParaRPr lang="en-US" sz="1799" dirty="0"/>
          </a:p>
        </p:txBody>
      </p:sp>
      <p:grpSp>
        <p:nvGrpSpPr>
          <p:cNvPr id="7" name="Group 6">
            <a:extLst>
              <a:ext uri="{FF2B5EF4-FFF2-40B4-BE49-F238E27FC236}">
                <a16:creationId xmlns:a16="http://schemas.microsoft.com/office/drawing/2014/main" id="{F4065341-4B57-1DBB-BF5D-06FA30FCEAE9}"/>
              </a:ext>
            </a:extLst>
          </p:cNvPr>
          <p:cNvGrpSpPr/>
          <p:nvPr/>
        </p:nvGrpSpPr>
        <p:grpSpPr>
          <a:xfrm>
            <a:off x="896407" y="3048012"/>
            <a:ext cx="5446802" cy="2938716"/>
            <a:chOff x="4231387" y="1920240"/>
            <a:chExt cx="5869685" cy="3520440"/>
          </a:xfrm>
        </p:grpSpPr>
        <p:pic>
          <p:nvPicPr>
            <p:cNvPr id="8" name="Picture 7">
              <a:extLst>
                <a:ext uri="{FF2B5EF4-FFF2-40B4-BE49-F238E27FC236}">
                  <a16:creationId xmlns:a16="http://schemas.microsoft.com/office/drawing/2014/main" id="{4FC259DF-B3CA-980E-6A95-ECDE47A3EA2E}"/>
                </a:ext>
              </a:extLst>
            </p:cNvPr>
            <p:cNvPicPr>
              <a:picLocks noChangeAspect="1"/>
            </p:cNvPicPr>
            <p:nvPr/>
          </p:nvPicPr>
          <p:blipFill>
            <a:blip r:embed="rId3"/>
            <a:stretch>
              <a:fillRect/>
            </a:stretch>
          </p:blipFill>
          <p:spPr>
            <a:xfrm>
              <a:off x="4233672" y="1920240"/>
              <a:ext cx="5867400" cy="3520440"/>
            </a:xfrm>
            <a:prstGeom prst="rect">
              <a:avLst/>
            </a:prstGeom>
          </p:spPr>
        </p:pic>
        <p:sp>
          <p:nvSpPr>
            <p:cNvPr id="9" name="Rectangle 8">
              <a:extLst>
                <a:ext uri="{FF2B5EF4-FFF2-40B4-BE49-F238E27FC236}">
                  <a16:creationId xmlns:a16="http://schemas.microsoft.com/office/drawing/2014/main" id="{2302B5B7-E103-1AF2-F3A6-DF1BFC7EA58D}"/>
                </a:ext>
              </a:extLst>
            </p:cNvPr>
            <p:cNvSpPr/>
            <p:nvPr/>
          </p:nvSpPr>
          <p:spPr>
            <a:xfrm>
              <a:off x="4231387" y="2302502"/>
              <a:ext cx="1810251" cy="368606"/>
            </a:xfrm>
            <a:prstGeom prst="rect">
              <a:avLst/>
            </a:prstGeom>
          </p:spPr>
          <p:txBody>
            <a:bodyPr wrap="none">
              <a:spAutoFit/>
            </a:bodyPr>
            <a:lstStyle/>
            <a:p>
              <a:r>
                <a:rPr lang="nl-NL" sz="1400" dirty="0">
                  <a:solidFill>
                    <a:srgbClr val="FFFFFF"/>
                  </a:solidFill>
                  <a:latin typeface="Roboto"/>
                </a:rPr>
                <a:t>Clustered network </a:t>
              </a:r>
              <a:endParaRPr lang="nl-NL" sz="1400" dirty="0"/>
            </a:p>
          </p:txBody>
        </p:sp>
        <p:sp>
          <p:nvSpPr>
            <p:cNvPr id="10" name="Rectangle 9">
              <a:extLst>
                <a:ext uri="{FF2B5EF4-FFF2-40B4-BE49-F238E27FC236}">
                  <a16:creationId xmlns:a16="http://schemas.microsoft.com/office/drawing/2014/main" id="{CB3A645D-57AB-1993-5B56-38A1AD542C2C}"/>
                </a:ext>
              </a:extLst>
            </p:cNvPr>
            <p:cNvSpPr/>
            <p:nvPr/>
          </p:nvSpPr>
          <p:spPr>
            <a:xfrm>
              <a:off x="8070500" y="2302502"/>
              <a:ext cx="1665182" cy="368606"/>
            </a:xfrm>
            <a:prstGeom prst="rect">
              <a:avLst/>
            </a:prstGeom>
          </p:spPr>
          <p:txBody>
            <a:bodyPr wrap="none">
              <a:spAutoFit/>
            </a:bodyPr>
            <a:lstStyle/>
            <a:p>
              <a:r>
                <a:rPr lang="nl-NL" sz="1400" dirty="0">
                  <a:solidFill>
                    <a:srgbClr val="FFFFFF"/>
                  </a:solidFill>
                  <a:latin typeface="Roboto"/>
                </a:rPr>
                <a:t>Random-network</a:t>
              </a:r>
              <a:endParaRPr lang="nl-NL" sz="1400" dirty="0"/>
            </a:p>
          </p:txBody>
        </p:sp>
      </p:grpSp>
      <p:pic>
        <p:nvPicPr>
          <p:cNvPr id="11" name="Picture 10">
            <a:extLst>
              <a:ext uri="{FF2B5EF4-FFF2-40B4-BE49-F238E27FC236}">
                <a16:creationId xmlns:a16="http://schemas.microsoft.com/office/drawing/2014/main" id="{2AE2804C-DF98-950C-E11C-54D616A60B89}"/>
              </a:ext>
            </a:extLst>
          </p:cNvPr>
          <p:cNvPicPr>
            <a:picLocks noChangeAspect="1"/>
          </p:cNvPicPr>
          <p:nvPr/>
        </p:nvPicPr>
        <p:blipFill rotWithShape="1">
          <a:blip r:embed="rId4"/>
          <a:srcRect l="52687" b="66219"/>
          <a:stretch/>
        </p:blipFill>
        <p:spPr>
          <a:xfrm>
            <a:off x="7568830" y="2922809"/>
            <a:ext cx="3261489" cy="3158725"/>
          </a:xfrm>
          <a:prstGeom prst="rect">
            <a:avLst/>
          </a:prstGeom>
        </p:spPr>
      </p:pic>
      <p:sp>
        <p:nvSpPr>
          <p:cNvPr id="12" name="Rectangle 11">
            <a:extLst>
              <a:ext uri="{FF2B5EF4-FFF2-40B4-BE49-F238E27FC236}">
                <a16:creationId xmlns:a16="http://schemas.microsoft.com/office/drawing/2014/main" id="{7865EBA3-61AF-4447-7720-5B8881974E72}"/>
              </a:ext>
            </a:extLst>
          </p:cNvPr>
          <p:cNvSpPr/>
          <p:nvPr/>
        </p:nvSpPr>
        <p:spPr>
          <a:xfrm>
            <a:off x="9368402" y="4832610"/>
            <a:ext cx="1659206" cy="323081"/>
          </a:xfrm>
          <a:prstGeom prst="rect">
            <a:avLst/>
          </a:prstGeom>
        </p:spPr>
        <p:txBody>
          <a:bodyPr wrap="square">
            <a:spAutoFit/>
          </a:bodyPr>
          <a:lstStyle/>
          <a:p>
            <a:r>
              <a:rPr lang="en-US" sz="1500" dirty="0">
                <a:solidFill>
                  <a:srgbClr val="C00000"/>
                </a:solidFill>
                <a:latin typeface="Roboto"/>
              </a:rPr>
              <a:t>Random network</a:t>
            </a:r>
            <a:endParaRPr lang="nl-NL" sz="1500" dirty="0">
              <a:solidFill>
                <a:srgbClr val="C00000"/>
              </a:solidFill>
            </a:endParaRPr>
          </a:p>
        </p:txBody>
      </p:sp>
      <p:sp>
        <p:nvSpPr>
          <p:cNvPr id="13" name="Rectangle 12">
            <a:extLst>
              <a:ext uri="{FF2B5EF4-FFF2-40B4-BE49-F238E27FC236}">
                <a16:creationId xmlns:a16="http://schemas.microsoft.com/office/drawing/2014/main" id="{CCBC6AB7-DBDD-84B6-6EBD-268B8755D62A}"/>
              </a:ext>
            </a:extLst>
          </p:cNvPr>
          <p:cNvSpPr/>
          <p:nvPr/>
        </p:nvSpPr>
        <p:spPr>
          <a:xfrm>
            <a:off x="8743051" y="3906766"/>
            <a:ext cx="1737524" cy="323081"/>
          </a:xfrm>
          <a:prstGeom prst="rect">
            <a:avLst/>
          </a:prstGeom>
        </p:spPr>
        <p:txBody>
          <a:bodyPr wrap="none">
            <a:spAutoFit/>
          </a:bodyPr>
          <a:lstStyle/>
          <a:p>
            <a:r>
              <a:rPr lang="en-US" sz="1500" dirty="0">
                <a:solidFill>
                  <a:srgbClr val="C00000"/>
                </a:solidFill>
                <a:latin typeface="Roboto"/>
              </a:rPr>
              <a:t>Clustered network</a:t>
            </a:r>
            <a:endParaRPr lang="nl-NL" sz="1500" dirty="0">
              <a:solidFill>
                <a:srgbClr val="C00000"/>
              </a:solidFill>
            </a:endParaRPr>
          </a:p>
        </p:txBody>
      </p:sp>
      <p:sp>
        <p:nvSpPr>
          <p:cNvPr id="14" name="矩形 12">
            <a:extLst>
              <a:ext uri="{FF2B5EF4-FFF2-40B4-BE49-F238E27FC236}">
                <a16:creationId xmlns:a16="http://schemas.microsoft.com/office/drawing/2014/main" id="{D42ADE05-C2F0-D158-D902-11E8938CB349}"/>
              </a:ext>
            </a:extLst>
          </p:cNvPr>
          <p:cNvSpPr/>
          <p:nvPr/>
        </p:nvSpPr>
        <p:spPr>
          <a:xfrm>
            <a:off x="175278" y="6308322"/>
            <a:ext cx="7105352" cy="292312"/>
          </a:xfrm>
          <a:prstGeom prst="rect">
            <a:avLst/>
          </a:prstGeom>
        </p:spPr>
        <p:txBody>
          <a:bodyPr wrap="none">
            <a:spAutoFit/>
          </a:bodyPr>
          <a:lstStyle/>
          <a:p>
            <a:r>
              <a:rPr lang="en-GB" sz="1300" dirty="0"/>
              <a:t>Damon </a:t>
            </a:r>
            <a:r>
              <a:rPr lang="en-GB" sz="1300" dirty="0" err="1"/>
              <a:t>Centola</a:t>
            </a:r>
            <a:r>
              <a:rPr lang="en-GB" sz="1300" dirty="0"/>
              <a:t>. The Spread of </a:t>
            </a:r>
            <a:r>
              <a:rPr lang="en-GB" sz="1300" dirty="0" err="1"/>
              <a:t>Behavior</a:t>
            </a:r>
            <a:r>
              <a:rPr lang="en-GB" sz="1300" dirty="0"/>
              <a:t> in an Online Social Network Experiment. SCIENCE, 329, 2010. </a:t>
            </a:r>
          </a:p>
        </p:txBody>
      </p:sp>
      <p:sp>
        <p:nvSpPr>
          <p:cNvPr id="5" name="TextBox 4">
            <a:extLst>
              <a:ext uri="{FF2B5EF4-FFF2-40B4-BE49-F238E27FC236}">
                <a16:creationId xmlns:a16="http://schemas.microsoft.com/office/drawing/2014/main" id="{82B763DA-968C-F6A0-72E4-098AB60B9B87}"/>
              </a:ext>
            </a:extLst>
          </p:cNvPr>
          <p:cNvSpPr txBox="1"/>
          <p:nvPr/>
        </p:nvSpPr>
        <p:spPr>
          <a:xfrm>
            <a:off x="7546841" y="6162167"/>
            <a:ext cx="4129945" cy="584623"/>
          </a:xfrm>
          <a:prstGeom prst="rect">
            <a:avLst/>
          </a:prstGeom>
          <a:solidFill>
            <a:srgbClr val="E9C648"/>
          </a:solidFill>
        </p:spPr>
        <p:txBody>
          <a:bodyPr wrap="square">
            <a:spAutoFit/>
          </a:bodyPr>
          <a:lstStyle/>
          <a:p>
            <a:pPr algn="ctr"/>
            <a:r>
              <a:rPr lang="nl-NL" sz="1600" dirty="0"/>
              <a:t>Begin met kleine samenhangende groepen in plaats van individuele, geïsoleerde vrijwilligers</a:t>
            </a:r>
          </a:p>
        </p:txBody>
      </p:sp>
    </p:spTree>
    <p:extLst>
      <p:ext uri="{BB962C8B-B14F-4D97-AF65-F5344CB8AC3E}">
        <p14:creationId xmlns:p14="http://schemas.microsoft.com/office/powerpoint/2010/main" val="278664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DB764E4-A605-01F5-4DC2-B3A628750428}"/>
              </a:ext>
            </a:extLst>
          </p:cNvPr>
          <p:cNvSpPr txBox="1">
            <a:spLocks/>
          </p:cNvSpPr>
          <p:nvPr/>
        </p:nvSpPr>
        <p:spPr>
          <a:xfrm>
            <a:off x="348969" y="103563"/>
            <a:ext cx="10933377" cy="1325218"/>
          </a:xfrm>
          <a:prstGeom prst="rect">
            <a:avLst/>
          </a:prstGeom>
        </p:spPr>
        <p:txBody>
          <a:bodyPr vert="horz" lIns="91416" tIns="45708" rIns="91416" bIns="4570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b="1" dirty="0">
                <a:solidFill>
                  <a:srgbClr val="0070C0"/>
                </a:solidFill>
              </a:rPr>
              <a:t>Two trails inspired by “clustered seeding”, and compared to conventional approach</a:t>
            </a:r>
            <a:endParaRPr lang="nl-NL" sz="3199" b="1" dirty="0">
              <a:solidFill>
                <a:srgbClr val="0070C0"/>
              </a:solidFill>
            </a:endParaRPr>
          </a:p>
        </p:txBody>
      </p:sp>
      <p:sp>
        <p:nvSpPr>
          <p:cNvPr id="7" name="TextBox 6">
            <a:extLst>
              <a:ext uri="{FF2B5EF4-FFF2-40B4-BE49-F238E27FC236}">
                <a16:creationId xmlns:a16="http://schemas.microsoft.com/office/drawing/2014/main" id="{7F3B63ED-C795-20F5-3172-91345751023C}"/>
              </a:ext>
            </a:extLst>
          </p:cNvPr>
          <p:cNvSpPr txBox="1"/>
          <p:nvPr/>
        </p:nvSpPr>
        <p:spPr>
          <a:xfrm>
            <a:off x="547108" y="1920540"/>
            <a:ext cx="10430588" cy="646163"/>
          </a:xfrm>
          <a:prstGeom prst="rect">
            <a:avLst/>
          </a:prstGeom>
          <a:noFill/>
        </p:spPr>
        <p:txBody>
          <a:bodyPr wrap="square" rtlCol="0">
            <a:spAutoFit/>
          </a:bodyPr>
          <a:lstStyle/>
          <a:p>
            <a:r>
              <a:rPr lang="en-US" sz="1799" dirty="0"/>
              <a:t>Budgets/resources to engage with 30 households in a few streets (e.g., offering tailored information and solutions, or in-depth interviews and conversations, or start with local initiatives):</a:t>
            </a:r>
            <a:endParaRPr lang="nl-NL" sz="1799" dirty="0"/>
          </a:p>
        </p:txBody>
      </p:sp>
      <p:sp>
        <p:nvSpPr>
          <p:cNvPr id="8" name="TextBox 7">
            <a:extLst>
              <a:ext uri="{FF2B5EF4-FFF2-40B4-BE49-F238E27FC236}">
                <a16:creationId xmlns:a16="http://schemas.microsoft.com/office/drawing/2014/main" id="{905E3C97-81D8-51B5-49EB-425FC8B4B5CE}"/>
              </a:ext>
            </a:extLst>
          </p:cNvPr>
          <p:cNvSpPr txBox="1"/>
          <p:nvPr/>
        </p:nvSpPr>
        <p:spPr>
          <a:xfrm>
            <a:off x="267459" y="3602719"/>
            <a:ext cx="3286412" cy="172310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285664" indent="-285664">
              <a:spcBef>
                <a:spcPts val="600"/>
              </a:spcBef>
              <a:buFont typeface="Arial" panose="020B0604020202020204" pitchFamily="34" charset="0"/>
              <a:buChar char="•"/>
            </a:pPr>
            <a:r>
              <a:rPr lang="en-US" sz="1600" dirty="0"/>
              <a:t>Randomly select 30 households from those who sign up;</a:t>
            </a:r>
          </a:p>
          <a:p>
            <a:pPr marL="285664" indent="-285664">
              <a:spcBef>
                <a:spcPts val="600"/>
              </a:spcBef>
              <a:buFont typeface="Arial" panose="020B0604020202020204" pitchFamily="34" charset="0"/>
              <a:buChar char="•"/>
            </a:pPr>
            <a:r>
              <a:rPr lang="en-US" sz="1600" dirty="0"/>
              <a:t>Work with each household individual;</a:t>
            </a:r>
          </a:p>
          <a:p>
            <a:pPr marL="285664" indent="-285664">
              <a:spcBef>
                <a:spcPts val="600"/>
              </a:spcBef>
              <a:buFont typeface="Arial" panose="020B0604020202020204" pitchFamily="34" charset="0"/>
              <a:buChar char="•"/>
            </a:pPr>
            <a:r>
              <a:rPr lang="en-US" sz="1600" dirty="0"/>
              <a:t>Households engage in the process largely on their own.</a:t>
            </a:r>
            <a:endParaRPr lang="nl-NL" sz="1600" dirty="0"/>
          </a:p>
        </p:txBody>
      </p:sp>
      <p:sp>
        <p:nvSpPr>
          <p:cNvPr id="9" name="TextBox 8">
            <a:extLst>
              <a:ext uri="{FF2B5EF4-FFF2-40B4-BE49-F238E27FC236}">
                <a16:creationId xmlns:a16="http://schemas.microsoft.com/office/drawing/2014/main" id="{EFD587EC-0FE3-5DC6-A5AF-FB596D8FACF3}"/>
              </a:ext>
            </a:extLst>
          </p:cNvPr>
          <p:cNvSpPr txBox="1"/>
          <p:nvPr/>
        </p:nvSpPr>
        <p:spPr>
          <a:xfrm>
            <a:off x="4202161" y="3429000"/>
            <a:ext cx="3504285" cy="196925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285664" indent="-285664">
              <a:spcBef>
                <a:spcPts val="600"/>
              </a:spcBef>
              <a:buFont typeface="Arial" panose="020B0604020202020204" pitchFamily="34" charset="0"/>
              <a:buChar char="•"/>
            </a:pPr>
            <a:r>
              <a:rPr lang="en-US" sz="1600" dirty="0"/>
              <a:t>Randomly select 10 households from those who sign up;</a:t>
            </a:r>
          </a:p>
          <a:p>
            <a:pPr marL="285664" indent="-285664">
              <a:spcBef>
                <a:spcPts val="600"/>
              </a:spcBef>
              <a:buFont typeface="Arial" panose="020B0604020202020204" pitchFamily="34" charset="0"/>
              <a:buChar char="•"/>
            </a:pPr>
            <a:r>
              <a:rPr lang="en-US" sz="1600" dirty="0"/>
              <a:t>Ask each household to invite or nominate three </a:t>
            </a:r>
            <a:r>
              <a:rPr lang="en-US" sz="1600" dirty="0" err="1"/>
              <a:t>neighbours</a:t>
            </a:r>
            <a:r>
              <a:rPr lang="en-US" sz="1600" dirty="0"/>
              <a:t>, friends, or nearby households;</a:t>
            </a:r>
          </a:p>
          <a:p>
            <a:pPr marL="285664" indent="-285664">
              <a:spcBef>
                <a:spcPts val="600"/>
              </a:spcBef>
              <a:buFont typeface="Arial" panose="020B0604020202020204" pitchFamily="34" charset="0"/>
              <a:buChar char="•"/>
            </a:pPr>
            <a:r>
              <a:rPr lang="en-US" sz="1600" dirty="0"/>
              <a:t>Work with these naturally connected clusters. </a:t>
            </a:r>
          </a:p>
        </p:txBody>
      </p:sp>
      <p:sp>
        <p:nvSpPr>
          <p:cNvPr id="10" name="TextBox 9">
            <a:extLst>
              <a:ext uri="{FF2B5EF4-FFF2-40B4-BE49-F238E27FC236}">
                <a16:creationId xmlns:a16="http://schemas.microsoft.com/office/drawing/2014/main" id="{DD345E44-CF81-2B8B-6E81-B8A7DC1EB315}"/>
              </a:ext>
            </a:extLst>
          </p:cNvPr>
          <p:cNvSpPr txBox="1"/>
          <p:nvPr/>
        </p:nvSpPr>
        <p:spPr>
          <a:xfrm>
            <a:off x="8420256" y="3429000"/>
            <a:ext cx="3504286" cy="196925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285664" indent="-285664">
              <a:spcBef>
                <a:spcPts val="600"/>
              </a:spcBef>
              <a:buFont typeface="Arial" panose="020B0604020202020204" pitchFamily="34" charset="0"/>
              <a:buChar char="•"/>
            </a:pPr>
            <a:r>
              <a:rPr lang="en-US" sz="1600" dirty="0"/>
              <a:t>Recruit 30 volunteer households.</a:t>
            </a:r>
          </a:p>
          <a:p>
            <a:pPr marL="285664" indent="-285664">
              <a:spcBef>
                <a:spcPts val="600"/>
              </a:spcBef>
              <a:buFont typeface="Arial" panose="020B0604020202020204" pitchFamily="34" charset="0"/>
              <a:buChar char="•"/>
            </a:pPr>
            <a:r>
              <a:rPr lang="en-US" sz="1600" dirty="0"/>
              <a:t>Organize them into small </a:t>
            </a:r>
            <a:r>
              <a:rPr lang="en-US" sz="1600" dirty="0" err="1"/>
              <a:t>neighbourhood</a:t>
            </a:r>
            <a:r>
              <a:rPr lang="en-US" sz="1600" dirty="0"/>
              <a:t> groups (e.g., three households living close together or sharing similar circumstances).</a:t>
            </a:r>
          </a:p>
          <a:p>
            <a:pPr marL="285664" indent="-285664">
              <a:spcBef>
                <a:spcPts val="600"/>
              </a:spcBef>
              <a:buFont typeface="Arial" panose="020B0604020202020204" pitchFamily="34" charset="0"/>
              <a:buChar char="•"/>
            </a:pPr>
            <a:r>
              <a:rPr lang="en-US" sz="1600" dirty="0"/>
              <a:t>Deliver engagement activities at the group level rather than individually.</a:t>
            </a:r>
            <a:endParaRPr lang="nl-NL" sz="1600" dirty="0"/>
          </a:p>
        </p:txBody>
      </p:sp>
      <p:sp>
        <p:nvSpPr>
          <p:cNvPr id="17" name="TextBox 16">
            <a:extLst>
              <a:ext uri="{FF2B5EF4-FFF2-40B4-BE49-F238E27FC236}">
                <a16:creationId xmlns:a16="http://schemas.microsoft.com/office/drawing/2014/main" id="{1BB292B1-198E-5196-2DB5-59C4282F3A93}"/>
              </a:ext>
            </a:extLst>
          </p:cNvPr>
          <p:cNvSpPr txBox="1"/>
          <p:nvPr/>
        </p:nvSpPr>
        <p:spPr>
          <a:xfrm>
            <a:off x="4211303" y="2715840"/>
            <a:ext cx="3504285" cy="64616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US" sz="1799" b="1" dirty="0"/>
              <a:t>Clustered engagement through social referrals</a:t>
            </a:r>
            <a:endParaRPr lang="nl-NL" sz="1799" b="1" dirty="0"/>
          </a:p>
        </p:txBody>
      </p:sp>
      <p:sp>
        <p:nvSpPr>
          <p:cNvPr id="18" name="TextBox 17">
            <a:extLst>
              <a:ext uri="{FF2B5EF4-FFF2-40B4-BE49-F238E27FC236}">
                <a16:creationId xmlns:a16="http://schemas.microsoft.com/office/drawing/2014/main" id="{95DB4007-FD66-D385-164B-029C24972A32}"/>
              </a:ext>
            </a:extLst>
          </p:cNvPr>
          <p:cNvSpPr txBox="1"/>
          <p:nvPr/>
        </p:nvSpPr>
        <p:spPr>
          <a:xfrm>
            <a:off x="267459" y="2909046"/>
            <a:ext cx="3286412" cy="64616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US" sz="1799" b="1" dirty="0"/>
              <a:t>Conventional individual recruitment</a:t>
            </a:r>
            <a:endParaRPr lang="nl-NL" sz="1799" b="1" dirty="0"/>
          </a:p>
        </p:txBody>
      </p:sp>
      <p:sp>
        <p:nvSpPr>
          <p:cNvPr id="20" name="TextBox 19">
            <a:extLst>
              <a:ext uri="{FF2B5EF4-FFF2-40B4-BE49-F238E27FC236}">
                <a16:creationId xmlns:a16="http://schemas.microsoft.com/office/drawing/2014/main" id="{2692EA1B-95B5-B9E8-6E9E-8FA391E80452}"/>
              </a:ext>
            </a:extLst>
          </p:cNvPr>
          <p:cNvSpPr txBox="1"/>
          <p:nvPr/>
        </p:nvSpPr>
        <p:spPr>
          <a:xfrm>
            <a:off x="8442346" y="2706697"/>
            <a:ext cx="3460104" cy="64616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nl-NL" sz="1799" b="1" dirty="0" err="1"/>
              <a:t>Clustered</a:t>
            </a:r>
            <a:r>
              <a:rPr lang="nl-NL" sz="1799" b="1" dirty="0"/>
              <a:t> engagement </a:t>
            </a:r>
            <a:r>
              <a:rPr lang="nl-NL" sz="1799" b="1" dirty="0" err="1"/>
              <a:t>after</a:t>
            </a:r>
            <a:r>
              <a:rPr lang="nl-NL" sz="1799" b="1" dirty="0"/>
              <a:t> recruitment</a:t>
            </a:r>
          </a:p>
        </p:txBody>
      </p:sp>
      <p:sp>
        <p:nvSpPr>
          <p:cNvPr id="22" name="TextBox 21">
            <a:extLst>
              <a:ext uri="{FF2B5EF4-FFF2-40B4-BE49-F238E27FC236}">
                <a16:creationId xmlns:a16="http://schemas.microsoft.com/office/drawing/2014/main" id="{3E14D914-D5BE-0387-A454-B0503F3DB350}"/>
              </a:ext>
            </a:extLst>
          </p:cNvPr>
          <p:cNvSpPr txBox="1"/>
          <p:nvPr/>
        </p:nvSpPr>
        <p:spPr>
          <a:xfrm>
            <a:off x="547108" y="6226643"/>
            <a:ext cx="11576335" cy="338466"/>
          </a:xfrm>
          <a:prstGeom prst="rect">
            <a:avLst/>
          </a:prstGeom>
          <a:noFill/>
        </p:spPr>
        <p:txBody>
          <a:bodyPr wrap="square" rtlCol="0">
            <a:spAutoFit/>
          </a:bodyPr>
          <a:lstStyle/>
          <a:p>
            <a:pPr>
              <a:spcBef>
                <a:spcPts val="600"/>
              </a:spcBef>
            </a:pPr>
            <a:r>
              <a:rPr lang="en-US" sz="1600" b="1" i="1" dirty="0"/>
              <a:t>Measure outcomes</a:t>
            </a:r>
            <a:r>
              <a:rPr lang="en-US" sz="1600" dirty="0"/>
              <a:t>: 1) engagement and changes in the directly involved households 2) spillover effect to other households</a:t>
            </a:r>
            <a:endParaRPr lang="nl-NL" sz="1600" dirty="0"/>
          </a:p>
        </p:txBody>
      </p:sp>
      <p:sp>
        <p:nvSpPr>
          <p:cNvPr id="24" name="TextBox 23">
            <a:extLst>
              <a:ext uri="{FF2B5EF4-FFF2-40B4-BE49-F238E27FC236}">
                <a16:creationId xmlns:a16="http://schemas.microsoft.com/office/drawing/2014/main" id="{F0C52F87-9548-2371-06BD-EAF1624DE377}"/>
              </a:ext>
            </a:extLst>
          </p:cNvPr>
          <p:cNvSpPr txBox="1"/>
          <p:nvPr/>
        </p:nvSpPr>
        <p:spPr>
          <a:xfrm>
            <a:off x="5189457" y="5600576"/>
            <a:ext cx="6735085" cy="600008"/>
          </a:xfrm>
          <a:prstGeom prst="rect">
            <a:avLst/>
          </a:prstGeom>
          <a:noFill/>
        </p:spPr>
        <p:txBody>
          <a:bodyPr wrap="square">
            <a:spAutoFit/>
          </a:bodyPr>
          <a:lstStyle/>
          <a:p>
            <a:pPr>
              <a:spcBef>
                <a:spcPts val="600"/>
              </a:spcBef>
            </a:pPr>
            <a:r>
              <a:rPr lang="en-US" sz="1400" dirty="0"/>
              <a:t>Potential advantages:</a:t>
            </a:r>
          </a:p>
          <a:p>
            <a:pPr marL="285664" indent="-285664">
              <a:spcBef>
                <a:spcPts val="600"/>
              </a:spcBef>
              <a:buFont typeface="Arial" panose="020B0604020202020204" pitchFamily="34" charset="0"/>
              <a:buChar char="•"/>
            </a:pPr>
            <a:r>
              <a:rPr lang="en-US" sz="1400" dirty="0"/>
              <a:t>Conversations continue outside the program. Participants reinforce one another.</a:t>
            </a:r>
            <a:endParaRPr lang="nl-NL" sz="1400" dirty="0"/>
          </a:p>
        </p:txBody>
      </p:sp>
    </p:spTree>
    <p:extLst>
      <p:ext uri="{BB962C8B-B14F-4D97-AF65-F5344CB8AC3E}">
        <p14:creationId xmlns:p14="http://schemas.microsoft.com/office/powerpoint/2010/main" val="2041149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0EB9B5E6-0E32-4326-889D-4C43896D3639}"/>
              </a:ext>
            </a:extLst>
          </p:cNvPr>
          <p:cNvGrpSpPr/>
          <p:nvPr/>
        </p:nvGrpSpPr>
        <p:grpSpPr>
          <a:xfrm>
            <a:off x="1039696" y="1523521"/>
            <a:ext cx="3427882" cy="3072691"/>
            <a:chOff x="403874" y="1473711"/>
            <a:chExt cx="3427882" cy="3072691"/>
          </a:xfrm>
        </p:grpSpPr>
        <p:sp>
          <p:nvSpPr>
            <p:cNvPr id="53" name="Oval 52">
              <a:extLst>
                <a:ext uri="{FF2B5EF4-FFF2-40B4-BE49-F238E27FC236}">
                  <a16:creationId xmlns:a16="http://schemas.microsoft.com/office/drawing/2014/main" id="{37FAFA07-6577-4760-95FA-C6BF58D03317}"/>
                </a:ext>
              </a:extLst>
            </p:cNvPr>
            <p:cNvSpPr/>
            <p:nvPr/>
          </p:nvSpPr>
          <p:spPr>
            <a:xfrm>
              <a:off x="747053" y="1919131"/>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0B50EDB0-08DC-491D-B517-B7776277D374}"/>
                </a:ext>
              </a:extLst>
            </p:cNvPr>
            <p:cNvSpPr/>
            <p:nvPr/>
          </p:nvSpPr>
          <p:spPr>
            <a:xfrm>
              <a:off x="1013475" y="169584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1490C9A2-632F-4F5A-929E-F5A56C33448D}"/>
                </a:ext>
              </a:extLst>
            </p:cNvPr>
            <p:cNvSpPr/>
            <p:nvPr/>
          </p:nvSpPr>
          <p:spPr>
            <a:xfrm>
              <a:off x="1303088" y="177027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2F12EBD0-67BD-4F36-8896-119086B134A1}"/>
                </a:ext>
              </a:extLst>
            </p:cNvPr>
            <p:cNvSpPr/>
            <p:nvPr/>
          </p:nvSpPr>
          <p:spPr>
            <a:xfrm>
              <a:off x="1463288" y="199355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51CC22DF-D91A-4799-AA2F-57D3A9AC3FEC}"/>
                </a:ext>
              </a:extLst>
            </p:cNvPr>
            <p:cNvSpPr/>
            <p:nvPr/>
          </p:nvSpPr>
          <p:spPr>
            <a:xfrm>
              <a:off x="811053" y="2190312"/>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B7A5AB0A-EB6B-4069-8909-317C1CC4817B}"/>
                </a:ext>
              </a:extLst>
            </p:cNvPr>
            <p:cNvSpPr/>
            <p:nvPr/>
          </p:nvSpPr>
          <p:spPr>
            <a:xfrm>
              <a:off x="1087903" y="2306764"/>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1322487E-859F-4C13-82D6-271F4BEA5A0B}"/>
                </a:ext>
              </a:extLst>
            </p:cNvPr>
            <p:cNvSpPr/>
            <p:nvPr/>
          </p:nvSpPr>
          <p:spPr>
            <a:xfrm>
              <a:off x="1368807" y="2232336"/>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64" name="Straight Connector 63">
              <a:extLst>
                <a:ext uri="{FF2B5EF4-FFF2-40B4-BE49-F238E27FC236}">
                  <a16:creationId xmlns:a16="http://schemas.microsoft.com/office/drawing/2014/main" id="{7E917F9A-F1A5-4E9A-92F3-E80454205AD3}"/>
                </a:ext>
              </a:extLst>
            </p:cNvPr>
            <p:cNvCxnSpPr>
              <a:stCxn id="54" idx="4"/>
              <a:endCxn id="60" idx="0"/>
            </p:cNvCxnSpPr>
            <p:nvPr/>
          </p:nvCxnSpPr>
          <p:spPr>
            <a:xfrm>
              <a:off x="1087903" y="1844703"/>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2884B5A-E435-4F3D-BD64-91E631581E00}"/>
                </a:ext>
              </a:extLst>
            </p:cNvPr>
            <p:cNvCxnSpPr>
              <a:stCxn id="53" idx="6"/>
              <a:endCxn id="63" idx="1"/>
            </p:cNvCxnSpPr>
            <p:nvPr/>
          </p:nvCxnSpPr>
          <p:spPr>
            <a:xfrm>
              <a:off x="895909" y="1993559"/>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6CA0D7E-ACCB-4626-9078-404F57AD9EA0}"/>
                </a:ext>
              </a:extLst>
            </p:cNvPr>
            <p:cNvCxnSpPr>
              <a:stCxn id="59" idx="7"/>
              <a:endCxn id="55" idx="2"/>
            </p:cNvCxnSpPr>
            <p:nvPr/>
          </p:nvCxnSpPr>
          <p:spPr>
            <a:xfrm flipV="1">
              <a:off x="938110" y="1844703"/>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520686D-4CCF-442D-B598-9F734B87CA4A}"/>
                </a:ext>
              </a:extLst>
            </p:cNvPr>
            <p:cNvCxnSpPr>
              <a:cxnSpLocks/>
              <a:stCxn id="53" idx="6"/>
              <a:endCxn id="56" idx="2"/>
            </p:cNvCxnSpPr>
            <p:nvPr/>
          </p:nvCxnSpPr>
          <p:spPr>
            <a:xfrm>
              <a:off x="895909" y="1993559"/>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F7C9F1CA-42E7-420B-BF2C-8CC1FE321F5B}"/>
                </a:ext>
              </a:extLst>
            </p:cNvPr>
            <p:cNvCxnSpPr>
              <a:stCxn id="53" idx="0"/>
              <a:endCxn id="54" idx="2"/>
            </p:cNvCxnSpPr>
            <p:nvPr/>
          </p:nvCxnSpPr>
          <p:spPr>
            <a:xfrm flipV="1">
              <a:off x="821481" y="1770275"/>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A12F58F-92CA-409B-87FA-35910EE9CCA7}"/>
                </a:ext>
              </a:extLst>
            </p:cNvPr>
            <p:cNvCxnSpPr>
              <a:stCxn id="54" idx="7"/>
              <a:endCxn id="55" idx="0"/>
            </p:cNvCxnSpPr>
            <p:nvPr/>
          </p:nvCxnSpPr>
          <p:spPr>
            <a:xfrm>
              <a:off x="1140532" y="1717646"/>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361CCAB-3F7F-4690-A868-1AC12E4AFDD1}"/>
                </a:ext>
              </a:extLst>
            </p:cNvPr>
            <p:cNvCxnSpPr>
              <a:stCxn id="55" idx="5"/>
              <a:endCxn id="56" idx="1"/>
            </p:cNvCxnSpPr>
            <p:nvPr/>
          </p:nvCxnSpPr>
          <p:spPr>
            <a:xfrm>
              <a:off x="1430145" y="1897332"/>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CC95B9F-9247-4AF6-A4CB-A7109DAF438D}"/>
                </a:ext>
              </a:extLst>
            </p:cNvPr>
            <p:cNvCxnSpPr>
              <a:stCxn id="56" idx="4"/>
              <a:endCxn id="63" idx="7"/>
            </p:cNvCxnSpPr>
            <p:nvPr/>
          </p:nvCxnSpPr>
          <p:spPr>
            <a:xfrm flipH="1">
              <a:off x="1495864" y="2142415"/>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E111268-B698-4E28-97A4-CA2C1B5B7E9E}"/>
                </a:ext>
              </a:extLst>
            </p:cNvPr>
            <p:cNvCxnSpPr>
              <a:stCxn id="63" idx="4"/>
              <a:endCxn id="60" idx="6"/>
            </p:cNvCxnSpPr>
            <p:nvPr/>
          </p:nvCxnSpPr>
          <p:spPr>
            <a:xfrm flipH="1">
              <a:off x="1236759" y="2381192"/>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B2A74A5-150E-48D2-8EA8-44C65B7995DC}"/>
                </a:ext>
              </a:extLst>
            </p:cNvPr>
            <p:cNvCxnSpPr>
              <a:stCxn id="59" idx="4"/>
              <a:endCxn id="60" idx="2"/>
            </p:cNvCxnSpPr>
            <p:nvPr/>
          </p:nvCxnSpPr>
          <p:spPr>
            <a:xfrm>
              <a:off x="885481" y="2339168"/>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1357C4-C471-4FA1-AD94-458CC02DB9C4}"/>
                </a:ext>
              </a:extLst>
            </p:cNvPr>
            <p:cNvCxnSpPr>
              <a:stCxn id="53" idx="4"/>
              <a:endCxn id="59" idx="1"/>
            </p:cNvCxnSpPr>
            <p:nvPr/>
          </p:nvCxnSpPr>
          <p:spPr>
            <a:xfrm>
              <a:off x="821481" y="2067987"/>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CB14F61-6357-44FA-8B11-F70B336128CD}"/>
                </a:ext>
              </a:extLst>
            </p:cNvPr>
            <p:cNvCxnSpPr>
              <a:stCxn id="55" idx="3"/>
              <a:endCxn id="60" idx="0"/>
            </p:cNvCxnSpPr>
            <p:nvPr/>
          </p:nvCxnSpPr>
          <p:spPr>
            <a:xfrm flipH="1">
              <a:off x="1162331" y="1897332"/>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AA5CB4E-CE69-4E96-9E25-401A77F77363}"/>
                </a:ext>
              </a:extLst>
            </p:cNvPr>
            <p:cNvCxnSpPr>
              <a:stCxn id="54" idx="4"/>
              <a:endCxn id="63" idx="1"/>
            </p:cNvCxnSpPr>
            <p:nvPr/>
          </p:nvCxnSpPr>
          <p:spPr>
            <a:xfrm>
              <a:off x="1087903" y="1844703"/>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23AAE00-27D4-4B58-9A12-23263318F6C2}"/>
                </a:ext>
              </a:extLst>
            </p:cNvPr>
            <p:cNvCxnSpPr>
              <a:stCxn id="54" idx="4"/>
              <a:endCxn id="59" idx="7"/>
            </p:cNvCxnSpPr>
            <p:nvPr/>
          </p:nvCxnSpPr>
          <p:spPr>
            <a:xfrm flipH="1">
              <a:off x="938110" y="1844703"/>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BA5DAAFA-DF1C-43F3-8BBF-87A913F3918E}"/>
                </a:ext>
              </a:extLst>
            </p:cNvPr>
            <p:cNvCxnSpPr>
              <a:stCxn id="59" idx="7"/>
              <a:endCxn id="63" idx="1"/>
            </p:cNvCxnSpPr>
            <p:nvPr/>
          </p:nvCxnSpPr>
          <p:spPr>
            <a:xfrm>
              <a:off x="938110" y="2212111"/>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6777A016-5A3A-410C-BF2D-F38486D7E4EB}"/>
                </a:ext>
              </a:extLst>
            </p:cNvPr>
            <p:cNvCxnSpPr>
              <a:cxnSpLocks/>
              <a:stCxn id="55" idx="2"/>
              <a:endCxn id="53" idx="6"/>
            </p:cNvCxnSpPr>
            <p:nvPr/>
          </p:nvCxnSpPr>
          <p:spPr>
            <a:xfrm flipH="1">
              <a:off x="895909" y="1844703"/>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B08CD43B-5766-465B-941B-0A23E62EB38E}"/>
                </a:ext>
              </a:extLst>
            </p:cNvPr>
            <p:cNvCxnSpPr>
              <a:stCxn id="53" idx="5"/>
              <a:endCxn id="60" idx="1"/>
            </p:cNvCxnSpPr>
            <p:nvPr/>
          </p:nvCxnSpPr>
          <p:spPr>
            <a:xfrm>
              <a:off x="874110" y="2046188"/>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94" name="Oval 93">
              <a:extLst>
                <a:ext uri="{FF2B5EF4-FFF2-40B4-BE49-F238E27FC236}">
                  <a16:creationId xmlns:a16="http://schemas.microsoft.com/office/drawing/2014/main" id="{FEBC11E4-669A-4F94-9A00-52690A28071A}"/>
                </a:ext>
              </a:extLst>
            </p:cNvPr>
            <p:cNvSpPr/>
            <p:nvPr/>
          </p:nvSpPr>
          <p:spPr>
            <a:xfrm>
              <a:off x="2012635" y="169699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090BE794-5B1F-4102-9174-27948D8CFBC8}"/>
                </a:ext>
              </a:extLst>
            </p:cNvPr>
            <p:cNvSpPr/>
            <p:nvPr/>
          </p:nvSpPr>
          <p:spPr>
            <a:xfrm>
              <a:off x="2279057" y="1473711"/>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37539AB6-E4F5-4AD1-982B-C28388656F5C}"/>
                </a:ext>
              </a:extLst>
            </p:cNvPr>
            <p:cNvSpPr/>
            <p:nvPr/>
          </p:nvSpPr>
          <p:spPr>
            <a:xfrm>
              <a:off x="2568670" y="154813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29FB976F-6F76-43CD-852D-6033420627CF}"/>
                </a:ext>
              </a:extLst>
            </p:cNvPr>
            <p:cNvSpPr/>
            <p:nvPr/>
          </p:nvSpPr>
          <p:spPr>
            <a:xfrm>
              <a:off x="2728870" y="1771423"/>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4F8D4CCC-89F7-4C41-A393-A5A1A6F09E6D}"/>
                </a:ext>
              </a:extLst>
            </p:cNvPr>
            <p:cNvSpPr/>
            <p:nvPr/>
          </p:nvSpPr>
          <p:spPr>
            <a:xfrm>
              <a:off x="2076635" y="1968176"/>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138F5A2B-172D-4614-BA20-A470E99C98CA}"/>
                </a:ext>
              </a:extLst>
            </p:cNvPr>
            <p:cNvSpPr/>
            <p:nvPr/>
          </p:nvSpPr>
          <p:spPr>
            <a:xfrm>
              <a:off x="2353485" y="2084628"/>
              <a:ext cx="148856" cy="148856"/>
            </a:xfrm>
            <a:prstGeom prst="ellipse">
              <a:avLst/>
            </a:prstGeom>
            <a:solidFill>
              <a:schemeClr val="accent4">
                <a:lumMod val="60000"/>
                <a:lumOff val="4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083D0CA1-E1F9-4633-A4EA-D2AC765E1760}"/>
                </a:ext>
              </a:extLst>
            </p:cNvPr>
            <p:cNvSpPr/>
            <p:nvPr/>
          </p:nvSpPr>
          <p:spPr>
            <a:xfrm>
              <a:off x="2634389" y="2010200"/>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01" name="Straight Connector 100">
              <a:extLst>
                <a:ext uri="{FF2B5EF4-FFF2-40B4-BE49-F238E27FC236}">
                  <a16:creationId xmlns:a16="http://schemas.microsoft.com/office/drawing/2014/main" id="{613F33DC-E799-4341-844A-6AF82B54227D}"/>
                </a:ext>
              </a:extLst>
            </p:cNvPr>
            <p:cNvCxnSpPr>
              <a:stCxn id="95" idx="4"/>
              <a:endCxn id="99" idx="0"/>
            </p:cNvCxnSpPr>
            <p:nvPr/>
          </p:nvCxnSpPr>
          <p:spPr>
            <a:xfrm>
              <a:off x="2353485" y="1622567"/>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DCF2E83-4551-4EAA-AB45-5BC4940BAA27}"/>
                </a:ext>
              </a:extLst>
            </p:cNvPr>
            <p:cNvCxnSpPr>
              <a:stCxn id="94" idx="6"/>
              <a:endCxn id="100" idx="1"/>
            </p:cNvCxnSpPr>
            <p:nvPr/>
          </p:nvCxnSpPr>
          <p:spPr>
            <a:xfrm>
              <a:off x="2161491" y="1771423"/>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C1D51D7C-A815-4F6A-A97C-8443AAB17A01}"/>
                </a:ext>
              </a:extLst>
            </p:cNvPr>
            <p:cNvCxnSpPr>
              <a:stCxn id="98" idx="7"/>
              <a:endCxn id="96" idx="2"/>
            </p:cNvCxnSpPr>
            <p:nvPr/>
          </p:nvCxnSpPr>
          <p:spPr>
            <a:xfrm flipV="1">
              <a:off x="2203692" y="1622567"/>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E9F67B1F-04E2-4125-804A-DC5C6943AE7F}"/>
                </a:ext>
              </a:extLst>
            </p:cNvPr>
            <p:cNvCxnSpPr>
              <a:cxnSpLocks/>
              <a:stCxn id="94" idx="6"/>
              <a:endCxn id="97" idx="2"/>
            </p:cNvCxnSpPr>
            <p:nvPr/>
          </p:nvCxnSpPr>
          <p:spPr>
            <a:xfrm>
              <a:off x="2161491" y="1771423"/>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5B8B33A4-4C48-4656-B8D3-09413492E228}"/>
                </a:ext>
              </a:extLst>
            </p:cNvPr>
            <p:cNvCxnSpPr>
              <a:stCxn id="94" idx="0"/>
              <a:endCxn id="95" idx="2"/>
            </p:cNvCxnSpPr>
            <p:nvPr/>
          </p:nvCxnSpPr>
          <p:spPr>
            <a:xfrm flipV="1">
              <a:off x="2087063" y="1548139"/>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8C545657-66DE-4EC9-A2BE-614CF1A9FDB6}"/>
                </a:ext>
              </a:extLst>
            </p:cNvPr>
            <p:cNvCxnSpPr>
              <a:stCxn id="95" idx="7"/>
              <a:endCxn id="96" idx="0"/>
            </p:cNvCxnSpPr>
            <p:nvPr/>
          </p:nvCxnSpPr>
          <p:spPr>
            <a:xfrm>
              <a:off x="2406114" y="1495510"/>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71F0310-6719-4844-AEB4-C9B79BD75BF5}"/>
                </a:ext>
              </a:extLst>
            </p:cNvPr>
            <p:cNvCxnSpPr>
              <a:stCxn id="96" idx="5"/>
              <a:endCxn id="97" idx="1"/>
            </p:cNvCxnSpPr>
            <p:nvPr/>
          </p:nvCxnSpPr>
          <p:spPr>
            <a:xfrm>
              <a:off x="2695727" y="1675196"/>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60991F21-5E47-418B-9AA5-6666597BD3C1}"/>
                </a:ext>
              </a:extLst>
            </p:cNvPr>
            <p:cNvCxnSpPr>
              <a:stCxn id="97" idx="4"/>
              <a:endCxn id="100" idx="7"/>
            </p:cNvCxnSpPr>
            <p:nvPr/>
          </p:nvCxnSpPr>
          <p:spPr>
            <a:xfrm flipH="1">
              <a:off x="2761446" y="1920279"/>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35E5798-F53F-4696-837F-AF22DBC80350}"/>
                </a:ext>
              </a:extLst>
            </p:cNvPr>
            <p:cNvCxnSpPr>
              <a:stCxn id="100" idx="4"/>
              <a:endCxn id="99" idx="6"/>
            </p:cNvCxnSpPr>
            <p:nvPr/>
          </p:nvCxnSpPr>
          <p:spPr>
            <a:xfrm flipH="1">
              <a:off x="2502341" y="2159056"/>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27539D35-0302-4D76-B819-02436700F2F3}"/>
                </a:ext>
              </a:extLst>
            </p:cNvPr>
            <p:cNvCxnSpPr>
              <a:stCxn id="98" idx="4"/>
              <a:endCxn id="99" idx="2"/>
            </p:cNvCxnSpPr>
            <p:nvPr/>
          </p:nvCxnSpPr>
          <p:spPr>
            <a:xfrm>
              <a:off x="2151063" y="2117032"/>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75A493D-8948-4909-AFAE-A395FDFFE94C}"/>
                </a:ext>
              </a:extLst>
            </p:cNvPr>
            <p:cNvCxnSpPr>
              <a:stCxn id="94" idx="4"/>
              <a:endCxn id="98" idx="1"/>
            </p:cNvCxnSpPr>
            <p:nvPr/>
          </p:nvCxnSpPr>
          <p:spPr>
            <a:xfrm>
              <a:off x="2087063" y="1845851"/>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530FB013-0EC8-44BC-B8AF-5AC57E125779}"/>
                </a:ext>
              </a:extLst>
            </p:cNvPr>
            <p:cNvCxnSpPr>
              <a:stCxn id="96" idx="3"/>
              <a:endCxn id="99" idx="0"/>
            </p:cNvCxnSpPr>
            <p:nvPr/>
          </p:nvCxnSpPr>
          <p:spPr>
            <a:xfrm flipH="1">
              <a:off x="2427913" y="1675196"/>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9DEA97E0-3580-4215-80E8-5ABC8A877FED}"/>
                </a:ext>
              </a:extLst>
            </p:cNvPr>
            <p:cNvCxnSpPr>
              <a:stCxn id="95" idx="4"/>
              <a:endCxn id="100" idx="1"/>
            </p:cNvCxnSpPr>
            <p:nvPr/>
          </p:nvCxnSpPr>
          <p:spPr>
            <a:xfrm>
              <a:off x="2353485" y="1622567"/>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B5AB5E93-4953-41C7-8213-4E1B9B7B4BEA}"/>
                </a:ext>
              </a:extLst>
            </p:cNvPr>
            <p:cNvCxnSpPr>
              <a:stCxn id="95" idx="4"/>
              <a:endCxn id="98" idx="7"/>
            </p:cNvCxnSpPr>
            <p:nvPr/>
          </p:nvCxnSpPr>
          <p:spPr>
            <a:xfrm flipH="1">
              <a:off x="2203692" y="1622567"/>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D1ED8708-54B6-4075-A355-E4DE75608CEB}"/>
                </a:ext>
              </a:extLst>
            </p:cNvPr>
            <p:cNvCxnSpPr>
              <a:stCxn id="98" idx="7"/>
              <a:endCxn id="100" idx="1"/>
            </p:cNvCxnSpPr>
            <p:nvPr/>
          </p:nvCxnSpPr>
          <p:spPr>
            <a:xfrm>
              <a:off x="2203692" y="1989975"/>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21FC57DB-D553-417E-AE08-C26191C46C50}"/>
                </a:ext>
              </a:extLst>
            </p:cNvPr>
            <p:cNvCxnSpPr>
              <a:cxnSpLocks/>
              <a:stCxn id="96" idx="2"/>
              <a:endCxn id="94" idx="6"/>
            </p:cNvCxnSpPr>
            <p:nvPr/>
          </p:nvCxnSpPr>
          <p:spPr>
            <a:xfrm flipH="1">
              <a:off x="2161491" y="1622567"/>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E3C237EE-E59E-46C5-80FD-38879C3374B0}"/>
                </a:ext>
              </a:extLst>
            </p:cNvPr>
            <p:cNvCxnSpPr>
              <a:stCxn id="94" idx="5"/>
              <a:endCxn id="99" idx="1"/>
            </p:cNvCxnSpPr>
            <p:nvPr/>
          </p:nvCxnSpPr>
          <p:spPr>
            <a:xfrm>
              <a:off x="2139692" y="1824052"/>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118" name="Oval 117">
              <a:extLst>
                <a:ext uri="{FF2B5EF4-FFF2-40B4-BE49-F238E27FC236}">
                  <a16:creationId xmlns:a16="http://schemas.microsoft.com/office/drawing/2014/main" id="{E1A97AA3-9E33-49CE-9F64-7749463E765A}"/>
                </a:ext>
              </a:extLst>
            </p:cNvPr>
            <p:cNvSpPr/>
            <p:nvPr/>
          </p:nvSpPr>
          <p:spPr>
            <a:xfrm>
              <a:off x="2902832" y="2361352"/>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9EA3BB73-D104-4730-87C6-9577E4F9508A}"/>
                </a:ext>
              </a:extLst>
            </p:cNvPr>
            <p:cNvSpPr/>
            <p:nvPr/>
          </p:nvSpPr>
          <p:spPr>
            <a:xfrm>
              <a:off x="3169254" y="2138068"/>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FAEEABD8-1979-4EC6-BF12-F3AD2993D943}"/>
                </a:ext>
              </a:extLst>
            </p:cNvPr>
            <p:cNvSpPr/>
            <p:nvPr/>
          </p:nvSpPr>
          <p:spPr>
            <a:xfrm>
              <a:off x="3458867" y="2212496"/>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C915D34C-3B5F-4D37-8C52-292396073D21}"/>
                </a:ext>
              </a:extLst>
            </p:cNvPr>
            <p:cNvSpPr/>
            <p:nvPr/>
          </p:nvSpPr>
          <p:spPr>
            <a:xfrm>
              <a:off x="3619067" y="2435780"/>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936CE5B0-6036-4EB7-AD0C-D631E27488C3}"/>
                </a:ext>
              </a:extLst>
            </p:cNvPr>
            <p:cNvSpPr/>
            <p:nvPr/>
          </p:nvSpPr>
          <p:spPr>
            <a:xfrm>
              <a:off x="2966832" y="2632533"/>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709C06ED-47EE-4E36-AB87-81BB2D8A9073}"/>
                </a:ext>
              </a:extLst>
            </p:cNvPr>
            <p:cNvSpPr/>
            <p:nvPr/>
          </p:nvSpPr>
          <p:spPr>
            <a:xfrm>
              <a:off x="3243682" y="274898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472DE6DA-BD4D-41F8-9DB2-CB85B791474E}"/>
                </a:ext>
              </a:extLst>
            </p:cNvPr>
            <p:cNvSpPr/>
            <p:nvPr/>
          </p:nvSpPr>
          <p:spPr>
            <a:xfrm>
              <a:off x="3524586" y="267455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25" name="Straight Connector 124">
              <a:extLst>
                <a:ext uri="{FF2B5EF4-FFF2-40B4-BE49-F238E27FC236}">
                  <a16:creationId xmlns:a16="http://schemas.microsoft.com/office/drawing/2014/main" id="{F8311790-EF8C-4096-835D-9BFBB3494EB9}"/>
                </a:ext>
              </a:extLst>
            </p:cNvPr>
            <p:cNvCxnSpPr>
              <a:stCxn id="119" idx="4"/>
              <a:endCxn id="123" idx="0"/>
            </p:cNvCxnSpPr>
            <p:nvPr/>
          </p:nvCxnSpPr>
          <p:spPr>
            <a:xfrm>
              <a:off x="3243682" y="2286924"/>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ACA36487-CB39-4436-BEB8-DF95AF3C7618}"/>
                </a:ext>
              </a:extLst>
            </p:cNvPr>
            <p:cNvCxnSpPr>
              <a:stCxn id="118" idx="6"/>
              <a:endCxn id="124" idx="1"/>
            </p:cNvCxnSpPr>
            <p:nvPr/>
          </p:nvCxnSpPr>
          <p:spPr>
            <a:xfrm>
              <a:off x="3051688" y="2435780"/>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E39A247A-70B4-4831-BD12-7197B08F975C}"/>
                </a:ext>
              </a:extLst>
            </p:cNvPr>
            <p:cNvCxnSpPr>
              <a:stCxn id="122" idx="7"/>
              <a:endCxn id="120" idx="2"/>
            </p:cNvCxnSpPr>
            <p:nvPr/>
          </p:nvCxnSpPr>
          <p:spPr>
            <a:xfrm flipV="1">
              <a:off x="3093889" y="2286924"/>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38064706-853D-4B4A-8D3E-82A8128452C6}"/>
                </a:ext>
              </a:extLst>
            </p:cNvPr>
            <p:cNvCxnSpPr>
              <a:cxnSpLocks/>
              <a:stCxn id="118" idx="6"/>
              <a:endCxn id="121" idx="2"/>
            </p:cNvCxnSpPr>
            <p:nvPr/>
          </p:nvCxnSpPr>
          <p:spPr>
            <a:xfrm>
              <a:off x="3051688" y="2435780"/>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071438DA-EB28-4823-A27F-3CD79BD6D264}"/>
                </a:ext>
              </a:extLst>
            </p:cNvPr>
            <p:cNvCxnSpPr>
              <a:stCxn id="118" idx="0"/>
              <a:endCxn id="119" idx="2"/>
            </p:cNvCxnSpPr>
            <p:nvPr/>
          </p:nvCxnSpPr>
          <p:spPr>
            <a:xfrm flipV="1">
              <a:off x="2977260" y="2212496"/>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85222E84-35FA-4174-B21F-A0CD00BB46AD}"/>
                </a:ext>
              </a:extLst>
            </p:cNvPr>
            <p:cNvCxnSpPr>
              <a:stCxn id="119" idx="7"/>
              <a:endCxn id="120" idx="0"/>
            </p:cNvCxnSpPr>
            <p:nvPr/>
          </p:nvCxnSpPr>
          <p:spPr>
            <a:xfrm>
              <a:off x="3296311" y="2159867"/>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0B3B8670-8AED-4F82-9011-C0DB660F9B2C}"/>
                </a:ext>
              </a:extLst>
            </p:cNvPr>
            <p:cNvCxnSpPr>
              <a:stCxn id="120" idx="5"/>
              <a:endCxn id="121" idx="1"/>
            </p:cNvCxnSpPr>
            <p:nvPr/>
          </p:nvCxnSpPr>
          <p:spPr>
            <a:xfrm>
              <a:off x="3585924" y="2339553"/>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C37C227D-58EB-4E1B-BF19-E3A384C9B823}"/>
                </a:ext>
              </a:extLst>
            </p:cNvPr>
            <p:cNvCxnSpPr>
              <a:stCxn id="121" idx="4"/>
              <a:endCxn id="124" idx="7"/>
            </p:cNvCxnSpPr>
            <p:nvPr/>
          </p:nvCxnSpPr>
          <p:spPr>
            <a:xfrm flipH="1">
              <a:off x="3651643" y="2584636"/>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01B47C64-9482-4B0C-8FC1-45EB581C999E}"/>
                </a:ext>
              </a:extLst>
            </p:cNvPr>
            <p:cNvCxnSpPr>
              <a:stCxn id="124" idx="4"/>
              <a:endCxn id="123" idx="6"/>
            </p:cNvCxnSpPr>
            <p:nvPr/>
          </p:nvCxnSpPr>
          <p:spPr>
            <a:xfrm flipH="1">
              <a:off x="3392538" y="2823413"/>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495E1769-8E6D-47D8-B3FC-740FC62B0D54}"/>
                </a:ext>
              </a:extLst>
            </p:cNvPr>
            <p:cNvCxnSpPr>
              <a:stCxn id="122" idx="4"/>
              <a:endCxn id="123" idx="2"/>
            </p:cNvCxnSpPr>
            <p:nvPr/>
          </p:nvCxnSpPr>
          <p:spPr>
            <a:xfrm>
              <a:off x="3041260" y="2781389"/>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72AAD59-97FB-46A7-B2E9-6738FE9E1123}"/>
                </a:ext>
              </a:extLst>
            </p:cNvPr>
            <p:cNvCxnSpPr>
              <a:stCxn id="118" idx="4"/>
              <a:endCxn id="122" idx="1"/>
            </p:cNvCxnSpPr>
            <p:nvPr/>
          </p:nvCxnSpPr>
          <p:spPr>
            <a:xfrm>
              <a:off x="2977260" y="2510208"/>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3D468A84-F905-42A6-9F9E-E008DDB061E2}"/>
                </a:ext>
              </a:extLst>
            </p:cNvPr>
            <p:cNvCxnSpPr>
              <a:stCxn id="120" idx="3"/>
              <a:endCxn id="123" idx="0"/>
            </p:cNvCxnSpPr>
            <p:nvPr/>
          </p:nvCxnSpPr>
          <p:spPr>
            <a:xfrm flipH="1">
              <a:off x="3318110" y="2339553"/>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704E4E51-62D5-4432-A3BA-9977092C05C3}"/>
                </a:ext>
              </a:extLst>
            </p:cNvPr>
            <p:cNvCxnSpPr>
              <a:stCxn id="119" idx="4"/>
              <a:endCxn id="124" idx="1"/>
            </p:cNvCxnSpPr>
            <p:nvPr/>
          </p:nvCxnSpPr>
          <p:spPr>
            <a:xfrm>
              <a:off x="3243682" y="2286924"/>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26EEC60F-5CA9-4AC3-8A84-D396731632D8}"/>
                </a:ext>
              </a:extLst>
            </p:cNvPr>
            <p:cNvCxnSpPr>
              <a:stCxn id="119" idx="4"/>
              <a:endCxn id="122" idx="7"/>
            </p:cNvCxnSpPr>
            <p:nvPr/>
          </p:nvCxnSpPr>
          <p:spPr>
            <a:xfrm flipH="1">
              <a:off x="3093889" y="2286924"/>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101931B7-4B7F-4FF8-949E-F2A425F8ED73}"/>
                </a:ext>
              </a:extLst>
            </p:cNvPr>
            <p:cNvCxnSpPr>
              <a:stCxn id="122" idx="7"/>
              <a:endCxn id="124" idx="1"/>
            </p:cNvCxnSpPr>
            <p:nvPr/>
          </p:nvCxnSpPr>
          <p:spPr>
            <a:xfrm>
              <a:off x="3093889" y="2654332"/>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3EB1A2A7-139F-4882-B9F1-82AA54F856BB}"/>
                </a:ext>
              </a:extLst>
            </p:cNvPr>
            <p:cNvCxnSpPr>
              <a:cxnSpLocks/>
              <a:stCxn id="120" idx="2"/>
              <a:endCxn id="118" idx="6"/>
            </p:cNvCxnSpPr>
            <p:nvPr/>
          </p:nvCxnSpPr>
          <p:spPr>
            <a:xfrm flipH="1">
              <a:off x="3051688" y="2286924"/>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D45B14D7-609D-4E7B-8E95-DBAE657FEC6D}"/>
                </a:ext>
              </a:extLst>
            </p:cNvPr>
            <p:cNvCxnSpPr>
              <a:stCxn id="118" idx="5"/>
              <a:endCxn id="123" idx="1"/>
            </p:cNvCxnSpPr>
            <p:nvPr/>
          </p:nvCxnSpPr>
          <p:spPr>
            <a:xfrm>
              <a:off x="3029889" y="2488409"/>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142" name="Oval 141">
              <a:extLst>
                <a:ext uri="{FF2B5EF4-FFF2-40B4-BE49-F238E27FC236}">
                  <a16:creationId xmlns:a16="http://schemas.microsoft.com/office/drawing/2014/main" id="{4B6758E1-4099-4C06-A127-EB5AA713B75C}"/>
                </a:ext>
              </a:extLst>
            </p:cNvPr>
            <p:cNvSpPr/>
            <p:nvPr/>
          </p:nvSpPr>
          <p:spPr>
            <a:xfrm>
              <a:off x="403874" y="297226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1BF01DA9-D32F-4BFE-A626-0679E463286D}"/>
                </a:ext>
              </a:extLst>
            </p:cNvPr>
            <p:cNvSpPr/>
            <p:nvPr/>
          </p:nvSpPr>
          <p:spPr>
            <a:xfrm>
              <a:off x="670296" y="274898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BFFB7413-ADC0-4C15-9E6E-A8D02C0B9F45}"/>
                </a:ext>
              </a:extLst>
            </p:cNvPr>
            <p:cNvSpPr/>
            <p:nvPr/>
          </p:nvSpPr>
          <p:spPr>
            <a:xfrm>
              <a:off x="959909" y="2823413"/>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3D870139-54DD-44A2-AC96-3A7442EE2A3F}"/>
                </a:ext>
              </a:extLst>
            </p:cNvPr>
            <p:cNvSpPr/>
            <p:nvPr/>
          </p:nvSpPr>
          <p:spPr>
            <a:xfrm>
              <a:off x="1120109" y="304669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5EB795B2-6125-42D8-B92B-EC37F3EE0598}"/>
                </a:ext>
              </a:extLst>
            </p:cNvPr>
            <p:cNvSpPr/>
            <p:nvPr/>
          </p:nvSpPr>
          <p:spPr>
            <a:xfrm>
              <a:off x="467874" y="3243450"/>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9C5B02EF-46DA-4FB3-9909-493110091DA9}"/>
                </a:ext>
              </a:extLst>
            </p:cNvPr>
            <p:cNvSpPr/>
            <p:nvPr/>
          </p:nvSpPr>
          <p:spPr>
            <a:xfrm>
              <a:off x="744724" y="3359902"/>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8" name="Oval 147">
              <a:extLst>
                <a:ext uri="{FF2B5EF4-FFF2-40B4-BE49-F238E27FC236}">
                  <a16:creationId xmlns:a16="http://schemas.microsoft.com/office/drawing/2014/main" id="{E36CAC51-0ACE-438E-8CA1-9C3D09415216}"/>
                </a:ext>
              </a:extLst>
            </p:cNvPr>
            <p:cNvSpPr/>
            <p:nvPr/>
          </p:nvSpPr>
          <p:spPr>
            <a:xfrm>
              <a:off x="1025628" y="3285474"/>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49" name="Straight Connector 148">
              <a:extLst>
                <a:ext uri="{FF2B5EF4-FFF2-40B4-BE49-F238E27FC236}">
                  <a16:creationId xmlns:a16="http://schemas.microsoft.com/office/drawing/2014/main" id="{30330427-94F9-410A-9EB7-7BEB359D00FD}"/>
                </a:ext>
              </a:extLst>
            </p:cNvPr>
            <p:cNvCxnSpPr>
              <a:stCxn id="143" idx="4"/>
              <a:endCxn id="147" idx="0"/>
            </p:cNvCxnSpPr>
            <p:nvPr/>
          </p:nvCxnSpPr>
          <p:spPr>
            <a:xfrm>
              <a:off x="744724" y="2897841"/>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9F6E2D64-FF0C-4204-90FF-9035FCB2FD3A}"/>
                </a:ext>
              </a:extLst>
            </p:cNvPr>
            <p:cNvCxnSpPr>
              <a:stCxn id="142" idx="6"/>
              <a:endCxn id="148" idx="1"/>
            </p:cNvCxnSpPr>
            <p:nvPr/>
          </p:nvCxnSpPr>
          <p:spPr>
            <a:xfrm>
              <a:off x="552730" y="3046697"/>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E93CF906-21ED-4AEF-8516-DB0119C26D86}"/>
                </a:ext>
              </a:extLst>
            </p:cNvPr>
            <p:cNvCxnSpPr>
              <a:stCxn id="146" idx="7"/>
              <a:endCxn id="144" idx="2"/>
            </p:cNvCxnSpPr>
            <p:nvPr/>
          </p:nvCxnSpPr>
          <p:spPr>
            <a:xfrm flipV="1">
              <a:off x="594931" y="2897841"/>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56150858-6A82-4775-8F71-B011E12216D6}"/>
                </a:ext>
              </a:extLst>
            </p:cNvPr>
            <p:cNvCxnSpPr>
              <a:cxnSpLocks/>
              <a:stCxn id="142" idx="6"/>
              <a:endCxn id="145" idx="2"/>
            </p:cNvCxnSpPr>
            <p:nvPr/>
          </p:nvCxnSpPr>
          <p:spPr>
            <a:xfrm>
              <a:off x="552730" y="3046697"/>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A08BBB29-0DD8-4E3E-A842-E7405BC64F87}"/>
                </a:ext>
              </a:extLst>
            </p:cNvPr>
            <p:cNvCxnSpPr>
              <a:stCxn id="142" idx="0"/>
              <a:endCxn id="143" idx="2"/>
            </p:cNvCxnSpPr>
            <p:nvPr/>
          </p:nvCxnSpPr>
          <p:spPr>
            <a:xfrm flipV="1">
              <a:off x="478302" y="2823413"/>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74E43BD5-C3CB-4527-9633-3F22F723DEAE}"/>
                </a:ext>
              </a:extLst>
            </p:cNvPr>
            <p:cNvCxnSpPr>
              <a:stCxn id="143" idx="7"/>
              <a:endCxn id="144" idx="0"/>
            </p:cNvCxnSpPr>
            <p:nvPr/>
          </p:nvCxnSpPr>
          <p:spPr>
            <a:xfrm>
              <a:off x="797353" y="2770784"/>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B022925A-538E-49D0-8DEF-AB7CE52AA96F}"/>
                </a:ext>
              </a:extLst>
            </p:cNvPr>
            <p:cNvCxnSpPr>
              <a:stCxn id="144" idx="5"/>
              <a:endCxn id="145" idx="1"/>
            </p:cNvCxnSpPr>
            <p:nvPr/>
          </p:nvCxnSpPr>
          <p:spPr>
            <a:xfrm>
              <a:off x="1086966" y="2950470"/>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E33E53B3-9CFA-4096-8E8B-2AF28CAAE758}"/>
                </a:ext>
              </a:extLst>
            </p:cNvPr>
            <p:cNvCxnSpPr>
              <a:stCxn id="145" idx="4"/>
              <a:endCxn id="148" idx="7"/>
            </p:cNvCxnSpPr>
            <p:nvPr/>
          </p:nvCxnSpPr>
          <p:spPr>
            <a:xfrm flipH="1">
              <a:off x="1152685" y="3195553"/>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0E977FDF-B436-4F6E-8220-377DE244C93C}"/>
                </a:ext>
              </a:extLst>
            </p:cNvPr>
            <p:cNvCxnSpPr>
              <a:stCxn id="148" idx="4"/>
              <a:endCxn id="147" idx="6"/>
            </p:cNvCxnSpPr>
            <p:nvPr/>
          </p:nvCxnSpPr>
          <p:spPr>
            <a:xfrm flipH="1">
              <a:off x="893580" y="3434330"/>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014934E2-E090-4255-9EAF-2831BE184313}"/>
                </a:ext>
              </a:extLst>
            </p:cNvPr>
            <p:cNvCxnSpPr>
              <a:stCxn id="146" idx="4"/>
              <a:endCxn id="147" idx="2"/>
            </p:cNvCxnSpPr>
            <p:nvPr/>
          </p:nvCxnSpPr>
          <p:spPr>
            <a:xfrm>
              <a:off x="542302" y="3392306"/>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FCE047D3-C229-4FE6-8958-189C3999A11A}"/>
                </a:ext>
              </a:extLst>
            </p:cNvPr>
            <p:cNvCxnSpPr>
              <a:stCxn id="142" idx="4"/>
              <a:endCxn id="146" idx="1"/>
            </p:cNvCxnSpPr>
            <p:nvPr/>
          </p:nvCxnSpPr>
          <p:spPr>
            <a:xfrm>
              <a:off x="478302" y="3121125"/>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FA1ED031-C4AD-4AFC-8DC2-C17FC998B3C3}"/>
                </a:ext>
              </a:extLst>
            </p:cNvPr>
            <p:cNvCxnSpPr>
              <a:stCxn id="144" idx="3"/>
              <a:endCxn id="147" idx="0"/>
            </p:cNvCxnSpPr>
            <p:nvPr/>
          </p:nvCxnSpPr>
          <p:spPr>
            <a:xfrm flipH="1">
              <a:off x="819152" y="2950470"/>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8CC61E01-1244-4CDB-A8BE-3CE4E8BB5545}"/>
                </a:ext>
              </a:extLst>
            </p:cNvPr>
            <p:cNvCxnSpPr>
              <a:stCxn id="143" idx="4"/>
              <a:endCxn id="148" idx="1"/>
            </p:cNvCxnSpPr>
            <p:nvPr/>
          </p:nvCxnSpPr>
          <p:spPr>
            <a:xfrm>
              <a:off x="744724" y="2897841"/>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F11F5E1D-6478-493A-B131-D3DF0767F71F}"/>
                </a:ext>
              </a:extLst>
            </p:cNvPr>
            <p:cNvCxnSpPr>
              <a:stCxn id="143" idx="4"/>
              <a:endCxn id="146" idx="7"/>
            </p:cNvCxnSpPr>
            <p:nvPr/>
          </p:nvCxnSpPr>
          <p:spPr>
            <a:xfrm flipH="1">
              <a:off x="594931" y="2897841"/>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1A492A4E-F24F-4577-9D71-D0EAF452E353}"/>
                </a:ext>
              </a:extLst>
            </p:cNvPr>
            <p:cNvCxnSpPr>
              <a:stCxn id="146" idx="7"/>
              <a:endCxn id="148" idx="1"/>
            </p:cNvCxnSpPr>
            <p:nvPr/>
          </p:nvCxnSpPr>
          <p:spPr>
            <a:xfrm>
              <a:off x="594931" y="3265249"/>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0BB35F99-4157-4FAC-B83F-7C71CFC5285D}"/>
                </a:ext>
              </a:extLst>
            </p:cNvPr>
            <p:cNvCxnSpPr>
              <a:cxnSpLocks/>
              <a:stCxn id="144" idx="2"/>
              <a:endCxn id="142" idx="6"/>
            </p:cNvCxnSpPr>
            <p:nvPr/>
          </p:nvCxnSpPr>
          <p:spPr>
            <a:xfrm flipH="1">
              <a:off x="552730" y="2897841"/>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7EC3CB54-B105-4E30-9531-28E7464DA6B9}"/>
                </a:ext>
              </a:extLst>
            </p:cNvPr>
            <p:cNvCxnSpPr>
              <a:stCxn id="142" idx="5"/>
              <a:endCxn id="147" idx="1"/>
            </p:cNvCxnSpPr>
            <p:nvPr/>
          </p:nvCxnSpPr>
          <p:spPr>
            <a:xfrm>
              <a:off x="530931" y="3099326"/>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166" name="Oval 165">
              <a:extLst>
                <a:ext uri="{FF2B5EF4-FFF2-40B4-BE49-F238E27FC236}">
                  <a16:creationId xmlns:a16="http://schemas.microsoft.com/office/drawing/2014/main" id="{28D0F551-89BD-457E-9CC8-71D65CFF32C8}"/>
                </a:ext>
              </a:extLst>
            </p:cNvPr>
            <p:cNvSpPr/>
            <p:nvPr/>
          </p:nvSpPr>
          <p:spPr>
            <a:xfrm>
              <a:off x="1037287" y="3957284"/>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E5C81037-956E-4167-AF5A-EA35F3E478FF}"/>
                </a:ext>
              </a:extLst>
            </p:cNvPr>
            <p:cNvSpPr/>
            <p:nvPr/>
          </p:nvSpPr>
          <p:spPr>
            <a:xfrm>
              <a:off x="1303709" y="3734000"/>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68" name="Oval 167">
              <a:extLst>
                <a:ext uri="{FF2B5EF4-FFF2-40B4-BE49-F238E27FC236}">
                  <a16:creationId xmlns:a16="http://schemas.microsoft.com/office/drawing/2014/main" id="{27C9F455-BAB4-4C31-ADBA-C131E848DB04}"/>
                </a:ext>
              </a:extLst>
            </p:cNvPr>
            <p:cNvSpPr/>
            <p:nvPr/>
          </p:nvSpPr>
          <p:spPr>
            <a:xfrm>
              <a:off x="1593322" y="3808428"/>
              <a:ext cx="148856" cy="148856"/>
            </a:xfrm>
            <a:prstGeom prst="ellipse">
              <a:avLst/>
            </a:prstGeom>
            <a:solidFill>
              <a:schemeClr val="accent4">
                <a:lumMod val="60000"/>
                <a:lumOff val="4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69" name="Oval 168">
              <a:extLst>
                <a:ext uri="{FF2B5EF4-FFF2-40B4-BE49-F238E27FC236}">
                  <a16:creationId xmlns:a16="http://schemas.microsoft.com/office/drawing/2014/main" id="{9FF271B8-07D4-491C-B7B2-41AB08DF88A1}"/>
                </a:ext>
              </a:extLst>
            </p:cNvPr>
            <p:cNvSpPr/>
            <p:nvPr/>
          </p:nvSpPr>
          <p:spPr>
            <a:xfrm>
              <a:off x="1753522" y="4031712"/>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70" name="Oval 169">
              <a:extLst>
                <a:ext uri="{FF2B5EF4-FFF2-40B4-BE49-F238E27FC236}">
                  <a16:creationId xmlns:a16="http://schemas.microsoft.com/office/drawing/2014/main" id="{855D804F-7B71-490F-9193-CFFEFB674021}"/>
                </a:ext>
              </a:extLst>
            </p:cNvPr>
            <p:cNvSpPr/>
            <p:nvPr/>
          </p:nvSpPr>
          <p:spPr>
            <a:xfrm>
              <a:off x="1101287" y="422846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71" name="Oval 170">
              <a:extLst>
                <a:ext uri="{FF2B5EF4-FFF2-40B4-BE49-F238E27FC236}">
                  <a16:creationId xmlns:a16="http://schemas.microsoft.com/office/drawing/2014/main" id="{CFD14AE7-3ADD-47A0-9752-CC59C8C75007}"/>
                </a:ext>
              </a:extLst>
            </p:cNvPr>
            <p:cNvSpPr/>
            <p:nvPr/>
          </p:nvSpPr>
          <p:spPr>
            <a:xfrm>
              <a:off x="1378137" y="434491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72" name="Oval 171">
              <a:extLst>
                <a:ext uri="{FF2B5EF4-FFF2-40B4-BE49-F238E27FC236}">
                  <a16:creationId xmlns:a16="http://schemas.microsoft.com/office/drawing/2014/main" id="{F20717A6-694F-4D64-A6B2-D3DDA1902296}"/>
                </a:ext>
              </a:extLst>
            </p:cNvPr>
            <p:cNvSpPr/>
            <p:nvPr/>
          </p:nvSpPr>
          <p:spPr>
            <a:xfrm>
              <a:off x="1659041" y="427048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73" name="Straight Connector 172">
              <a:extLst>
                <a:ext uri="{FF2B5EF4-FFF2-40B4-BE49-F238E27FC236}">
                  <a16:creationId xmlns:a16="http://schemas.microsoft.com/office/drawing/2014/main" id="{EC6E3720-20B4-4D4D-9727-520E428CAC62}"/>
                </a:ext>
              </a:extLst>
            </p:cNvPr>
            <p:cNvCxnSpPr>
              <a:cxnSpLocks/>
              <a:stCxn id="167" idx="4"/>
              <a:endCxn id="171" idx="0"/>
            </p:cNvCxnSpPr>
            <p:nvPr/>
          </p:nvCxnSpPr>
          <p:spPr>
            <a:xfrm>
              <a:off x="1378137" y="3882856"/>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068575AC-98AE-4E73-8910-A6E338CF4B3D}"/>
                </a:ext>
              </a:extLst>
            </p:cNvPr>
            <p:cNvCxnSpPr>
              <a:cxnSpLocks/>
              <a:stCxn id="166" idx="6"/>
              <a:endCxn id="172" idx="1"/>
            </p:cNvCxnSpPr>
            <p:nvPr/>
          </p:nvCxnSpPr>
          <p:spPr>
            <a:xfrm>
              <a:off x="1186143" y="4031712"/>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9F57243C-C1DC-4D1E-AAD5-81BAE67DB63E}"/>
                </a:ext>
              </a:extLst>
            </p:cNvPr>
            <p:cNvCxnSpPr>
              <a:cxnSpLocks/>
              <a:stCxn id="170" idx="7"/>
              <a:endCxn id="168" idx="2"/>
            </p:cNvCxnSpPr>
            <p:nvPr/>
          </p:nvCxnSpPr>
          <p:spPr>
            <a:xfrm flipV="1">
              <a:off x="1228344" y="3882856"/>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4E9065E9-8D9F-49D5-BC5B-0450ECCE9BDD}"/>
                </a:ext>
              </a:extLst>
            </p:cNvPr>
            <p:cNvCxnSpPr>
              <a:cxnSpLocks/>
              <a:stCxn id="166" idx="6"/>
              <a:endCxn id="169" idx="2"/>
            </p:cNvCxnSpPr>
            <p:nvPr/>
          </p:nvCxnSpPr>
          <p:spPr>
            <a:xfrm>
              <a:off x="1186143" y="4031712"/>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EBA5E21A-1EFC-42CE-8277-D2E1D314A53D}"/>
                </a:ext>
              </a:extLst>
            </p:cNvPr>
            <p:cNvCxnSpPr>
              <a:cxnSpLocks/>
              <a:stCxn id="166" idx="0"/>
              <a:endCxn id="167" idx="2"/>
            </p:cNvCxnSpPr>
            <p:nvPr/>
          </p:nvCxnSpPr>
          <p:spPr>
            <a:xfrm flipV="1">
              <a:off x="1111715" y="3808428"/>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5E3E4873-B20F-442C-986B-BF3421FDA70A}"/>
                </a:ext>
              </a:extLst>
            </p:cNvPr>
            <p:cNvCxnSpPr>
              <a:cxnSpLocks/>
              <a:stCxn id="167" idx="7"/>
              <a:endCxn id="168" idx="0"/>
            </p:cNvCxnSpPr>
            <p:nvPr/>
          </p:nvCxnSpPr>
          <p:spPr>
            <a:xfrm>
              <a:off x="1430766" y="3755799"/>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96C74F51-77BE-4FAD-A347-8B5612FDC09B}"/>
                </a:ext>
              </a:extLst>
            </p:cNvPr>
            <p:cNvCxnSpPr>
              <a:cxnSpLocks/>
              <a:stCxn id="168" idx="5"/>
              <a:endCxn id="169" idx="1"/>
            </p:cNvCxnSpPr>
            <p:nvPr/>
          </p:nvCxnSpPr>
          <p:spPr>
            <a:xfrm>
              <a:off x="1720379" y="3935485"/>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7B80FEF5-3DB3-424D-BE48-04ECD0FFDD43}"/>
                </a:ext>
              </a:extLst>
            </p:cNvPr>
            <p:cNvCxnSpPr>
              <a:cxnSpLocks/>
              <a:stCxn id="169" idx="4"/>
              <a:endCxn id="172" idx="7"/>
            </p:cNvCxnSpPr>
            <p:nvPr/>
          </p:nvCxnSpPr>
          <p:spPr>
            <a:xfrm flipH="1">
              <a:off x="1786098" y="4180568"/>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C5307287-6DCF-428E-AE2A-397D2937E576}"/>
                </a:ext>
              </a:extLst>
            </p:cNvPr>
            <p:cNvCxnSpPr>
              <a:cxnSpLocks/>
              <a:stCxn id="172" idx="4"/>
              <a:endCxn id="171" idx="6"/>
            </p:cNvCxnSpPr>
            <p:nvPr/>
          </p:nvCxnSpPr>
          <p:spPr>
            <a:xfrm flipH="1">
              <a:off x="1526993" y="4419345"/>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1D226097-9E15-4849-A45B-6C87F1BBA7D4}"/>
                </a:ext>
              </a:extLst>
            </p:cNvPr>
            <p:cNvCxnSpPr>
              <a:cxnSpLocks/>
              <a:stCxn id="170" idx="4"/>
              <a:endCxn id="171" idx="2"/>
            </p:cNvCxnSpPr>
            <p:nvPr/>
          </p:nvCxnSpPr>
          <p:spPr>
            <a:xfrm>
              <a:off x="1175715" y="4377321"/>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2B0D0039-8B0F-4CCE-9571-9B4057C092AD}"/>
                </a:ext>
              </a:extLst>
            </p:cNvPr>
            <p:cNvCxnSpPr>
              <a:cxnSpLocks/>
              <a:stCxn id="166" idx="4"/>
              <a:endCxn id="170" idx="1"/>
            </p:cNvCxnSpPr>
            <p:nvPr/>
          </p:nvCxnSpPr>
          <p:spPr>
            <a:xfrm>
              <a:off x="1111715" y="4106140"/>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242A19AE-01F0-4B73-BC16-515B69D5E282}"/>
                </a:ext>
              </a:extLst>
            </p:cNvPr>
            <p:cNvCxnSpPr>
              <a:cxnSpLocks/>
              <a:stCxn id="168" idx="3"/>
              <a:endCxn id="171" idx="0"/>
            </p:cNvCxnSpPr>
            <p:nvPr/>
          </p:nvCxnSpPr>
          <p:spPr>
            <a:xfrm flipH="1">
              <a:off x="1452565" y="3935485"/>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3F31B9AF-C568-4C42-BDDA-1CF0765FDED8}"/>
                </a:ext>
              </a:extLst>
            </p:cNvPr>
            <p:cNvCxnSpPr>
              <a:cxnSpLocks/>
              <a:stCxn id="167" idx="4"/>
              <a:endCxn id="172" idx="1"/>
            </p:cNvCxnSpPr>
            <p:nvPr/>
          </p:nvCxnSpPr>
          <p:spPr>
            <a:xfrm>
              <a:off x="1378137" y="3882856"/>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2795B18F-8AE1-4012-9B55-4CEEBCBAB56A}"/>
                </a:ext>
              </a:extLst>
            </p:cNvPr>
            <p:cNvCxnSpPr>
              <a:cxnSpLocks/>
              <a:stCxn id="167" idx="4"/>
              <a:endCxn id="170" idx="7"/>
            </p:cNvCxnSpPr>
            <p:nvPr/>
          </p:nvCxnSpPr>
          <p:spPr>
            <a:xfrm flipH="1">
              <a:off x="1228344" y="3882856"/>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EF04A230-DEAA-4764-AE11-3CFE0D990AD0}"/>
                </a:ext>
              </a:extLst>
            </p:cNvPr>
            <p:cNvCxnSpPr>
              <a:cxnSpLocks/>
              <a:stCxn id="170" idx="7"/>
              <a:endCxn id="172" idx="1"/>
            </p:cNvCxnSpPr>
            <p:nvPr/>
          </p:nvCxnSpPr>
          <p:spPr>
            <a:xfrm>
              <a:off x="1228344" y="4250264"/>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A032F7B8-E8B6-4C5B-8443-D13AC456CA85}"/>
                </a:ext>
              </a:extLst>
            </p:cNvPr>
            <p:cNvCxnSpPr>
              <a:cxnSpLocks/>
              <a:stCxn id="168" idx="2"/>
              <a:endCxn id="166" idx="6"/>
            </p:cNvCxnSpPr>
            <p:nvPr/>
          </p:nvCxnSpPr>
          <p:spPr>
            <a:xfrm flipH="1">
              <a:off x="1186143" y="3882856"/>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2DA9A150-8584-41B2-BDD8-C0EF7C874458}"/>
                </a:ext>
              </a:extLst>
            </p:cNvPr>
            <p:cNvCxnSpPr>
              <a:cxnSpLocks/>
              <a:stCxn id="166" idx="5"/>
              <a:endCxn id="171" idx="1"/>
            </p:cNvCxnSpPr>
            <p:nvPr/>
          </p:nvCxnSpPr>
          <p:spPr>
            <a:xfrm>
              <a:off x="1164344" y="4084341"/>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190" name="Oval 189">
              <a:extLst>
                <a:ext uri="{FF2B5EF4-FFF2-40B4-BE49-F238E27FC236}">
                  <a16:creationId xmlns:a16="http://schemas.microsoft.com/office/drawing/2014/main" id="{15CFA8EC-0F1D-4A9E-983C-231C0A73B0DC}"/>
                </a:ext>
              </a:extLst>
            </p:cNvPr>
            <p:cNvSpPr/>
            <p:nvPr/>
          </p:nvSpPr>
          <p:spPr>
            <a:xfrm>
              <a:off x="2249619" y="4009913"/>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91" name="Oval 190">
              <a:extLst>
                <a:ext uri="{FF2B5EF4-FFF2-40B4-BE49-F238E27FC236}">
                  <a16:creationId xmlns:a16="http://schemas.microsoft.com/office/drawing/2014/main" id="{F87BE551-7451-4F00-AF64-F64278318E40}"/>
                </a:ext>
              </a:extLst>
            </p:cNvPr>
            <p:cNvSpPr/>
            <p:nvPr/>
          </p:nvSpPr>
          <p:spPr>
            <a:xfrm>
              <a:off x="2516041" y="378662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92" name="Oval 191">
              <a:extLst>
                <a:ext uri="{FF2B5EF4-FFF2-40B4-BE49-F238E27FC236}">
                  <a16:creationId xmlns:a16="http://schemas.microsoft.com/office/drawing/2014/main" id="{87E477C7-3B1B-4A24-BA1B-258AC0CC2519}"/>
                </a:ext>
              </a:extLst>
            </p:cNvPr>
            <p:cNvSpPr/>
            <p:nvPr/>
          </p:nvSpPr>
          <p:spPr>
            <a:xfrm>
              <a:off x="2805654" y="386105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93" name="Oval 192">
              <a:extLst>
                <a:ext uri="{FF2B5EF4-FFF2-40B4-BE49-F238E27FC236}">
                  <a16:creationId xmlns:a16="http://schemas.microsoft.com/office/drawing/2014/main" id="{7183515D-DF3B-487D-8250-91D11503E8F2}"/>
                </a:ext>
              </a:extLst>
            </p:cNvPr>
            <p:cNvSpPr/>
            <p:nvPr/>
          </p:nvSpPr>
          <p:spPr>
            <a:xfrm>
              <a:off x="2965854" y="4084341"/>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94" name="Oval 193">
              <a:extLst>
                <a:ext uri="{FF2B5EF4-FFF2-40B4-BE49-F238E27FC236}">
                  <a16:creationId xmlns:a16="http://schemas.microsoft.com/office/drawing/2014/main" id="{EA93158D-DDE8-4014-B080-A0D030A97720}"/>
                </a:ext>
              </a:extLst>
            </p:cNvPr>
            <p:cNvSpPr/>
            <p:nvPr/>
          </p:nvSpPr>
          <p:spPr>
            <a:xfrm>
              <a:off x="2313619" y="4281094"/>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95" name="Oval 194">
              <a:extLst>
                <a:ext uri="{FF2B5EF4-FFF2-40B4-BE49-F238E27FC236}">
                  <a16:creationId xmlns:a16="http://schemas.microsoft.com/office/drawing/2014/main" id="{58A37C46-32F8-4DFE-A842-39BE7E742E56}"/>
                </a:ext>
              </a:extLst>
            </p:cNvPr>
            <p:cNvSpPr/>
            <p:nvPr/>
          </p:nvSpPr>
          <p:spPr>
            <a:xfrm>
              <a:off x="2590469" y="4397546"/>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96" name="Oval 195">
              <a:extLst>
                <a:ext uri="{FF2B5EF4-FFF2-40B4-BE49-F238E27FC236}">
                  <a16:creationId xmlns:a16="http://schemas.microsoft.com/office/drawing/2014/main" id="{53C77EEC-2858-4AC6-BD4A-54F480A6E795}"/>
                </a:ext>
              </a:extLst>
            </p:cNvPr>
            <p:cNvSpPr/>
            <p:nvPr/>
          </p:nvSpPr>
          <p:spPr>
            <a:xfrm>
              <a:off x="2871373" y="4323118"/>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97" name="Straight Connector 196">
              <a:extLst>
                <a:ext uri="{FF2B5EF4-FFF2-40B4-BE49-F238E27FC236}">
                  <a16:creationId xmlns:a16="http://schemas.microsoft.com/office/drawing/2014/main" id="{54FD55F4-D00C-4CE2-BF10-57C724ECEE3E}"/>
                </a:ext>
              </a:extLst>
            </p:cNvPr>
            <p:cNvCxnSpPr>
              <a:cxnSpLocks/>
              <a:stCxn id="191" idx="4"/>
              <a:endCxn id="195" idx="0"/>
            </p:cNvCxnSpPr>
            <p:nvPr/>
          </p:nvCxnSpPr>
          <p:spPr>
            <a:xfrm>
              <a:off x="2590469" y="3935485"/>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8FECD42B-959C-4C17-90FA-A0D11786DEA8}"/>
                </a:ext>
              </a:extLst>
            </p:cNvPr>
            <p:cNvCxnSpPr>
              <a:cxnSpLocks/>
              <a:stCxn id="190" idx="6"/>
              <a:endCxn id="196" idx="1"/>
            </p:cNvCxnSpPr>
            <p:nvPr/>
          </p:nvCxnSpPr>
          <p:spPr>
            <a:xfrm>
              <a:off x="2398475" y="4084341"/>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63A002E7-F691-43AA-8784-000D8A9D90B3}"/>
                </a:ext>
              </a:extLst>
            </p:cNvPr>
            <p:cNvCxnSpPr>
              <a:cxnSpLocks/>
              <a:stCxn id="194" idx="7"/>
              <a:endCxn id="192" idx="2"/>
            </p:cNvCxnSpPr>
            <p:nvPr/>
          </p:nvCxnSpPr>
          <p:spPr>
            <a:xfrm flipV="1">
              <a:off x="2440676" y="3935485"/>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B227790D-F2E6-4A9D-9058-593683934E87}"/>
                </a:ext>
              </a:extLst>
            </p:cNvPr>
            <p:cNvCxnSpPr>
              <a:cxnSpLocks/>
              <a:stCxn id="190" idx="6"/>
              <a:endCxn id="193" idx="2"/>
            </p:cNvCxnSpPr>
            <p:nvPr/>
          </p:nvCxnSpPr>
          <p:spPr>
            <a:xfrm>
              <a:off x="2398475" y="4084341"/>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4D23439C-ADD7-44F2-B8D5-2E08FD6C5D39}"/>
                </a:ext>
              </a:extLst>
            </p:cNvPr>
            <p:cNvCxnSpPr>
              <a:cxnSpLocks/>
              <a:stCxn id="190" idx="0"/>
              <a:endCxn id="191" idx="2"/>
            </p:cNvCxnSpPr>
            <p:nvPr/>
          </p:nvCxnSpPr>
          <p:spPr>
            <a:xfrm flipV="1">
              <a:off x="2324047" y="3861057"/>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A29E8570-46D4-432A-AD81-7FD35F19B821}"/>
                </a:ext>
              </a:extLst>
            </p:cNvPr>
            <p:cNvCxnSpPr>
              <a:cxnSpLocks/>
              <a:stCxn id="191" idx="7"/>
              <a:endCxn id="192" idx="0"/>
            </p:cNvCxnSpPr>
            <p:nvPr/>
          </p:nvCxnSpPr>
          <p:spPr>
            <a:xfrm>
              <a:off x="2643098" y="3808428"/>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1A4C9F17-D56C-4739-95F1-E28EDFF71596}"/>
                </a:ext>
              </a:extLst>
            </p:cNvPr>
            <p:cNvCxnSpPr>
              <a:cxnSpLocks/>
              <a:stCxn id="192" idx="5"/>
              <a:endCxn id="193" idx="1"/>
            </p:cNvCxnSpPr>
            <p:nvPr/>
          </p:nvCxnSpPr>
          <p:spPr>
            <a:xfrm>
              <a:off x="2932711" y="3988114"/>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344241F6-05F6-467C-A878-833A7EE0C42F}"/>
                </a:ext>
              </a:extLst>
            </p:cNvPr>
            <p:cNvCxnSpPr>
              <a:cxnSpLocks/>
              <a:stCxn id="193" idx="4"/>
              <a:endCxn id="196" idx="7"/>
            </p:cNvCxnSpPr>
            <p:nvPr/>
          </p:nvCxnSpPr>
          <p:spPr>
            <a:xfrm flipH="1">
              <a:off x="2998430" y="4233197"/>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3B700787-F700-47E9-BF8F-38AD4F1D92FA}"/>
                </a:ext>
              </a:extLst>
            </p:cNvPr>
            <p:cNvCxnSpPr>
              <a:cxnSpLocks/>
              <a:stCxn id="196" idx="4"/>
              <a:endCxn id="195" idx="6"/>
            </p:cNvCxnSpPr>
            <p:nvPr/>
          </p:nvCxnSpPr>
          <p:spPr>
            <a:xfrm flipH="1">
              <a:off x="2739325" y="4471974"/>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2036B64E-C272-4BDC-A9D1-7E0F3B1D1C46}"/>
                </a:ext>
              </a:extLst>
            </p:cNvPr>
            <p:cNvCxnSpPr>
              <a:cxnSpLocks/>
              <a:stCxn id="194" idx="4"/>
              <a:endCxn id="195" idx="2"/>
            </p:cNvCxnSpPr>
            <p:nvPr/>
          </p:nvCxnSpPr>
          <p:spPr>
            <a:xfrm>
              <a:off x="2388047" y="4429950"/>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36C34BEE-5B23-44F2-A0B6-50326C788D8E}"/>
                </a:ext>
              </a:extLst>
            </p:cNvPr>
            <p:cNvCxnSpPr>
              <a:cxnSpLocks/>
              <a:stCxn id="190" idx="4"/>
              <a:endCxn id="194" idx="1"/>
            </p:cNvCxnSpPr>
            <p:nvPr/>
          </p:nvCxnSpPr>
          <p:spPr>
            <a:xfrm>
              <a:off x="2324047" y="4158769"/>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D2FE5B44-856C-466B-85F7-8714CF71D34F}"/>
                </a:ext>
              </a:extLst>
            </p:cNvPr>
            <p:cNvCxnSpPr>
              <a:cxnSpLocks/>
              <a:stCxn id="192" idx="3"/>
              <a:endCxn id="195" idx="0"/>
            </p:cNvCxnSpPr>
            <p:nvPr/>
          </p:nvCxnSpPr>
          <p:spPr>
            <a:xfrm flipH="1">
              <a:off x="2664897" y="3988114"/>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76192235-FFCB-4852-940B-E612057C2634}"/>
                </a:ext>
              </a:extLst>
            </p:cNvPr>
            <p:cNvCxnSpPr>
              <a:cxnSpLocks/>
              <a:stCxn id="191" idx="4"/>
              <a:endCxn id="196" idx="1"/>
            </p:cNvCxnSpPr>
            <p:nvPr/>
          </p:nvCxnSpPr>
          <p:spPr>
            <a:xfrm>
              <a:off x="2590469" y="3935485"/>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706313FD-8FE4-4E28-92AD-B063D93A68F6}"/>
                </a:ext>
              </a:extLst>
            </p:cNvPr>
            <p:cNvCxnSpPr>
              <a:cxnSpLocks/>
              <a:stCxn id="191" idx="4"/>
              <a:endCxn id="194" idx="7"/>
            </p:cNvCxnSpPr>
            <p:nvPr/>
          </p:nvCxnSpPr>
          <p:spPr>
            <a:xfrm flipH="1">
              <a:off x="2440676" y="3935485"/>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90D2A623-47B3-4401-8300-B9CC8F41E82C}"/>
                </a:ext>
              </a:extLst>
            </p:cNvPr>
            <p:cNvCxnSpPr>
              <a:cxnSpLocks/>
              <a:stCxn id="194" idx="7"/>
              <a:endCxn id="196" idx="1"/>
            </p:cNvCxnSpPr>
            <p:nvPr/>
          </p:nvCxnSpPr>
          <p:spPr>
            <a:xfrm>
              <a:off x="2440676" y="4302893"/>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DB1F8FA7-6064-4D09-A7CA-F1E01A144454}"/>
                </a:ext>
              </a:extLst>
            </p:cNvPr>
            <p:cNvCxnSpPr>
              <a:cxnSpLocks/>
              <a:stCxn id="192" idx="2"/>
              <a:endCxn id="190" idx="6"/>
            </p:cNvCxnSpPr>
            <p:nvPr/>
          </p:nvCxnSpPr>
          <p:spPr>
            <a:xfrm flipH="1">
              <a:off x="2398475" y="3935485"/>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C938CC64-99CC-4F4A-A258-C24B7D8C3F87}"/>
                </a:ext>
              </a:extLst>
            </p:cNvPr>
            <p:cNvCxnSpPr>
              <a:cxnSpLocks/>
              <a:stCxn id="190" idx="5"/>
              <a:endCxn id="195" idx="1"/>
            </p:cNvCxnSpPr>
            <p:nvPr/>
          </p:nvCxnSpPr>
          <p:spPr>
            <a:xfrm>
              <a:off x="2376676" y="4136970"/>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214" name="Oval 213">
              <a:extLst>
                <a:ext uri="{FF2B5EF4-FFF2-40B4-BE49-F238E27FC236}">
                  <a16:creationId xmlns:a16="http://schemas.microsoft.com/office/drawing/2014/main" id="{CDA62668-22AE-423F-9732-DB013732E90B}"/>
                </a:ext>
              </a:extLst>
            </p:cNvPr>
            <p:cNvSpPr/>
            <p:nvPr/>
          </p:nvSpPr>
          <p:spPr>
            <a:xfrm>
              <a:off x="2966665" y="3263111"/>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5" name="Oval 214">
              <a:extLst>
                <a:ext uri="{FF2B5EF4-FFF2-40B4-BE49-F238E27FC236}">
                  <a16:creationId xmlns:a16="http://schemas.microsoft.com/office/drawing/2014/main" id="{1F781030-CB81-4FEC-9C6F-50A0C2BA439A}"/>
                </a:ext>
              </a:extLst>
            </p:cNvPr>
            <p:cNvSpPr/>
            <p:nvPr/>
          </p:nvSpPr>
          <p:spPr>
            <a:xfrm>
              <a:off x="3233087" y="303982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6" name="Oval 215">
              <a:extLst>
                <a:ext uri="{FF2B5EF4-FFF2-40B4-BE49-F238E27FC236}">
                  <a16:creationId xmlns:a16="http://schemas.microsoft.com/office/drawing/2014/main" id="{E423EAFF-77FB-44E4-82E5-A4424510B36A}"/>
                </a:ext>
              </a:extLst>
            </p:cNvPr>
            <p:cNvSpPr/>
            <p:nvPr/>
          </p:nvSpPr>
          <p:spPr>
            <a:xfrm>
              <a:off x="3522700" y="311425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7" name="Oval 216">
              <a:extLst>
                <a:ext uri="{FF2B5EF4-FFF2-40B4-BE49-F238E27FC236}">
                  <a16:creationId xmlns:a16="http://schemas.microsoft.com/office/drawing/2014/main" id="{6B98DAFD-92C2-4772-8062-B4A109C341BC}"/>
                </a:ext>
              </a:extLst>
            </p:cNvPr>
            <p:cNvSpPr/>
            <p:nvPr/>
          </p:nvSpPr>
          <p:spPr>
            <a:xfrm>
              <a:off x="3682900" y="333753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D76B8D03-4BA6-47C4-9D81-40A3B9718AE1}"/>
                </a:ext>
              </a:extLst>
            </p:cNvPr>
            <p:cNvSpPr/>
            <p:nvPr/>
          </p:nvSpPr>
          <p:spPr>
            <a:xfrm>
              <a:off x="3030665" y="3534292"/>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9" name="Oval 218">
              <a:extLst>
                <a:ext uri="{FF2B5EF4-FFF2-40B4-BE49-F238E27FC236}">
                  <a16:creationId xmlns:a16="http://schemas.microsoft.com/office/drawing/2014/main" id="{5F717A1C-1DB5-44BF-BBC2-94025376C04E}"/>
                </a:ext>
              </a:extLst>
            </p:cNvPr>
            <p:cNvSpPr/>
            <p:nvPr/>
          </p:nvSpPr>
          <p:spPr>
            <a:xfrm>
              <a:off x="3307515" y="3650744"/>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B9FEBB78-A004-4B85-B543-6B4A1B874C5E}"/>
                </a:ext>
              </a:extLst>
            </p:cNvPr>
            <p:cNvSpPr/>
            <p:nvPr/>
          </p:nvSpPr>
          <p:spPr>
            <a:xfrm>
              <a:off x="3588419" y="3576316"/>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21" name="Straight Connector 220">
              <a:extLst>
                <a:ext uri="{FF2B5EF4-FFF2-40B4-BE49-F238E27FC236}">
                  <a16:creationId xmlns:a16="http://schemas.microsoft.com/office/drawing/2014/main" id="{57FFDB48-DA86-4D9B-80AB-248CCE822B34}"/>
                </a:ext>
              </a:extLst>
            </p:cNvPr>
            <p:cNvCxnSpPr>
              <a:cxnSpLocks/>
              <a:stCxn id="215" idx="4"/>
              <a:endCxn id="219" idx="0"/>
            </p:cNvCxnSpPr>
            <p:nvPr/>
          </p:nvCxnSpPr>
          <p:spPr>
            <a:xfrm>
              <a:off x="3307515" y="3188683"/>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56B173F1-8E3A-40CF-B6E5-55877B944A15}"/>
                </a:ext>
              </a:extLst>
            </p:cNvPr>
            <p:cNvCxnSpPr>
              <a:cxnSpLocks/>
              <a:stCxn id="214" idx="6"/>
              <a:endCxn id="220" idx="1"/>
            </p:cNvCxnSpPr>
            <p:nvPr/>
          </p:nvCxnSpPr>
          <p:spPr>
            <a:xfrm>
              <a:off x="3115521" y="3337539"/>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6AD27A85-C151-454F-B0B1-0AE9181E77DC}"/>
                </a:ext>
              </a:extLst>
            </p:cNvPr>
            <p:cNvCxnSpPr>
              <a:cxnSpLocks/>
              <a:stCxn id="218" idx="7"/>
              <a:endCxn id="216" idx="2"/>
            </p:cNvCxnSpPr>
            <p:nvPr/>
          </p:nvCxnSpPr>
          <p:spPr>
            <a:xfrm flipV="1">
              <a:off x="3157722" y="3188683"/>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B500A673-249C-45CA-AC53-60CB85D0C22C}"/>
                </a:ext>
              </a:extLst>
            </p:cNvPr>
            <p:cNvCxnSpPr>
              <a:cxnSpLocks/>
              <a:stCxn id="214" idx="6"/>
              <a:endCxn id="217" idx="2"/>
            </p:cNvCxnSpPr>
            <p:nvPr/>
          </p:nvCxnSpPr>
          <p:spPr>
            <a:xfrm>
              <a:off x="3115521" y="3337539"/>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F691CD98-B4E9-48FC-B9E4-12754F2FC608}"/>
                </a:ext>
              </a:extLst>
            </p:cNvPr>
            <p:cNvCxnSpPr>
              <a:cxnSpLocks/>
              <a:stCxn id="214" idx="0"/>
              <a:endCxn id="215" idx="2"/>
            </p:cNvCxnSpPr>
            <p:nvPr/>
          </p:nvCxnSpPr>
          <p:spPr>
            <a:xfrm flipV="1">
              <a:off x="3041093" y="3114255"/>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48558DF-FA03-4937-A73F-9B4574E9ABFB}"/>
                </a:ext>
              </a:extLst>
            </p:cNvPr>
            <p:cNvCxnSpPr>
              <a:cxnSpLocks/>
              <a:stCxn id="215" idx="7"/>
              <a:endCxn id="216" idx="0"/>
            </p:cNvCxnSpPr>
            <p:nvPr/>
          </p:nvCxnSpPr>
          <p:spPr>
            <a:xfrm>
              <a:off x="3360144" y="3061626"/>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C3B2F774-3E99-41E5-928E-D94A65F97143}"/>
                </a:ext>
              </a:extLst>
            </p:cNvPr>
            <p:cNvCxnSpPr>
              <a:cxnSpLocks/>
              <a:stCxn id="216" idx="5"/>
              <a:endCxn id="217" idx="1"/>
            </p:cNvCxnSpPr>
            <p:nvPr/>
          </p:nvCxnSpPr>
          <p:spPr>
            <a:xfrm>
              <a:off x="3649757" y="3241312"/>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FB2F2EB4-8EB4-4908-A5C9-E00938265556}"/>
                </a:ext>
              </a:extLst>
            </p:cNvPr>
            <p:cNvCxnSpPr>
              <a:cxnSpLocks/>
              <a:stCxn id="217" idx="4"/>
              <a:endCxn id="220" idx="7"/>
            </p:cNvCxnSpPr>
            <p:nvPr/>
          </p:nvCxnSpPr>
          <p:spPr>
            <a:xfrm flipH="1">
              <a:off x="3715476" y="3486395"/>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B5CD2BFC-3DCB-4D51-9F82-33B333F4B909}"/>
                </a:ext>
              </a:extLst>
            </p:cNvPr>
            <p:cNvCxnSpPr>
              <a:cxnSpLocks/>
              <a:stCxn id="220" idx="4"/>
              <a:endCxn id="219" idx="6"/>
            </p:cNvCxnSpPr>
            <p:nvPr/>
          </p:nvCxnSpPr>
          <p:spPr>
            <a:xfrm flipH="1">
              <a:off x="3456371" y="3725172"/>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F8676FB6-124A-4145-B39F-712D0A15AE5F}"/>
                </a:ext>
              </a:extLst>
            </p:cNvPr>
            <p:cNvCxnSpPr>
              <a:cxnSpLocks/>
              <a:stCxn id="218" idx="4"/>
              <a:endCxn id="219" idx="2"/>
            </p:cNvCxnSpPr>
            <p:nvPr/>
          </p:nvCxnSpPr>
          <p:spPr>
            <a:xfrm>
              <a:off x="3105093" y="3683148"/>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69190259-3EED-48A1-BD72-DBA981EB0448}"/>
                </a:ext>
              </a:extLst>
            </p:cNvPr>
            <p:cNvCxnSpPr>
              <a:cxnSpLocks/>
              <a:stCxn id="214" idx="4"/>
              <a:endCxn id="218" idx="1"/>
            </p:cNvCxnSpPr>
            <p:nvPr/>
          </p:nvCxnSpPr>
          <p:spPr>
            <a:xfrm>
              <a:off x="3041093" y="3411967"/>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03EAECCD-ECDA-4BA8-8D4D-DAEA0066203E}"/>
                </a:ext>
              </a:extLst>
            </p:cNvPr>
            <p:cNvCxnSpPr>
              <a:cxnSpLocks/>
              <a:stCxn id="216" idx="3"/>
              <a:endCxn id="219" idx="0"/>
            </p:cNvCxnSpPr>
            <p:nvPr/>
          </p:nvCxnSpPr>
          <p:spPr>
            <a:xfrm flipH="1">
              <a:off x="3381943" y="3241312"/>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9D74A84F-F1B1-4C3D-926C-ED41AA5BBDB9}"/>
                </a:ext>
              </a:extLst>
            </p:cNvPr>
            <p:cNvCxnSpPr>
              <a:cxnSpLocks/>
              <a:stCxn id="215" idx="4"/>
              <a:endCxn id="220" idx="1"/>
            </p:cNvCxnSpPr>
            <p:nvPr/>
          </p:nvCxnSpPr>
          <p:spPr>
            <a:xfrm>
              <a:off x="3307515" y="3188683"/>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1ACC026B-F2C5-411A-B153-A7239CB0DC14}"/>
                </a:ext>
              </a:extLst>
            </p:cNvPr>
            <p:cNvCxnSpPr>
              <a:cxnSpLocks/>
              <a:stCxn id="215" idx="4"/>
              <a:endCxn id="218" idx="7"/>
            </p:cNvCxnSpPr>
            <p:nvPr/>
          </p:nvCxnSpPr>
          <p:spPr>
            <a:xfrm flipH="1">
              <a:off x="3157722" y="3188683"/>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9BFE3427-07E6-481A-AE0C-9F21AC9AC136}"/>
                </a:ext>
              </a:extLst>
            </p:cNvPr>
            <p:cNvCxnSpPr>
              <a:cxnSpLocks/>
              <a:stCxn id="218" idx="7"/>
              <a:endCxn id="220" idx="1"/>
            </p:cNvCxnSpPr>
            <p:nvPr/>
          </p:nvCxnSpPr>
          <p:spPr>
            <a:xfrm>
              <a:off x="3157722" y="3556091"/>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FFC2DEF0-F5BC-4401-A72C-EE321CCF9D6B}"/>
                </a:ext>
              </a:extLst>
            </p:cNvPr>
            <p:cNvCxnSpPr>
              <a:cxnSpLocks/>
              <a:stCxn id="216" idx="2"/>
              <a:endCxn id="214" idx="6"/>
            </p:cNvCxnSpPr>
            <p:nvPr/>
          </p:nvCxnSpPr>
          <p:spPr>
            <a:xfrm flipH="1">
              <a:off x="3115521" y="3188683"/>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3A7E79E5-A661-4B74-8CF0-2AA47A4E57FE}"/>
                </a:ext>
              </a:extLst>
            </p:cNvPr>
            <p:cNvCxnSpPr>
              <a:cxnSpLocks/>
              <a:stCxn id="214" idx="5"/>
              <a:endCxn id="219" idx="1"/>
            </p:cNvCxnSpPr>
            <p:nvPr/>
          </p:nvCxnSpPr>
          <p:spPr>
            <a:xfrm>
              <a:off x="3093722" y="3390168"/>
              <a:ext cx="235592" cy="2823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2D13FCE-7FD7-41EA-8A78-4793C48D6C0C}"/>
                </a:ext>
              </a:extLst>
            </p:cNvPr>
            <p:cNvCxnSpPr>
              <a:endCxn id="55" idx="2"/>
            </p:cNvCxnSpPr>
            <p:nvPr/>
          </p:nvCxnSpPr>
          <p:spPr>
            <a:xfrm flipH="1">
              <a:off x="1303088" y="1792074"/>
              <a:ext cx="709547" cy="52629"/>
            </a:xfrm>
            <a:prstGeom prst="line">
              <a:avLst/>
            </a:prstGeom>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31E546C8-D5F5-46F0-9C1A-2D6505A78EA2}"/>
                </a:ext>
              </a:extLst>
            </p:cNvPr>
            <p:cNvCxnSpPr>
              <a:stCxn id="94" idx="3"/>
              <a:endCxn id="56" idx="0"/>
            </p:cNvCxnSpPr>
            <p:nvPr/>
          </p:nvCxnSpPr>
          <p:spPr>
            <a:xfrm flipH="1">
              <a:off x="1537716" y="1824052"/>
              <a:ext cx="496718" cy="169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DD8EB969-70B6-45AE-AC1C-46B2171FA05C}"/>
                </a:ext>
              </a:extLst>
            </p:cNvPr>
            <p:cNvCxnSpPr>
              <a:stCxn id="54" idx="7"/>
              <a:endCxn id="95" idx="2"/>
            </p:cNvCxnSpPr>
            <p:nvPr/>
          </p:nvCxnSpPr>
          <p:spPr>
            <a:xfrm flipV="1">
              <a:off x="1140532" y="1548139"/>
              <a:ext cx="1138525" cy="169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BE7084ED-1120-4D82-92AC-6B4EA49EC796}"/>
                </a:ext>
              </a:extLst>
            </p:cNvPr>
            <p:cNvCxnSpPr>
              <a:stCxn id="98" idx="3"/>
              <a:endCxn id="56" idx="6"/>
            </p:cNvCxnSpPr>
            <p:nvPr/>
          </p:nvCxnSpPr>
          <p:spPr>
            <a:xfrm flipH="1" flipV="1">
              <a:off x="1612144" y="2067987"/>
              <a:ext cx="486290" cy="27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B7377A63-255C-4395-B03F-F8162CF93839}"/>
                </a:ext>
              </a:extLst>
            </p:cNvPr>
            <p:cNvCxnSpPr>
              <a:stCxn id="63" idx="6"/>
              <a:endCxn id="94" idx="3"/>
            </p:cNvCxnSpPr>
            <p:nvPr/>
          </p:nvCxnSpPr>
          <p:spPr>
            <a:xfrm flipV="1">
              <a:off x="1517663" y="1824052"/>
              <a:ext cx="516771" cy="48271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1436E6FB-44EE-4F9E-AF00-08CC1A6F1DB6}"/>
                </a:ext>
              </a:extLst>
            </p:cNvPr>
            <p:cNvCxnSpPr>
              <a:stCxn id="100" idx="4"/>
              <a:endCxn id="118" idx="5"/>
            </p:cNvCxnSpPr>
            <p:nvPr/>
          </p:nvCxnSpPr>
          <p:spPr>
            <a:xfrm>
              <a:off x="2708817" y="2159056"/>
              <a:ext cx="321072" cy="32935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FB86FCB1-B8BC-45A0-9C34-F42D7753EA97}"/>
                </a:ext>
              </a:extLst>
            </p:cNvPr>
            <p:cNvCxnSpPr>
              <a:stCxn id="97" idx="5"/>
              <a:endCxn id="119" idx="0"/>
            </p:cNvCxnSpPr>
            <p:nvPr/>
          </p:nvCxnSpPr>
          <p:spPr>
            <a:xfrm>
              <a:off x="2855927" y="1898480"/>
              <a:ext cx="387755" cy="239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15AFB0B8-25BD-4B59-88E9-70A62EDB0E5B}"/>
                </a:ext>
              </a:extLst>
            </p:cNvPr>
            <p:cNvCxnSpPr>
              <a:stCxn id="97" idx="5"/>
              <a:endCxn id="118" idx="0"/>
            </p:cNvCxnSpPr>
            <p:nvPr/>
          </p:nvCxnSpPr>
          <p:spPr>
            <a:xfrm>
              <a:off x="2855927" y="1898480"/>
              <a:ext cx="121333" cy="4628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1942DED8-0DB5-46C3-9EA4-470FC5C90CAF}"/>
                </a:ext>
              </a:extLst>
            </p:cNvPr>
            <p:cNvCxnSpPr>
              <a:stCxn id="96" idx="5"/>
              <a:endCxn id="119" idx="0"/>
            </p:cNvCxnSpPr>
            <p:nvPr/>
          </p:nvCxnSpPr>
          <p:spPr>
            <a:xfrm>
              <a:off x="2695727" y="1675196"/>
              <a:ext cx="547955" cy="4628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D4D28FAF-0D69-4D74-BA04-956175785280}"/>
                </a:ext>
              </a:extLst>
            </p:cNvPr>
            <p:cNvCxnSpPr>
              <a:stCxn id="100" idx="5"/>
              <a:endCxn id="119" idx="2"/>
            </p:cNvCxnSpPr>
            <p:nvPr/>
          </p:nvCxnSpPr>
          <p:spPr>
            <a:xfrm>
              <a:off x="2761446" y="2137257"/>
              <a:ext cx="407808" cy="752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A06D9F1E-343C-4399-910A-7361FC26395F}"/>
                </a:ext>
              </a:extLst>
            </p:cNvPr>
            <p:cNvCxnSpPr>
              <a:stCxn id="99" idx="4"/>
              <a:endCxn id="118" idx="2"/>
            </p:cNvCxnSpPr>
            <p:nvPr/>
          </p:nvCxnSpPr>
          <p:spPr>
            <a:xfrm>
              <a:off x="2427913" y="2233484"/>
              <a:ext cx="474919" cy="202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8D5D2364-B9F5-479E-9F39-3BD3619A2962}"/>
                </a:ext>
              </a:extLst>
            </p:cNvPr>
            <p:cNvCxnSpPr>
              <a:stCxn id="123" idx="4"/>
              <a:endCxn id="215" idx="0"/>
            </p:cNvCxnSpPr>
            <p:nvPr/>
          </p:nvCxnSpPr>
          <p:spPr>
            <a:xfrm flipH="1">
              <a:off x="3307515" y="2897841"/>
              <a:ext cx="10595" cy="1419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582B7C7E-67BF-47AD-B90A-10E131D0E25C}"/>
                </a:ext>
              </a:extLst>
            </p:cNvPr>
            <p:cNvCxnSpPr>
              <a:stCxn id="124" idx="4"/>
              <a:endCxn id="216" idx="0"/>
            </p:cNvCxnSpPr>
            <p:nvPr/>
          </p:nvCxnSpPr>
          <p:spPr>
            <a:xfrm flipH="1">
              <a:off x="3597128" y="2823413"/>
              <a:ext cx="1886" cy="2908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19EB628F-0110-4AD6-9DEA-98AE7B57B056}"/>
                </a:ext>
              </a:extLst>
            </p:cNvPr>
            <p:cNvCxnSpPr>
              <a:stCxn id="121" idx="5"/>
              <a:endCxn id="216" idx="6"/>
            </p:cNvCxnSpPr>
            <p:nvPr/>
          </p:nvCxnSpPr>
          <p:spPr>
            <a:xfrm flipH="1">
              <a:off x="3671556" y="2562837"/>
              <a:ext cx="74568" cy="6258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E758C1F0-F4F2-4691-87F1-8F6E12D77EB7}"/>
                </a:ext>
              </a:extLst>
            </p:cNvPr>
            <p:cNvCxnSpPr>
              <a:stCxn id="218" idx="3"/>
              <a:endCxn id="192" idx="7"/>
            </p:cNvCxnSpPr>
            <p:nvPr/>
          </p:nvCxnSpPr>
          <p:spPr>
            <a:xfrm flipH="1">
              <a:off x="2932711" y="3661349"/>
              <a:ext cx="119753" cy="221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6BC77C8A-63BD-4962-A049-FD88967D346B}"/>
                </a:ext>
              </a:extLst>
            </p:cNvPr>
            <p:cNvCxnSpPr>
              <a:stCxn id="219" idx="3"/>
              <a:endCxn id="193" idx="7"/>
            </p:cNvCxnSpPr>
            <p:nvPr/>
          </p:nvCxnSpPr>
          <p:spPr>
            <a:xfrm flipH="1">
              <a:off x="3092911" y="3777801"/>
              <a:ext cx="236403" cy="328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12CAFE5C-89AE-4D92-8B6D-113ED3FC8EFE}"/>
                </a:ext>
              </a:extLst>
            </p:cNvPr>
            <p:cNvCxnSpPr>
              <a:stCxn id="220" idx="4"/>
              <a:endCxn id="193" idx="6"/>
            </p:cNvCxnSpPr>
            <p:nvPr/>
          </p:nvCxnSpPr>
          <p:spPr>
            <a:xfrm flipH="1">
              <a:off x="3114710" y="3725172"/>
              <a:ext cx="548137" cy="43359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0C0E79AF-195F-475F-827A-AF5F7EF8017A}"/>
                </a:ext>
              </a:extLst>
            </p:cNvPr>
            <p:cNvCxnSpPr>
              <a:stCxn id="214" idx="2"/>
              <a:endCxn id="191" idx="7"/>
            </p:cNvCxnSpPr>
            <p:nvPr/>
          </p:nvCxnSpPr>
          <p:spPr>
            <a:xfrm flipH="1">
              <a:off x="2643098" y="3337539"/>
              <a:ext cx="323567" cy="470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7CDEF97E-64B8-4C30-8AF1-CB139C473185}"/>
                </a:ext>
              </a:extLst>
            </p:cNvPr>
            <p:cNvCxnSpPr>
              <a:stCxn id="214" idx="3"/>
              <a:endCxn id="192" idx="7"/>
            </p:cNvCxnSpPr>
            <p:nvPr/>
          </p:nvCxnSpPr>
          <p:spPr>
            <a:xfrm flipH="1">
              <a:off x="2932711" y="3390168"/>
              <a:ext cx="55753" cy="49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ABA00975-1317-49F0-9786-4019453EA619}"/>
                </a:ext>
              </a:extLst>
            </p:cNvPr>
            <p:cNvCxnSpPr>
              <a:stCxn id="218" idx="4"/>
              <a:endCxn id="193" idx="6"/>
            </p:cNvCxnSpPr>
            <p:nvPr/>
          </p:nvCxnSpPr>
          <p:spPr>
            <a:xfrm>
              <a:off x="3105093" y="3683148"/>
              <a:ext cx="9617" cy="475621"/>
            </a:xfrm>
            <a:prstGeom prst="line">
              <a:avLst/>
            </a:prstGeom>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9126CF77-0825-49F7-A5D9-4B745CFFA197}"/>
                </a:ext>
              </a:extLst>
            </p:cNvPr>
            <p:cNvCxnSpPr>
              <a:stCxn id="169" idx="5"/>
              <a:endCxn id="190" idx="3"/>
            </p:cNvCxnSpPr>
            <p:nvPr/>
          </p:nvCxnSpPr>
          <p:spPr>
            <a:xfrm flipV="1">
              <a:off x="1880579" y="4136970"/>
              <a:ext cx="390839" cy="217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44365D34-8DFA-43F4-BB98-E6BCD4CFBB9D}"/>
                </a:ext>
              </a:extLst>
            </p:cNvPr>
            <p:cNvCxnSpPr>
              <a:cxnSpLocks/>
              <a:stCxn id="172" idx="5"/>
              <a:endCxn id="194" idx="3"/>
            </p:cNvCxnSpPr>
            <p:nvPr/>
          </p:nvCxnSpPr>
          <p:spPr>
            <a:xfrm>
              <a:off x="1786098" y="4397546"/>
              <a:ext cx="549320" cy="106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B32418C4-F1C8-4356-AC14-746B47B2CE5C}"/>
                </a:ext>
              </a:extLst>
            </p:cNvPr>
            <p:cNvCxnSpPr>
              <a:stCxn id="172" idx="6"/>
              <a:endCxn id="190" idx="5"/>
            </p:cNvCxnSpPr>
            <p:nvPr/>
          </p:nvCxnSpPr>
          <p:spPr>
            <a:xfrm flipV="1">
              <a:off x="1807897" y="4136970"/>
              <a:ext cx="568779" cy="2079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0AC59C46-8A5E-41F1-B03C-8733EE96841C}"/>
                </a:ext>
              </a:extLst>
            </p:cNvPr>
            <p:cNvCxnSpPr>
              <a:stCxn id="168" idx="6"/>
              <a:endCxn id="190" idx="1"/>
            </p:cNvCxnSpPr>
            <p:nvPr/>
          </p:nvCxnSpPr>
          <p:spPr>
            <a:xfrm>
              <a:off x="1742178" y="3882856"/>
              <a:ext cx="529240"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4DFE42BE-8A7C-4A33-8F2E-6B49A7AD0BE1}"/>
                </a:ext>
              </a:extLst>
            </p:cNvPr>
            <p:cNvCxnSpPr>
              <a:stCxn id="59" idx="3"/>
              <a:endCxn id="143" idx="7"/>
            </p:cNvCxnSpPr>
            <p:nvPr/>
          </p:nvCxnSpPr>
          <p:spPr>
            <a:xfrm flipH="1">
              <a:off x="797353" y="2317369"/>
              <a:ext cx="35499" cy="4534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F6013187-A333-47CB-B312-9D578A0C9903}"/>
                </a:ext>
              </a:extLst>
            </p:cNvPr>
            <p:cNvCxnSpPr>
              <a:stCxn id="60" idx="3"/>
              <a:endCxn id="144" idx="0"/>
            </p:cNvCxnSpPr>
            <p:nvPr/>
          </p:nvCxnSpPr>
          <p:spPr>
            <a:xfrm flipH="1">
              <a:off x="1034337" y="2433821"/>
              <a:ext cx="75365" cy="38959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DFCFF556-0E4D-4C88-A72E-5D0878661145}"/>
                </a:ext>
              </a:extLst>
            </p:cNvPr>
            <p:cNvCxnSpPr>
              <a:stCxn id="63" idx="5"/>
              <a:endCxn id="144" idx="5"/>
            </p:cNvCxnSpPr>
            <p:nvPr/>
          </p:nvCxnSpPr>
          <p:spPr>
            <a:xfrm flipH="1">
              <a:off x="1086966" y="2359393"/>
              <a:ext cx="408898" cy="59107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4D5E62B6-83DE-4A5F-A38B-A2F1D32A2BFC}"/>
                </a:ext>
              </a:extLst>
            </p:cNvPr>
            <p:cNvCxnSpPr>
              <a:stCxn id="59" idx="4"/>
              <a:endCxn id="144" idx="1"/>
            </p:cNvCxnSpPr>
            <p:nvPr/>
          </p:nvCxnSpPr>
          <p:spPr>
            <a:xfrm>
              <a:off x="885481" y="2339168"/>
              <a:ext cx="96227" cy="50604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F4DED427-322C-431F-B649-750F7394DAF9}"/>
                </a:ext>
              </a:extLst>
            </p:cNvPr>
            <p:cNvCxnSpPr>
              <a:stCxn id="147" idx="4"/>
              <a:endCxn id="166" idx="2"/>
            </p:cNvCxnSpPr>
            <p:nvPr/>
          </p:nvCxnSpPr>
          <p:spPr>
            <a:xfrm>
              <a:off x="819152" y="3508758"/>
              <a:ext cx="218135" cy="5229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6AAA5A89-8585-4E62-9E13-BD1C4E0788F0}"/>
                </a:ext>
              </a:extLst>
            </p:cNvPr>
            <p:cNvCxnSpPr>
              <a:stCxn id="147" idx="4"/>
              <a:endCxn id="167" idx="2"/>
            </p:cNvCxnSpPr>
            <p:nvPr/>
          </p:nvCxnSpPr>
          <p:spPr>
            <a:xfrm>
              <a:off x="819152" y="3508758"/>
              <a:ext cx="484557" cy="2996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1672C16D-2CC6-4BFB-9B44-0F8EC3EC6925}"/>
                </a:ext>
              </a:extLst>
            </p:cNvPr>
            <p:cNvCxnSpPr>
              <a:stCxn id="148" idx="5"/>
              <a:endCxn id="167" idx="1"/>
            </p:cNvCxnSpPr>
            <p:nvPr/>
          </p:nvCxnSpPr>
          <p:spPr>
            <a:xfrm>
              <a:off x="1152685" y="3412531"/>
              <a:ext cx="172823" cy="343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E1843326-8DEF-43EE-9FE0-F54A60874590}"/>
                </a:ext>
              </a:extLst>
            </p:cNvPr>
            <p:cNvCxnSpPr>
              <a:stCxn id="99" idx="3"/>
              <a:endCxn id="168" idx="7"/>
            </p:cNvCxnSpPr>
            <p:nvPr/>
          </p:nvCxnSpPr>
          <p:spPr>
            <a:xfrm flipH="1">
              <a:off x="1720379" y="2211685"/>
              <a:ext cx="654905" cy="1618542"/>
            </a:xfrm>
            <a:prstGeom prst="line">
              <a:avLst/>
            </a:prstGeom>
          </p:spPr>
          <p:style>
            <a:lnRef idx="1">
              <a:schemeClr val="accent1"/>
            </a:lnRef>
            <a:fillRef idx="0">
              <a:schemeClr val="accent1"/>
            </a:fillRef>
            <a:effectRef idx="0">
              <a:schemeClr val="accent1"/>
            </a:effectRef>
            <a:fontRef idx="minor">
              <a:schemeClr val="tx1"/>
            </a:fontRef>
          </p:style>
        </p:cxnSp>
      </p:grpSp>
      <p:sp>
        <p:nvSpPr>
          <p:cNvPr id="31" name="Title 1">
            <a:extLst>
              <a:ext uri="{FF2B5EF4-FFF2-40B4-BE49-F238E27FC236}">
                <a16:creationId xmlns:a16="http://schemas.microsoft.com/office/drawing/2014/main" id="{EF4F14EB-74F7-4D32-A3E2-63457B54D435}"/>
              </a:ext>
            </a:extLst>
          </p:cNvPr>
          <p:cNvSpPr txBox="1">
            <a:spLocks/>
          </p:cNvSpPr>
          <p:nvPr/>
        </p:nvSpPr>
        <p:spPr>
          <a:xfrm>
            <a:off x="6176338" y="5365028"/>
            <a:ext cx="6006375" cy="1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1800" b="1" dirty="0">
                <a:solidFill>
                  <a:schemeClr val="tx1">
                    <a:lumMod val="95000"/>
                    <a:lumOff val="5000"/>
                  </a:schemeClr>
                </a:solidFill>
              </a:rPr>
              <a:t>Under </a:t>
            </a:r>
            <a:r>
              <a:rPr lang="en-US" sz="1800" b="1" dirty="0">
                <a:solidFill>
                  <a:schemeClr val="accent2">
                    <a:lumMod val="75000"/>
                  </a:schemeClr>
                </a:solidFill>
              </a:rPr>
              <a:t>complex contagion</a:t>
            </a:r>
            <a:r>
              <a:rPr lang="nl-NL" sz="1800" b="1" dirty="0">
                <a:solidFill>
                  <a:schemeClr val="tx1">
                    <a:lumMod val="95000"/>
                    <a:lumOff val="5000"/>
                  </a:schemeClr>
                </a:solidFill>
              </a:rPr>
              <a:t>,</a:t>
            </a:r>
            <a:r>
              <a:rPr lang="zh-CN" altLang="nl-NL" sz="1800" b="1" dirty="0">
                <a:solidFill>
                  <a:schemeClr val="tx1">
                    <a:lumMod val="95000"/>
                    <a:lumOff val="5000"/>
                  </a:schemeClr>
                </a:solidFill>
              </a:rPr>
              <a:t> </a:t>
            </a:r>
            <a:r>
              <a:rPr lang="nl-NL" altLang="zh-CN" sz="1800" b="1" dirty="0" err="1">
                <a:solidFill>
                  <a:schemeClr val="tx1">
                    <a:lumMod val="95000"/>
                    <a:lumOff val="5000"/>
                  </a:schemeClr>
                </a:solidFill>
              </a:rPr>
              <a:t>the</a:t>
            </a:r>
            <a:r>
              <a:rPr lang="zh-CN" altLang="nl-NL" sz="1800" b="1" dirty="0">
                <a:solidFill>
                  <a:schemeClr val="tx1">
                    <a:lumMod val="95000"/>
                    <a:lumOff val="5000"/>
                  </a:schemeClr>
                </a:solidFill>
              </a:rPr>
              <a:t> </a:t>
            </a:r>
            <a:r>
              <a:rPr lang="nl-NL" altLang="zh-CN" sz="1800" b="1" dirty="0" err="1">
                <a:solidFill>
                  <a:schemeClr val="tx1">
                    <a:lumMod val="95000"/>
                    <a:lumOff val="5000"/>
                  </a:schemeClr>
                </a:solidFill>
              </a:rPr>
              <a:t>only</a:t>
            </a:r>
            <a:r>
              <a:rPr lang="zh-CN" altLang="nl-NL" sz="1800" b="1" dirty="0">
                <a:solidFill>
                  <a:schemeClr val="tx1">
                    <a:lumMod val="95000"/>
                    <a:lumOff val="5000"/>
                  </a:schemeClr>
                </a:solidFill>
              </a:rPr>
              <a:t> </a:t>
            </a:r>
            <a:r>
              <a:rPr lang="nl-NL" altLang="zh-CN" sz="1800" b="1" dirty="0">
                <a:solidFill>
                  <a:schemeClr val="tx1">
                    <a:lumMod val="95000"/>
                    <a:lumOff val="5000"/>
                  </a:schemeClr>
                </a:solidFill>
              </a:rPr>
              <a:t>tie</a:t>
            </a:r>
            <a:r>
              <a:rPr lang="zh-CN" altLang="nl-NL" sz="1800" b="1" dirty="0">
                <a:solidFill>
                  <a:schemeClr val="tx1">
                    <a:lumMod val="95000"/>
                    <a:lumOff val="5000"/>
                  </a:schemeClr>
                </a:solidFill>
              </a:rPr>
              <a:t> </a:t>
            </a:r>
            <a:r>
              <a:rPr lang="nl-NL" altLang="zh-CN" sz="1800" b="1" dirty="0" err="1">
                <a:solidFill>
                  <a:schemeClr val="tx1">
                    <a:lumMod val="95000"/>
                    <a:lumOff val="5000"/>
                  </a:schemeClr>
                </a:solidFill>
              </a:rPr>
              <a:t>between</a:t>
            </a:r>
            <a:r>
              <a:rPr lang="zh-CN" altLang="nl-NL" sz="1800" b="1" dirty="0">
                <a:solidFill>
                  <a:schemeClr val="tx1">
                    <a:lumMod val="95000"/>
                    <a:lumOff val="5000"/>
                  </a:schemeClr>
                </a:solidFill>
              </a:rPr>
              <a:t> </a:t>
            </a:r>
            <a:r>
              <a:rPr lang="nl-NL" altLang="zh-CN" sz="1800" b="1" dirty="0">
                <a:solidFill>
                  <a:schemeClr val="tx1">
                    <a:lumMod val="95000"/>
                    <a:lumOff val="5000"/>
                  </a:schemeClr>
                </a:solidFill>
              </a:rPr>
              <a:t>A</a:t>
            </a:r>
            <a:r>
              <a:rPr lang="zh-CN" altLang="nl-NL" sz="1800" b="1" dirty="0">
                <a:solidFill>
                  <a:schemeClr val="tx1">
                    <a:lumMod val="95000"/>
                    <a:lumOff val="5000"/>
                  </a:schemeClr>
                </a:solidFill>
              </a:rPr>
              <a:t> </a:t>
            </a:r>
            <a:r>
              <a:rPr lang="nl-NL" altLang="zh-CN" sz="1800" b="1" dirty="0" err="1">
                <a:solidFill>
                  <a:schemeClr val="tx1">
                    <a:lumMod val="95000"/>
                    <a:lumOff val="5000"/>
                  </a:schemeClr>
                </a:solidFill>
              </a:rPr>
              <a:t>and</a:t>
            </a:r>
            <a:r>
              <a:rPr lang="nl-NL" altLang="zh-CN" sz="1800" b="1" dirty="0">
                <a:solidFill>
                  <a:schemeClr val="tx1">
                    <a:lumMod val="95000"/>
                    <a:lumOff val="5000"/>
                  </a:schemeClr>
                </a:solidFill>
              </a:rPr>
              <a:t> C </a:t>
            </a:r>
            <a:r>
              <a:rPr lang="nl-NL" altLang="zh-CN" sz="1800" b="1" i="1" dirty="0" err="1">
                <a:solidFill>
                  <a:schemeClr val="accent2">
                    <a:lumMod val="75000"/>
                  </a:schemeClr>
                </a:solidFill>
              </a:rPr>
              <a:t>cannot</a:t>
            </a:r>
            <a:r>
              <a:rPr lang="nl-NL" altLang="zh-CN" sz="1800" b="1" i="1" dirty="0">
                <a:solidFill>
                  <a:schemeClr val="accent2">
                    <a:lumMod val="75000"/>
                  </a:schemeClr>
                </a:solidFill>
              </a:rPr>
              <a:t> </a:t>
            </a:r>
            <a:r>
              <a:rPr lang="nl-NL" altLang="zh-CN" sz="1800" b="1" dirty="0">
                <a:solidFill>
                  <a:schemeClr val="tx1">
                    <a:lumMod val="95000"/>
                    <a:lumOff val="5000"/>
                  </a:schemeClr>
                </a:solidFill>
              </a:rPr>
              <a:t>spread </a:t>
            </a:r>
            <a:r>
              <a:rPr lang="nl-NL" altLang="zh-CN" sz="1800" b="1" dirty="0" err="1">
                <a:solidFill>
                  <a:schemeClr val="tx1">
                    <a:lumMod val="95000"/>
                    <a:lumOff val="5000"/>
                  </a:schemeClr>
                </a:solidFill>
              </a:rPr>
              <a:t>the</a:t>
            </a:r>
            <a:r>
              <a:rPr lang="nl-NL" altLang="zh-CN" sz="1800" b="1" dirty="0">
                <a:solidFill>
                  <a:schemeClr val="tx1">
                    <a:lumMod val="95000"/>
                    <a:lumOff val="5000"/>
                  </a:schemeClr>
                </a:solidFill>
              </a:rPr>
              <a:t> new norm </a:t>
            </a:r>
            <a:r>
              <a:rPr lang="nl-NL" altLang="zh-CN" sz="1800" b="1" dirty="0" err="1">
                <a:solidFill>
                  <a:schemeClr val="tx1">
                    <a:lumMod val="95000"/>
                    <a:lumOff val="5000"/>
                  </a:schemeClr>
                </a:solidFill>
              </a:rPr>
              <a:t>to</a:t>
            </a:r>
            <a:r>
              <a:rPr lang="nl-NL" altLang="zh-CN" sz="1800" b="1" dirty="0">
                <a:solidFill>
                  <a:schemeClr val="tx1">
                    <a:lumMod val="95000"/>
                    <a:lumOff val="5000"/>
                  </a:schemeClr>
                </a:solidFill>
              </a:rPr>
              <a:t> Community C;</a:t>
            </a:r>
          </a:p>
          <a:p>
            <a:pPr algn="ctr">
              <a:spcAft>
                <a:spcPts val="600"/>
              </a:spcAft>
            </a:pPr>
            <a:r>
              <a:rPr lang="nl-NL" sz="1800" b="1" dirty="0">
                <a:solidFill>
                  <a:schemeClr val="accent2">
                    <a:lumMod val="75000"/>
                  </a:schemeClr>
                </a:solidFill>
              </a:rPr>
              <a:t>Complex </a:t>
            </a:r>
            <a:r>
              <a:rPr lang="nl-NL" sz="1800" b="1" dirty="0" err="1">
                <a:solidFill>
                  <a:schemeClr val="accent2">
                    <a:lumMod val="75000"/>
                  </a:schemeClr>
                </a:solidFill>
              </a:rPr>
              <a:t>contagion</a:t>
            </a:r>
            <a:r>
              <a:rPr lang="nl-NL" sz="1800" b="1" dirty="0">
                <a:solidFill>
                  <a:schemeClr val="accent2">
                    <a:lumMod val="75000"/>
                  </a:schemeClr>
                </a:solidFill>
              </a:rPr>
              <a:t> </a:t>
            </a:r>
            <a:r>
              <a:rPr lang="nl-NL" sz="1800" b="1" dirty="0" err="1">
                <a:solidFill>
                  <a:schemeClr val="accent2">
                    <a:lumMod val="75000"/>
                  </a:schemeClr>
                </a:solidFill>
              </a:rPr>
              <a:t>can</a:t>
            </a:r>
            <a:r>
              <a:rPr lang="nl-NL" sz="1800" b="1" dirty="0">
                <a:solidFill>
                  <a:schemeClr val="accent2">
                    <a:lumMod val="75000"/>
                  </a:schemeClr>
                </a:solidFill>
              </a:rPr>
              <a:t> </a:t>
            </a:r>
            <a:r>
              <a:rPr lang="nl-NL" sz="1800" b="1" dirty="0" err="1">
                <a:solidFill>
                  <a:schemeClr val="accent2">
                    <a:lumMod val="75000"/>
                  </a:schemeClr>
                </a:solidFill>
              </a:rPr>
              <a:t>only</a:t>
            </a:r>
            <a:r>
              <a:rPr lang="nl-NL" sz="1800" b="1" dirty="0">
                <a:solidFill>
                  <a:schemeClr val="accent2">
                    <a:lumMod val="75000"/>
                  </a:schemeClr>
                </a:solidFill>
              </a:rPr>
              <a:t> spread </a:t>
            </a:r>
            <a:r>
              <a:rPr lang="nl-NL" sz="1800" b="1" dirty="0" err="1">
                <a:solidFill>
                  <a:schemeClr val="accent2">
                    <a:lumMod val="75000"/>
                  </a:schemeClr>
                </a:solidFill>
              </a:rPr>
              <a:t>through</a:t>
            </a:r>
            <a:r>
              <a:rPr lang="nl-NL" sz="1800" b="1" dirty="0">
                <a:solidFill>
                  <a:schemeClr val="accent2">
                    <a:lumMod val="75000"/>
                  </a:schemeClr>
                </a:solidFill>
              </a:rPr>
              <a:t> multiple </a:t>
            </a:r>
            <a:r>
              <a:rPr lang="nl-NL" sz="1800" b="1" dirty="0" err="1">
                <a:solidFill>
                  <a:schemeClr val="accent2">
                    <a:lumMod val="75000"/>
                  </a:schemeClr>
                </a:solidFill>
              </a:rPr>
              <a:t>connections</a:t>
            </a:r>
            <a:r>
              <a:rPr lang="nl-NL" sz="1800" b="1" dirty="0">
                <a:solidFill>
                  <a:schemeClr val="accent2">
                    <a:lumMod val="75000"/>
                  </a:schemeClr>
                </a:solidFill>
              </a:rPr>
              <a:t> (“</a:t>
            </a:r>
            <a:r>
              <a:rPr lang="nl-NL" sz="1800" b="1" dirty="0" err="1">
                <a:solidFill>
                  <a:schemeClr val="accent2">
                    <a:lumMod val="75000"/>
                  </a:schemeClr>
                </a:solidFill>
              </a:rPr>
              <a:t>wide</a:t>
            </a:r>
            <a:r>
              <a:rPr lang="nl-NL" sz="1800" b="1" dirty="0">
                <a:solidFill>
                  <a:schemeClr val="accent2">
                    <a:lumMod val="75000"/>
                  </a:schemeClr>
                </a:solidFill>
              </a:rPr>
              <a:t> bridge”) </a:t>
            </a:r>
            <a:r>
              <a:rPr lang="nl-NL" sz="1800" b="1" dirty="0" err="1">
                <a:solidFill>
                  <a:schemeClr val="accent2">
                    <a:lumMod val="75000"/>
                  </a:schemeClr>
                </a:solidFill>
              </a:rPr>
              <a:t>between</a:t>
            </a:r>
            <a:r>
              <a:rPr lang="nl-NL" sz="1800" b="1" dirty="0">
                <a:solidFill>
                  <a:schemeClr val="accent2">
                    <a:lumMod val="75000"/>
                  </a:schemeClr>
                </a:solidFill>
              </a:rPr>
              <a:t> </a:t>
            </a:r>
            <a:r>
              <a:rPr lang="nl-NL" sz="1800" b="1" dirty="0" err="1">
                <a:solidFill>
                  <a:schemeClr val="accent2">
                    <a:lumMod val="75000"/>
                  </a:schemeClr>
                </a:solidFill>
              </a:rPr>
              <a:t>nearby</a:t>
            </a:r>
            <a:r>
              <a:rPr lang="nl-NL" sz="1800" b="1" dirty="0">
                <a:solidFill>
                  <a:schemeClr val="accent2">
                    <a:lumMod val="75000"/>
                  </a:schemeClr>
                </a:solidFill>
              </a:rPr>
              <a:t> </a:t>
            </a:r>
            <a:r>
              <a:rPr lang="nl-NL" sz="1800" b="1" dirty="0" err="1">
                <a:solidFill>
                  <a:schemeClr val="accent2">
                    <a:lumMod val="75000"/>
                  </a:schemeClr>
                </a:solidFill>
              </a:rPr>
              <a:t>communities</a:t>
            </a:r>
            <a:r>
              <a:rPr lang="nl-NL" sz="1800" b="1" dirty="0">
                <a:solidFill>
                  <a:schemeClr val="tx1">
                    <a:lumMod val="95000"/>
                    <a:lumOff val="5000"/>
                  </a:schemeClr>
                </a:solidFill>
              </a:rPr>
              <a:t>.</a:t>
            </a:r>
          </a:p>
        </p:txBody>
      </p:sp>
      <p:sp>
        <p:nvSpPr>
          <p:cNvPr id="32" name="Rectangle 31">
            <a:extLst>
              <a:ext uri="{FF2B5EF4-FFF2-40B4-BE49-F238E27FC236}">
                <a16:creationId xmlns:a16="http://schemas.microsoft.com/office/drawing/2014/main" id="{461D4A80-E75C-47CE-8F0B-3CC4818F48F8}"/>
              </a:ext>
            </a:extLst>
          </p:cNvPr>
          <p:cNvSpPr/>
          <p:nvPr/>
        </p:nvSpPr>
        <p:spPr>
          <a:xfrm>
            <a:off x="0" y="143124"/>
            <a:ext cx="133350" cy="9004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itle 1">
            <a:extLst>
              <a:ext uri="{FF2B5EF4-FFF2-40B4-BE49-F238E27FC236}">
                <a16:creationId xmlns:a16="http://schemas.microsoft.com/office/drawing/2014/main" id="{900C6504-35B6-472B-A126-C25C23D0C849}"/>
              </a:ext>
            </a:extLst>
          </p:cNvPr>
          <p:cNvSpPr txBox="1">
            <a:spLocks/>
          </p:cNvSpPr>
          <p:nvPr/>
        </p:nvSpPr>
        <p:spPr>
          <a:xfrm>
            <a:off x="131987" y="108745"/>
            <a:ext cx="11708153" cy="93532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chemeClr val="accent5">
                    <a:lumMod val="75000"/>
                  </a:schemeClr>
                </a:solidFill>
              </a:rPr>
              <a:t>Diffusion of simple and complex contagion</a:t>
            </a:r>
            <a:r>
              <a:rPr lang="nl-NL" sz="3600" b="1" dirty="0">
                <a:solidFill>
                  <a:schemeClr val="accent5">
                    <a:lumMod val="75000"/>
                  </a:schemeClr>
                </a:solidFill>
              </a:rPr>
              <a:t> in </a:t>
            </a:r>
            <a:r>
              <a:rPr lang="nl-NL" sz="3600" b="1" dirty="0" err="1">
                <a:solidFill>
                  <a:schemeClr val="accent5">
                    <a:lumMod val="75000"/>
                  </a:schemeClr>
                </a:solidFill>
              </a:rPr>
              <a:t>the</a:t>
            </a:r>
            <a:r>
              <a:rPr lang="nl-NL" sz="3600" b="1" dirty="0">
                <a:solidFill>
                  <a:schemeClr val="accent5">
                    <a:lumMod val="75000"/>
                  </a:schemeClr>
                </a:solidFill>
              </a:rPr>
              <a:t> </a:t>
            </a:r>
            <a:r>
              <a:rPr lang="nl-NL" sz="3600" b="1" dirty="0" err="1">
                <a:solidFill>
                  <a:schemeClr val="accent5">
                    <a:lumMod val="75000"/>
                  </a:schemeClr>
                </a:solidFill>
              </a:rPr>
              <a:t>same</a:t>
            </a:r>
            <a:r>
              <a:rPr lang="nl-NL" sz="3600" b="1" dirty="0">
                <a:solidFill>
                  <a:schemeClr val="accent5">
                    <a:lumMod val="75000"/>
                  </a:schemeClr>
                </a:solidFill>
              </a:rPr>
              <a:t> </a:t>
            </a:r>
            <a:r>
              <a:rPr lang="nl-NL" sz="3600" b="1" dirty="0" err="1">
                <a:solidFill>
                  <a:schemeClr val="accent5">
                    <a:lumMod val="75000"/>
                  </a:schemeClr>
                </a:solidFill>
              </a:rPr>
              <a:t>network</a:t>
            </a:r>
            <a:endParaRPr lang="nl-NL" sz="3600" b="1" dirty="0">
              <a:solidFill>
                <a:schemeClr val="accent5">
                  <a:lumMod val="75000"/>
                </a:schemeClr>
              </a:solidFill>
            </a:endParaRPr>
          </a:p>
        </p:txBody>
      </p:sp>
      <p:cxnSp>
        <p:nvCxnSpPr>
          <p:cNvPr id="74" name="Straight Connector 10">
            <a:extLst>
              <a:ext uri="{FF2B5EF4-FFF2-40B4-BE49-F238E27FC236}">
                <a16:creationId xmlns:a16="http://schemas.microsoft.com/office/drawing/2014/main" id="{9A4ABDC7-03C3-4B6D-82BD-403A906134E5}"/>
              </a:ext>
            </a:extLst>
          </p:cNvPr>
          <p:cNvCxnSpPr>
            <a:cxnSpLocks/>
          </p:cNvCxnSpPr>
          <p:nvPr/>
        </p:nvCxnSpPr>
        <p:spPr>
          <a:xfrm flipH="1">
            <a:off x="2376426" y="2297527"/>
            <a:ext cx="614627" cy="1556140"/>
          </a:xfrm>
          <a:prstGeom prst="line">
            <a:avLst/>
          </a:prstGeom>
          <a:ln w="28575">
            <a:solidFill>
              <a:srgbClr val="FFC000"/>
            </a:solidFill>
            <a:tailEnd type="arrow"/>
          </a:ln>
        </p:spPr>
        <p:style>
          <a:lnRef idx="1">
            <a:schemeClr val="accent4"/>
          </a:lnRef>
          <a:fillRef idx="0">
            <a:schemeClr val="accent4"/>
          </a:fillRef>
          <a:effectRef idx="0">
            <a:schemeClr val="accent4"/>
          </a:effectRef>
          <a:fontRef idx="minor">
            <a:schemeClr val="tx1"/>
          </a:fontRef>
        </p:style>
      </p:cxnSp>
      <p:sp>
        <p:nvSpPr>
          <p:cNvPr id="61" name="椭圆 12">
            <a:extLst>
              <a:ext uri="{FF2B5EF4-FFF2-40B4-BE49-F238E27FC236}">
                <a16:creationId xmlns:a16="http://schemas.microsoft.com/office/drawing/2014/main" id="{BE871B15-A7A7-4C56-B665-4D369C3FD93E}"/>
              </a:ext>
            </a:extLst>
          </p:cNvPr>
          <p:cNvSpPr/>
          <p:nvPr/>
        </p:nvSpPr>
        <p:spPr>
          <a:xfrm>
            <a:off x="2578981" y="1481279"/>
            <a:ext cx="951975" cy="829925"/>
          </a:xfrm>
          <a:prstGeom prst="ellipse">
            <a:avLst/>
          </a:prstGeom>
          <a:solidFill>
            <a:srgbClr val="FFF2CC">
              <a:alpha val="50196"/>
            </a:srgbClr>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2" name="直接连接符 15">
            <a:extLst>
              <a:ext uri="{FF2B5EF4-FFF2-40B4-BE49-F238E27FC236}">
                <a16:creationId xmlns:a16="http://schemas.microsoft.com/office/drawing/2014/main" id="{EC5ECE1B-FBE0-4F87-96B5-4A1A06A524A4}"/>
              </a:ext>
            </a:extLst>
          </p:cNvPr>
          <p:cNvCxnSpPr>
            <a:cxnSpLocks/>
          </p:cNvCxnSpPr>
          <p:nvPr/>
        </p:nvCxnSpPr>
        <p:spPr>
          <a:xfrm>
            <a:off x="3526137" y="1974583"/>
            <a:ext cx="320797" cy="200511"/>
          </a:xfrm>
          <a:prstGeom prst="line">
            <a:avLst/>
          </a:prstGeom>
          <a:ln w="28575">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6" name="直接连接符 21">
            <a:extLst>
              <a:ext uri="{FF2B5EF4-FFF2-40B4-BE49-F238E27FC236}">
                <a16:creationId xmlns:a16="http://schemas.microsoft.com/office/drawing/2014/main" id="{8B480772-6D18-4E90-B082-55AD2AEE0453}"/>
              </a:ext>
            </a:extLst>
          </p:cNvPr>
          <p:cNvCxnSpPr>
            <a:cxnSpLocks/>
            <a:stCxn id="61" idx="1"/>
          </p:cNvCxnSpPr>
          <p:nvPr/>
        </p:nvCxnSpPr>
        <p:spPr>
          <a:xfrm flipH="1">
            <a:off x="2055477" y="1602819"/>
            <a:ext cx="662918" cy="133341"/>
          </a:xfrm>
          <a:prstGeom prst="line">
            <a:avLst/>
          </a:prstGeom>
          <a:ln w="28575">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0" name="椭圆 25">
            <a:extLst>
              <a:ext uri="{FF2B5EF4-FFF2-40B4-BE49-F238E27FC236}">
                <a16:creationId xmlns:a16="http://schemas.microsoft.com/office/drawing/2014/main" id="{F4081517-F13F-4247-83F3-B4DDD82560C6}"/>
              </a:ext>
            </a:extLst>
          </p:cNvPr>
          <p:cNvSpPr/>
          <p:nvPr/>
        </p:nvSpPr>
        <p:spPr>
          <a:xfrm>
            <a:off x="3523619" y="2120212"/>
            <a:ext cx="940725" cy="841740"/>
          </a:xfrm>
          <a:prstGeom prst="ellipse">
            <a:avLst/>
          </a:prstGeom>
          <a:solidFill>
            <a:srgbClr val="FFF2CC">
              <a:alpha val="50196"/>
            </a:srgbClr>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椭圆 26">
            <a:extLst>
              <a:ext uri="{FF2B5EF4-FFF2-40B4-BE49-F238E27FC236}">
                <a16:creationId xmlns:a16="http://schemas.microsoft.com/office/drawing/2014/main" id="{10DD666D-592A-4268-9DD6-CA53A78CAE27}"/>
              </a:ext>
            </a:extLst>
          </p:cNvPr>
          <p:cNvSpPr/>
          <p:nvPr/>
        </p:nvSpPr>
        <p:spPr>
          <a:xfrm>
            <a:off x="1327039" y="1672377"/>
            <a:ext cx="941643" cy="835012"/>
          </a:xfrm>
          <a:prstGeom prst="ellipse">
            <a:avLst/>
          </a:prstGeom>
          <a:solidFill>
            <a:srgbClr val="FFF2CC">
              <a:alpha val="50196"/>
            </a:srgbClr>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Title 1">
            <a:extLst>
              <a:ext uri="{FF2B5EF4-FFF2-40B4-BE49-F238E27FC236}">
                <a16:creationId xmlns:a16="http://schemas.microsoft.com/office/drawing/2014/main" id="{8F33646C-7874-4358-8B6D-4FC0938A0973}"/>
              </a:ext>
            </a:extLst>
          </p:cNvPr>
          <p:cNvSpPr txBox="1">
            <a:spLocks/>
          </p:cNvSpPr>
          <p:nvPr/>
        </p:nvSpPr>
        <p:spPr>
          <a:xfrm>
            <a:off x="-20312" y="5475716"/>
            <a:ext cx="6006375" cy="93532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b="1" dirty="0">
                <a:solidFill>
                  <a:schemeClr val="tx1">
                    <a:lumMod val="95000"/>
                    <a:lumOff val="5000"/>
                  </a:schemeClr>
                </a:solidFill>
              </a:rPr>
              <a:t>Under </a:t>
            </a:r>
            <a:r>
              <a:rPr lang="en-US" sz="1800" b="1" dirty="0">
                <a:solidFill>
                  <a:schemeClr val="accent2">
                    <a:lumMod val="75000"/>
                  </a:schemeClr>
                </a:solidFill>
              </a:rPr>
              <a:t>simple contagion</a:t>
            </a:r>
            <a:r>
              <a:rPr lang="nl-NL" sz="1800" b="1" dirty="0">
                <a:solidFill>
                  <a:schemeClr val="tx1">
                    <a:lumMod val="95000"/>
                    <a:lumOff val="5000"/>
                  </a:schemeClr>
                </a:solidFill>
              </a:rPr>
              <a:t>,</a:t>
            </a:r>
            <a:r>
              <a:rPr lang="zh-CN" altLang="nl-NL" sz="1800" b="1" dirty="0">
                <a:solidFill>
                  <a:schemeClr val="tx1">
                    <a:lumMod val="95000"/>
                    <a:lumOff val="5000"/>
                  </a:schemeClr>
                </a:solidFill>
              </a:rPr>
              <a:t> </a:t>
            </a:r>
            <a:r>
              <a:rPr lang="nl-NL" altLang="zh-CN" sz="1800" b="1" dirty="0" err="1">
                <a:solidFill>
                  <a:schemeClr val="tx1">
                    <a:lumMod val="95000"/>
                    <a:lumOff val="5000"/>
                  </a:schemeClr>
                </a:solidFill>
              </a:rPr>
              <a:t>the</a:t>
            </a:r>
            <a:r>
              <a:rPr lang="zh-CN" altLang="nl-NL" sz="1800" b="1" dirty="0">
                <a:solidFill>
                  <a:schemeClr val="tx1">
                    <a:lumMod val="95000"/>
                    <a:lumOff val="5000"/>
                  </a:schemeClr>
                </a:solidFill>
              </a:rPr>
              <a:t> </a:t>
            </a:r>
            <a:r>
              <a:rPr lang="nl-NL" altLang="zh-CN" sz="1800" b="1" dirty="0" err="1">
                <a:solidFill>
                  <a:schemeClr val="tx1">
                    <a:lumMod val="95000"/>
                    <a:lumOff val="5000"/>
                  </a:schemeClr>
                </a:solidFill>
              </a:rPr>
              <a:t>only</a:t>
            </a:r>
            <a:r>
              <a:rPr lang="zh-CN" altLang="nl-NL" sz="1800" b="1" dirty="0">
                <a:solidFill>
                  <a:schemeClr val="tx1">
                    <a:lumMod val="95000"/>
                    <a:lumOff val="5000"/>
                  </a:schemeClr>
                </a:solidFill>
              </a:rPr>
              <a:t> </a:t>
            </a:r>
            <a:r>
              <a:rPr lang="nl-NL" altLang="zh-CN" sz="1800" b="1" dirty="0">
                <a:solidFill>
                  <a:schemeClr val="tx1">
                    <a:lumMod val="95000"/>
                    <a:lumOff val="5000"/>
                  </a:schemeClr>
                </a:solidFill>
              </a:rPr>
              <a:t>tie</a:t>
            </a:r>
            <a:r>
              <a:rPr lang="zh-CN" altLang="nl-NL" sz="1800" b="1" dirty="0">
                <a:solidFill>
                  <a:schemeClr val="tx1">
                    <a:lumMod val="95000"/>
                    <a:lumOff val="5000"/>
                  </a:schemeClr>
                </a:solidFill>
              </a:rPr>
              <a:t> </a:t>
            </a:r>
            <a:r>
              <a:rPr lang="nl-NL" altLang="zh-CN" sz="1800" b="1" dirty="0" err="1">
                <a:solidFill>
                  <a:schemeClr val="tx1">
                    <a:lumMod val="95000"/>
                    <a:lumOff val="5000"/>
                  </a:schemeClr>
                </a:solidFill>
              </a:rPr>
              <a:t>between</a:t>
            </a:r>
            <a:r>
              <a:rPr lang="zh-CN" altLang="nl-NL" sz="1800" b="1" dirty="0">
                <a:solidFill>
                  <a:schemeClr val="tx1">
                    <a:lumMod val="95000"/>
                    <a:lumOff val="5000"/>
                  </a:schemeClr>
                </a:solidFill>
              </a:rPr>
              <a:t> </a:t>
            </a:r>
            <a:r>
              <a:rPr lang="nl-NL" altLang="zh-CN" sz="1800" b="1" dirty="0">
                <a:solidFill>
                  <a:schemeClr val="tx1">
                    <a:lumMod val="95000"/>
                    <a:lumOff val="5000"/>
                  </a:schemeClr>
                </a:solidFill>
              </a:rPr>
              <a:t>A</a:t>
            </a:r>
            <a:r>
              <a:rPr lang="zh-CN" altLang="nl-NL" sz="1800" b="1" dirty="0">
                <a:solidFill>
                  <a:schemeClr val="tx1">
                    <a:lumMod val="95000"/>
                    <a:lumOff val="5000"/>
                  </a:schemeClr>
                </a:solidFill>
              </a:rPr>
              <a:t> </a:t>
            </a:r>
            <a:r>
              <a:rPr lang="nl-NL" altLang="zh-CN" sz="1800" b="1" dirty="0" err="1">
                <a:solidFill>
                  <a:schemeClr val="tx1">
                    <a:lumMod val="95000"/>
                    <a:lumOff val="5000"/>
                  </a:schemeClr>
                </a:solidFill>
              </a:rPr>
              <a:t>and</a:t>
            </a:r>
            <a:r>
              <a:rPr lang="nl-NL" altLang="zh-CN" sz="1800" b="1" dirty="0">
                <a:solidFill>
                  <a:schemeClr val="tx1">
                    <a:lumMod val="95000"/>
                    <a:lumOff val="5000"/>
                  </a:schemeClr>
                </a:solidFill>
              </a:rPr>
              <a:t> C </a:t>
            </a:r>
            <a:r>
              <a:rPr lang="nl-NL" altLang="zh-CN" sz="1800" b="1" i="1" dirty="0" err="1">
                <a:solidFill>
                  <a:schemeClr val="accent2">
                    <a:lumMod val="75000"/>
                  </a:schemeClr>
                </a:solidFill>
              </a:rPr>
              <a:t>can</a:t>
            </a:r>
            <a:r>
              <a:rPr lang="nl-NL" altLang="zh-CN" sz="1800" b="1" dirty="0">
                <a:solidFill>
                  <a:schemeClr val="tx1">
                    <a:lumMod val="95000"/>
                    <a:lumOff val="5000"/>
                  </a:schemeClr>
                </a:solidFill>
              </a:rPr>
              <a:t> spread </a:t>
            </a:r>
            <a:r>
              <a:rPr lang="nl-NL" altLang="zh-CN" sz="1800" b="1" dirty="0" err="1">
                <a:solidFill>
                  <a:schemeClr val="tx1">
                    <a:lumMod val="95000"/>
                    <a:lumOff val="5000"/>
                  </a:schemeClr>
                </a:solidFill>
              </a:rPr>
              <a:t>the</a:t>
            </a:r>
            <a:r>
              <a:rPr lang="nl-NL" altLang="zh-CN" sz="1800" b="1" dirty="0">
                <a:solidFill>
                  <a:schemeClr val="tx1">
                    <a:lumMod val="95000"/>
                    <a:lumOff val="5000"/>
                  </a:schemeClr>
                </a:solidFill>
              </a:rPr>
              <a:t> </a:t>
            </a:r>
            <a:r>
              <a:rPr lang="nl-NL" altLang="zh-CN" sz="1800" b="1" dirty="0" err="1">
                <a:solidFill>
                  <a:schemeClr val="tx1">
                    <a:lumMod val="95000"/>
                    <a:lumOff val="5000"/>
                  </a:schemeClr>
                </a:solidFill>
              </a:rPr>
              <a:t>rumor</a:t>
            </a:r>
            <a:r>
              <a:rPr lang="nl-NL" altLang="zh-CN" sz="1800" b="1" dirty="0">
                <a:solidFill>
                  <a:schemeClr val="tx1">
                    <a:lumMod val="95000"/>
                    <a:lumOff val="5000"/>
                  </a:schemeClr>
                </a:solidFill>
              </a:rPr>
              <a:t>/virus </a:t>
            </a:r>
            <a:r>
              <a:rPr lang="nl-NL" altLang="zh-CN" sz="1800" b="1" dirty="0" err="1">
                <a:solidFill>
                  <a:schemeClr val="tx1">
                    <a:lumMod val="95000"/>
                    <a:lumOff val="5000"/>
                  </a:schemeClr>
                </a:solidFill>
              </a:rPr>
              <a:t>to</a:t>
            </a:r>
            <a:r>
              <a:rPr lang="nl-NL" altLang="zh-CN" sz="1800" b="1" dirty="0">
                <a:solidFill>
                  <a:schemeClr val="tx1">
                    <a:lumMod val="95000"/>
                    <a:lumOff val="5000"/>
                  </a:schemeClr>
                </a:solidFill>
              </a:rPr>
              <a:t> Community C </a:t>
            </a:r>
            <a:r>
              <a:rPr lang="nl-NL" altLang="zh-CN" sz="1800" b="1" dirty="0" err="1">
                <a:solidFill>
                  <a:schemeClr val="tx1">
                    <a:lumMod val="95000"/>
                    <a:lumOff val="5000"/>
                  </a:schemeClr>
                </a:solidFill>
              </a:rPr>
              <a:t>and</a:t>
            </a:r>
            <a:r>
              <a:rPr lang="nl-NL" altLang="zh-CN" sz="1800" b="1" dirty="0">
                <a:solidFill>
                  <a:schemeClr val="tx1">
                    <a:lumMod val="95000"/>
                    <a:lumOff val="5000"/>
                  </a:schemeClr>
                </a:solidFill>
              </a:rPr>
              <a:t> </a:t>
            </a:r>
            <a:r>
              <a:rPr lang="nl-NL" altLang="zh-CN" sz="1800" b="1" dirty="0" err="1">
                <a:solidFill>
                  <a:schemeClr val="tx1">
                    <a:lumMod val="95000"/>
                    <a:lumOff val="5000"/>
                  </a:schemeClr>
                </a:solidFill>
              </a:rPr>
              <a:t>thus</a:t>
            </a:r>
            <a:r>
              <a:rPr lang="nl-NL" altLang="zh-CN" sz="1800" b="1" dirty="0">
                <a:solidFill>
                  <a:schemeClr val="tx1">
                    <a:lumMod val="95000"/>
                    <a:lumOff val="5000"/>
                  </a:schemeClr>
                </a:solidFill>
              </a:rPr>
              <a:t> </a:t>
            </a:r>
            <a:r>
              <a:rPr lang="nl-NL" altLang="zh-CN" sz="1800" b="1" dirty="0" err="1">
                <a:solidFill>
                  <a:schemeClr val="tx1">
                    <a:lumMod val="95000"/>
                    <a:lumOff val="5000"/>
                  </a:schemeClr>
                </a:solidFill>
              </a:rPr>
              <a:t>fasten</a:t>
            </a:r>
            <a:r>
              <a:rPr lang="nl-NL" altLang="zh-CN" sz="1800" b="1" dirty="0">
                <a:solidFill>
                  <a:schemeClr val="tx1">
                    <a:lumMod val="95000"/>
                    <a:lumOff val="5000"/>
                  </a:schemeClr>
                </a:solidFill>
              </a:rPr>
              <a:t> </a:t>
            </a:r>
            <a:r>
              <a:rPr lang="nl-NL" altLang="zh-CN" sz="1800" b="1" dirty="0" err="1">
                <a:solidFill>
                  <a:schemeClr val="tx1">
                    <a:lumMod val="95000"/>
                    <a:lumOff val="5000"/>
                  </a:schemeClr>
                </a:solidFill>
              </a:rPr>
              <a:t>the</a:t>
            </a:r>
            <a:r>
              <a:rPr lang="nl-NL" altLang="zh-CN" sz="1800" b="1" dirty="0">
                <a:solidFill>
                  <a:schemeClr val="tx1">
                    <a:lumMod val="95000"/>
                    <a:lumOff val="5000"/>
                  </a:schemeClr>
                </a:solidFill>
              </a:rPr>
              <a:t> </a:t>
            </a:r>
            <a:r>
              <a:rPr lang="nl-NL" altLang="zh-CN" sz="1800" b="1" dirty="0" err="1">
                <a:solidFill>
                  <a:schemeClr val="tx1">
                    <a:lumMod val="95000"/>
                    <a:lumOff val="5000"/>
                  </a:schemeClr>
                </a:solidFill>
              </a:rPr>
              <a:t>diffusion</a:t>
            </a:r>
            <a:r>
              <a:rPr lang="nl-NL" altLang="zh-CN" sz="1800" b="1" dirty="0">
                <a:solidFill>
                  <a:schemeClr val="tx1">
                    <a:lumMod val="95000"/>
                    <a:lumOff val="5000"/>
                  </a:schemeClr>
                </a:solidFill>
              </a:rPr>
              <a:t> </a:t>
            </a:r>
            <a:r>
              <a:rPr lang="nl-NL" altLang="zh-CN" sz="1800" b="1" dirty="0" err="1">
                <a:solidFill>
                  <a:schemeClr val="tx1">
                    <a:lumMod val="95000"/>
                    <a:lumOff val="5000"/>
                  </a:schemeClr>
                </a:solidFill>
              </a:rPr>
              <a:t>process</a:t>
            </a:r>
            <a:r>
              <a:rPr lang="nl-NL" altLang="zh-CN" sz="1800" b="1" dirty="0">
                <a:solidFill>
                  <a:schemeClr val="tx1">
                    <a:lumMod val="95000"/>
                    <a:lumOff val="5000"/>
                  </a:schemeClr>
                </a:solidFill>
              </a:rPr>
              <a:t>.</a:t>
            </a:r>
            <a:endParaRPr lang="nl-NL" sz="1800" b="1" dirty="0">
              <a:solidFill>
                <a:schemeClr val="tx1">
                  <a:lumMod val="95000"/>
                  <a:lumOff val="5000"/>
                </a:schemeClr>
              </a:solidFill>
            </a:endParaRPr>
          </a:p>
        </p:txBody>
      </p:sp>
      <p:sp>
        <p:nvSpPr>
          <p:cNvPr id="79" name="椭圆 25">
            <a:extLst>
              <a:ext uri="{FF2B5EF4-FFF2-40B4-BE49-F238E27FC236}">
                <a16:creationId xmlns:a16="http://schemas.microsoft.com/office/drawing/2014/main" id="{C318CB5C-72DE-42C0-A1BD-293EEFACF059}"/>
              </a:ext>
            </a:extLst>
          </p:cNvPr>
          <p:cNvSpPr/>
          <p:nvPr/>
        </p:nvSpPr>
        <p:spPr>
          <a:xfrm>
            <a:off x="1606202" y="3748995"/>
            <a:ext cx="977256" cy="808138"/>
          </a:xfrm>
          <a:prstGeom prst="ellipse">
            <a:avLst/>
          </a:prstGeom>
          <a:solidFill>
            <a:srgbClr val="FFF2CC">
              <a:alpha val="50196"/>
            </a:srgbClr>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0" name="直接连接符 15">
            <a:extLst>
              <a:ext uri="{FF2B5EF4-FFF2-40B4-BE49-F238E27FC236}">
                <a16:creationId xmlns:a16="http://schemas.microsoft.com/office/drawing/2014/main" id="{0F945FF8-F369-4352-9B6D-A77F628F9957}"/>
              </a:ext>
            </a:extLst>
          </p:cNvPr>
          <p:cNvCxnSpPr>
            <a:cxnSpLocks/>
            <a:endCxn id="85" idx="2"/>
          </p:cNvCxnSpPr>
          <p:nvPr/>
        </p:nvCxnSpPr>
        <p:spPr>
          <a:xfrm flipV="1">
            <a:off x="2572489" y="4216325"/>
            <a:ext cx="296333" cy="5958"/>
          </a:xfrm>
          <a:prstGeom prst="line">
            <a:avLst/>
          </a:prstGeom>
          <a:ln w="28575">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1" name="直接连接符 21">
            <a:extLst>
              <a:ext uri="{FF2B5EF4-FFF2-40B4-BE49-F238E27FC236}">
                <a16:creationId xmlns:a16="http://schemas.microsoft.com/office/drawing/2014/main" id="{E1812B60-8D85-459C-8688-4C4B61CB1412}"/>
              </a:ext>
            </a:extLst>
          </p:cNvPr>
          <p:cNvCxnSpPr>
            <a:cxnSpLocks/>
          </p:cNvCxnSpPr>
          <p:nvPr/>
        </p:nvCxnSpPr>
        <p:spPr>
          <a:xfrm flipH="1" flipV="1">
            <a:off x="1764928" y="3426639"/>
            <a:ext cx="167286" cy="319526"/>
          </a:xfrm>
          <a:prstGeom prst="line">
            <a:avLst/>
          </a:prstGeom>
          <a:ln w="28575">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5" name="椭圆 25">
            <a:extLst>
              <a:ext uri="{FF2B5EF4-FFF2-40B4-BE49-F238E27FC236}">
                <a16:creationId xmlns:a16="http://schemas.microsoft.com/office/drawing/2014/main" id="{3EC947AA-D0D6-4ADC-9C46-4DC0BD1E4D8F}"/>
              </a:ext>
            </a:extLst>
          </p:cNvPr>
          <p:cNvSpPr/>
          <p:nvPr/>
        </p:nvSpPr>
        <p:spPr>
          <a:xfrm>
            <a:off x="2868822" y="3811921"/>
            <a:ext cx="846375" cy="808808"/>
          </a:xfrm>
          <a:prstGeom prst="ellipse">
            <a:avLst/>
          </a:prstGeom>
          <a:solidFill>
            <a:srgbClr val="FFF2CC">
              <a:alpha val="50196"/>
            </a:srgbClr>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椭圆 26">
            <a:extLst>
              <a:ext uri="{FF2B5EF4-FFF2-40B4-BE49-F238E27FC236}">
                <a16:creationId xmlns:a16="http://schemas.microsoft.com/office/drawing/2014/main" id="{578920F1-74E0-4D55-94B1-F9FC952391C9}"/>
              </a:ext>
            </a:extLst>
          </p:cNvPr>
          <p:cNvSpPr/>
          <p:nvPr/>
        </p:nvSpPr>
        <p:spPr>
          <a:xfrm>
            <a:off x="976319" y="2814625"/>
            <a:ext cx="941643" cy="737436"/>
          </a:xfrm>
          <a:prstGeom prst="ellipse">
            <a:avLst/>
          </a:prstGeom>
          <a:solidFill>
            <a:srgbClr val="FFF2CC">
              <a:alpha val="50196"/>
            </a:srgbClr>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70" name="Group 269">
            <a:extLst>
              <a:ext uri="{FF2B5EF4-FFF2-40B4-BE49-F238E27FC236}">
                <a16:creationId xmlns:a16="http://schemas.microsoft.com/office/drawing/2014/main" id="{9A74FE32-BED0-4EE1-B12D-76804BB9B633}"/>
              </a:ext>
            </a:extLst>
          </p:cNvPr>
          <p:cNvGrpSpPr/>
          <p:nvPr/>
        </p:nvGrpSpPr>
        <p:grpSpPr>
          <a:xfrm>
            <a:off x="7634925" y="1408073"/>
            <a:ext cx="3427882" cy="3072691"/>
            <a:chOff x="403874" y="1473711"/>
            <a:chExt cx="3427882" cy="3072691"/>
          </a:xfrm>
        </p:grpSpPr>
        <p:sp>
          <p:nvSpPr>
            <p:cNvPr id="271" name="Oval 270">
              <a:extLst>
                <a:ext uri="{FF2B5EF4-FFF2-40B4-BE49-F238E27FC236}">
                  <a16:creationId xmlns:a16="http://schemas.microsoft.com/office/drawing/2014/main" id="{2DDE8CB9-C30F-4364-AFBF-5ABD7C11901D}"/>
                </a:ext>
              </a:extLst>
            </p:cNvPr>
            <p:cNvSpPr/>
            <p:nvPr/>
          </p:nvSpPr>
          <p:spPr>
            <a:xfrm>
              <a:off x="747053" y="1919131"/>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72" name="Oval 271">
              <a:extLst>
                <a:ext uri="{FF2B5EF4-FFF2-40B4-BE49-F238E27FC236}">
                  <a16:creationId xmlns:a16="http://schemas.microsoft.com/office/drawing/2014/main" id="{30E7AAAD-03F9-4E97-883C-691D94BA30D8}"/>
                </a:ext>
              </a:extLst>
            </p:cNvPr>
            <p:cNvSpPr/>
            <p:nvPr/>
          </p:nvSpPr>
          <p:spPr>
            <a:xfrm>
              <a:off x="1013475" y="169584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73" name="Oval 272">
              <a:extLst>
                <a:ext uri="{FF2B5EF4-FFF2-40B4-BE49-F238E27FC236}">
                  <a16:creationId xmlns:a16="http://schemas.microsoft.com/office/drawing/2014/main" id="{5443DCD3-840F-46A5-8A2B-E52DDA9BF5D6}"/>
                </a:ext>
              </a:extLst>
            </p:cNvPr>
            <p:cNvSpPr/>
            <p:nvPr/>
          </p:nvSpPr>
          <p:spPr>
            <a:xfrm>
              <a:off x="1303088" y="177027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74" name="Oval 273">
              <a:extLst>
                <a:ext uri="{FF2B5EF4-FFF2-40B4-BE49-F238E27FC236}">
                  <a16:creationId xmlns:a16="http://schemas.microsoft.com/office/drawing/2014/main" id="{D6184A0E-F9E5-4086-BCA1-BFEABCBC7B22}"/>
                </a:ext>
              </a:extLst>
            </p:cNvPr>
            <p:cNvSpPr/>
            <p:nvPr/>
          </p:nvSpPr>
          <p:spPr>
            <a:xfrm>
              <a:off x="1463288" y="199355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75" name="Oval 274">
              <a:extLst>
                <a:ext uri="{FF2B5EF4-FFF2-40B4-BE49-F238E27FC236}">
                  <a16:creationId xmlns:a16="http://schemas.microsoft.com/office/drawing/2014/main" id="{72E8AB17-035C-476B-810D-DD2C5518F196}"/>
                </a:ext>
              </a:extLst>
            </p:cNvPr>
            <p:cNvSpPr/>
            <p:nvPr/>
          </p:nvSpPr>
          <p:spPr>
            <a:xfrm>
              <a:off x="811053" y="2190312"/>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76" name="Oval 275">
              <a:extLst>
                <a:ext uri="{FF2B5EF4-FFF2-40B4-BE49-F238E27FC236}">
                  <a16:creationId xmlns:a16="http://schemas.microsoft.com/office/drawing/2014/main" id="{C91D8718-2091-4C07-859B-6A34DC744BD5}"/>
                </a:ext>
              </a:extLst>
            </p:cNvPr>
            <p:cNvSpPr/>
            <p:nvPr/>
          </p:nvSpPr>
          <p:spPr>
            <a:xfrm>
              <a:off x="1087903" y="2306764"/>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77" name="Oval 276">
              <a:extLst>
                <a:ext uri="{FF2B5EF4-FFF2-40B4-BE49-F238E27FC236}">
                  <a16:creationId xmlns:a16="http://schemas.microsoft.com/office/drawing/2014/main" id="{5543D79A-8C55-44AD-83A7-3C549E93857F}"/>
                </a:ext>
              </a:extLst>
            </p:cNvPr>
            <p:cNvSpPr/>
            <p:nvPr/>
          </p:nvSpPr>
          <p:spPr>
            <a:xfrm>
              <a:off x="1368807" y="2232336"/>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78" name="Straight Connector 277">
              <a:extLst>
                <a:ext uri="{FF2B5EF4-FFF2-40B4-BE49-F238E27FC236}">
                  <a16:creationId xmlns:a16="http://schemas.microsoft.com/office/drawing/2014/main" id="{0696D919-B853-4A82-BD88-0128F01E2603}"/>
                </a:ext>
              </a:extLst>
            </p:cNvPr>
            <p:cNvCxnSpPr>
              <a:stCxn id="272" idx="4"/>
              <a:endCxn id="276" idx="0"/>
            </p:cNvCxnSpPr>
            <p:nvPr/>
          </p:nvCxnSpPr>
          <p:spPr>
            <a:xfrm>
              <a:off x="1087903" y="1844703"/>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A5F91F3D-27E0-4F34-A827-C43F830CEF6B}"/>
                </a:ext>
              </a:extLst>
            </p:cNvPr>
            <p:cNvCxnSpPr>
              <a:stCxn id="271" idx="6"/>
              <a:endCxn id="277" idx="1"/>
            </p:cNvCxnSpPr>
            <p:nvPr/>
          </p:nvCxnSpPr>
          <p:spPr>
            <a:xfrm>
              <a:off x="895909" y="1993559"/>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BDEBD29E-9472-4020-B9F1-E1FFFA26BA66}"/>
                </a:ext>
              </a:extLst>
            </p:cNvPr>
            <p:cNvCxnSpPr>
              <a:stCxn id="275" idx="7"/>
              <a:endCxn id="273" idx="2"/>
            </p:cNvCxnSpPr>
            <p:nvPr/>
          </p:nvCxnSpPr>
          <p:spPr>
            <a:xfrm flipV="1">
              <a:off x="938110" y="1844703"/>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AE710EB3-6216-44AB-A815-C5C5B05A78A4}"/>
                </a:ext>
              </a:extLst>
            </p:cNvPr>
            <p:cNvCxnSpPr>
              <a:cxnSpLocks/>
              <a:stCxn id="271" idx="6"/>
              <a:endCxn id="274" idx="2"/>
            </p:cNvCxnSpPr>
            <p:nvPr/>
          </p:nvCxnSpPr>
          <p:spPr>
            <a:xfrm>
              <a:off x="895909" y="1993559"/>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FC9E3C91-BC6C-4B91-B6A4-9E299C33BB77}"/>
                </a:ext>
              </a:extLst>
            </p:cNvPr>
            <p:cNvCxnSpPr>
              <a:stCxn id="271" idx="0"/>
              <a:endCxn id="272" idx="2"/>
            </p:cNvCxnSpPr>
            <p:nvPr/>
          </p:nvCxnSpPr>
          <p:spPr>
            <a:xfrm flipV="1">
              <a:off x="821481" y="1770275"/>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3163ED75-5758-467D-B165-617B445888AA}"/>
                </a:ext>
              </a:extLst>
            </p:cNvPr>
            <p:cNvCxnSpPr>
              <a:stCxn id="272" idx="7"/>
              <a:endCxn id="273" idx="0"/>
            </p:cNvCxnSpPr>
            <p:nvPr/>
          </p:nvCxnSpPr>
          <p:spPr>
            <a:xfrm>
              <a:off x="1140532" y="1717646"/>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8AA72CB7-941F-4548-A9B4-EC0E45AE3568}"/>
                </a:ext>
              </a:extLst>
            </p:cNvPr>
            <p:cNvCxnSpPr>
              <a:stCxn id="273" idx="5"/>
              <a:endCxn id="274" idx="1"/>
            </p:cNvCxnSpPr>
            <p:nvPr/>
          </p:nvCxnSpPr>
          <p:spPr>
            <a:xfrm>
              <a:off x="1430145" y="1897332"/>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0C205C31-7155-49EF-9971-04D974CFA827}"/>
                </a:ext>
              </a:extLst>
            </p:cNvPr>
            <p:cNvCxnSpPr>
              <a:stCxn id="274" idx="4"/>
              <a:endCxn id="277" idx="7"/>
            </p:cNvCxnSpPr>
            <p:nvPr/>
          </p:nvCxnSpPr>
          <p:spPr>
            <a:xfrm flipH="1">
              <a:off x="1495864" y="2142415"/>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8CF9E7A5-7DDE-476D-9E93-75C2D9564840}"/>
                </a:ext>
              </a:extLst>
            </p:cNvPr>
            <p:cNvCxnSpPr>
              <a:stCxn id="277" idx="4"/>
              <a:endCxn id="276" idx="6"/>
            </p:cNvCxnSpPr>
            <p:nvPr/>
          </p:nvCxnSpPr>
          <p:spPr>
            <a:xfrm flipH="1">
              <a:off x="1236759" y="2381192"/>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2CB09B6F-84FE-4A11-B745-8420742E0997}"/>
                </a:ext>
              </a:extLst>
            </p:cNvPr>
            <p:cNvCxnSpPr>
              <a:stCxn id="275" idx="4"/>
              <a:endCxn id="276" idx="2"/>
            </p:cNvCxnSpPr>
            <p:nvPr/>
          </p:nvCxnSpPr>
          <p:spPr>
            <a:xfrm>
              <a:off x="885481" y="2339168"/>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885B7FBE-7B82-4063-B5EB-BD84A0DDBC8A}"/>
                </a:ext>
              </a:extLst>
            </p:cNvPr>
            <p:cNvCxnSpPr>
              <a:stCxn id="271" idx="4"/>
              <a:endCxn id="275" idx="1"/>
            </p:cNvCxnSpPr>
            <p:nvPr/>
          </p:nvCxnSpPr>
          <p:spPr>
            <a:xfrm>
              <a:off x="821481" y="2067987"/>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F4FAF8E4-1ACD-432C-90A5-8B51DB473D52}"/>
                </a:ext>
              </a:extLst>
            </p:cNvPr>
            <p:cNvCxnSpPr>
              <a:stCxn id="273" idx="3"/>
              <a:endCxn id="276" idx="0"/>
            </p:cNvCxnSpPr>
            <p:nvPr/>
          </p:nvCxnSpPr>
          <p:spPr>
            <a:xfrm flipH="1">
              <a:off x="1162331" y="1897332"/>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CBC38541-1AFE-4384-BF13-CAA6E9A9F31F}"/>
                </a:ext>
              </a:extLst>
            </p:cNvPr>
            <p:cNvCxnSpPr>
              <a:stCxn id="272" idx="4"/>
              <a:endCxn id="277" idx="1"/>
            </p:cNvCxnSpPr>
            <p:nvPr/>
          </p:nvCxnSpPr>
          <p:spPr>
            <a:xfrm>
              <a:off x="1087903" y="1844703"/>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E9E6FCD6-BCA2-436D-AF83-ED4F62A5C51A}"/>
                </a:ext>
              </a:extLst>
            </p:cNvPr>
            <p:cNvCxnSpPr>
              <a:stCxn id="272" idx="4"/>
              <a:endCxn id="275" idx="7"/>
            </p:cNvCxnSpPr>
            <p:nvPr/>
          </p:nvCxnSpPr>
          <p:spPr>
            <a:xfrm flipH="1">
              <a:off x="938110" y="1844703"/>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B9997AF6-ED40-4755-A2E6-5E0C10D2678B}"/>
                </a:ext>
              </a:extLst>
            </p:cNvPr>
            <p:cNvCxnSpPr>
              <a:stCxn id="275" idx="7"/>
              <a:endCxn id="277" idx="1"/>
            </p:cNvCxnSpPr>
            <p:nvPr/>
          </p:nvCxnSpPr>
          <p:spPr>
            <a:xfrm>
              <a:off x="938110" y="2212111"/>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5FB5F3C0-D20C-474F-A217-1A3B9586FE69}"/>
                </a:ext>
              </a:extLst>
            </p:cNvPr>
            <p:cNvCxnSpPr>
              <a:cxnSpLocks/>
              <a:stCxn id="273" idx="2"/>
              <a:endCxn id="271" idx="6"/>
            </p:cNvCxnSpPr>
            <p:nvPr/>
          </p:nvCxnSpPr>
          <p:spPr>
            <a:xfrm flipH="1">
              <a:off x="895909" y="1844703"/>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3EB81A4C-E144-4072-89E0-E0ADEED2015A}"/>
                </a:ext>
              </a:extLst>
            </p:cNvPr>
            <p:cNvCxnSpPr>
              <a:stCxn id="271" idx="5"/>
              <a:endCxn id="276" idx="1"/>
            </p:cNvCxnSpPr>
            <p:nvPr/>
          </p:nvCxnSpPr>
          <p:spPr>
            <a:xfrm>
              <a:off x="874110" y="2046188"/>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295" name="Oval 294">
              <a:extLst>
                <a:ext uri="{FF2B5EF4-FFF2-40B4-BE49-F238E27FC236}">
                  <a16:creationId xmlns:a16="http://schemas.microsoft.com/office/drawing/2014/main" id="{67853F47-ED13-4F2B-A31D-D66CBF821ED6}"/>
                </a:ext>
              </a:extLst>
            </p:cNvPr>
            <p:cNvSpPr/>
            <p:nvPr/>
          </p:nvSpPr>
          <p:spPr>
            <a:xfrm>
              <a:off x="2012635" y="169699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96" name="Oval 295">
              <a:extLst>
                <a:ext uri="{FF2B5EF4-FFF2-40B4-BE49-F238E27FC236}">
                  <a16:creationId xmlns:a16="http://schemas.microsoft.com/office/drawing/2014/main" id="{395E1C91-7E04-4DDF-99F2-4B324F7268BA}"/>
                </a:ext>
              </a:extLst>
            </p:cNvPr>
            <p:cNvSpPr/>
            <p:nvPr/>
          </p:nvSpPr>
          <p:spPr>
            <a:xfrm>
              <a:off x="2279057" y="1473711"/>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97" name="Oval 296">
              <a:extLst>
                <a:ext uri="{FF2B5EF4-FFF2-40B4-BE49-F238E27FC236}">
                  <a16:creationId xmlns:a16="http://schemas.microsoft.com/office/drawing/2014/main" id="{C252B3ED-5258-4024-A204-FE1DEC4215B6}"/>
                </a:ext>
              </a:extLst>
            </p:cNvPr>
            <p:cNvSpPr/>
            <p:nvPr/>
          </p:nvSpPr>
          <p:spPr>
            <a:xfrm>
              <a:off x="2568670" y="154813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98" name="Oval 297">
              <a:extLst>
                <a:ext uri="{FF2B5EF4-FFF2-40B4-BE49-F238E27FC236}">
                  <a16:creationId xmlns:a16="http://schemas.microsoft.com/office/drawing/2014/main" id="{05E30A1A-8A1E-4BF3-94DB-66118E31E8EF}"/>
                </a:ext>
              </a:extLst>
            </p:cNvPr>
            <p:cNvSpPr/>
            <p:nvPr/>
          </p:nvSpPr>
          <p:spPr>
            <a:xfrm>
              <a:off x="2728870" y="1771423"/>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99" name="Oval 298">
              <a:extLst>
                <a:ext uri="{FF2B5EF4-FFF2-40B4-BE49-F238E27FC236}">
                  <a16:creationId xmlns:a16="http://schemas.microsoft.com/office/drawing/2014/main" id="{634BD62C-A8B2-46BB-BA91-9E282E0DA809}"/>
                </a:ext>
              </a:extLst>
            </p:cNvPr>
            <p:cNvSpPr/>
            <p:nvPr/>
          </p:nvSpPr>
          <p:spPr>
            <a:xfrm>
              <a:off x="2076635" y="1968176"/>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00" name="Oval 299">
              <a:extLst>
                <a:ext uri="{FF2B5EF4-FFF2-40B4-BE49-F238E27FC236}">
                  <a16:creationId xmlns:a16="http://schemas.microsoft.com/office/drawing/2014/main" id="{15321BE4-966A-41AF-B40E-1485172A7279}"/>
                </a:ext>
              </a:extLst>
            </p:cNvPr>
            <p:cNvSpPr/>
            <p:nvPr/>
          </p:nvSpPr>
          <p:spPr>
            <a:xfrm>
              <a:off x="2353485" y="2084628"/>
              <a:ext cx="148856" cy="148856"/>
            </a:xfrm>
            <a:prstGeom prst="ellipse">
              <a:avLst/>
            </a:prstGeom>
            <a:solidFill>
              <a:schemeClr val="accent4">
                <a:lumMod val="60000"/>
                <a:lumOff val="4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01" name="Oval 300">
              <a:extLst>
                <a:ext uri="{FF2B5EF4-FFF2-40B4-BE49-F238E27FC236}">
                  <a16:creationId xmlns:a16="http://schemas.microsoft.com/office/drawing/2014/main" id="{AD540F6C-AEB9-4D9A-A749-A1D4FC20B6BE}"/>
                </a:ext>
              </a:extLst>
            </p:cNvPr>
            <p:cNvSpPr/>
            <p:nvPr/>
          </p:nvSpPr>
          <p:spPr>
            <a:xfrm>
              <a:off x="2634389" y="2010200"/>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302" name="Straight Connector 301">
              <a:extLst>
                <a:ext uri="{FF2B5EF4-FFF2-40B4-BE49-F238E27FC236}">
                  <a16:creationId xmlns:a16="http://schemas.microsoft.com/office/drawing/2014/main" id="{A84AF81C-66C6-4781-B3BA-538153109826}"/>
                </a:ext>
              </a:extLst>
            </p:cNvPr>
            <p:cNvCxnSpPr>
              <a:stCxn id="296" idx="4"/>
              <a:endCxn id="300" idx="0"/>
            </p:cNvCxnSpPr>
            <p:nvPr/>
          </p:nvCxnSpPr>
          <p:spPr>
            <a:xfrm>
              <a:off x="2353485" y="1622567"/>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CBEC417D-E0B1-4CBA-A231-F1F46B78E687}"/>
                </a:ext>
              </a:extLst>
            </p:cNvPr>
            <p:cNvCxnSpPr>
              <a:stCxn id="295" idx="6"/>
              <a:endCxn id="301" idx="1"/>
            </p:cNvCxnSpPr>
            <p:nvPr/>
          </p:nvCxnSpPr>
          <p:spPr>
            <a:xfrm>
              <a:off x="2161491" y="1771423"/>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EDE8BD13-7E9A-4D0C-A204-F3D8FAB5BFAA}"/>
                </a:ext>
              </a:extLst>
            </p:cNvPr>
            <p:cNvCxnSpPr>
              <a:stCxn id="299" idx="7"/>
              <a:endCxn id="297" idx="2"/>
            </p:cNvCxnSpPr>
            <p:nvPr/>
          </p:nvCxnSpPr>
          <p:spPr>
            <a:xfrm flipV="1">
              <a:off x="2203692" y="1622567"/>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9F1FD5C7-6514-4D67-8E1F-40EF54ECFF07}"/>
                </a:ext>
              </a:extLst>
            </p:cNvPr>
            <p:cNvCxnSpPr>
              <a:cxnSpLocks/>
              <a:stCxn id="295" idx="6"/>
              <a:endCxn id="298" idx="2"/>
            </p:cNvCxnSpPr>
            <p:nvPr/>
          </p:nvCxnSpPr>
          <p:spPr>
            <a:xfrm>
              <a:off x="2161491" y="1771423"/>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29DF3785-8BFA-45FF-8FEE-424E381650B1}"/>
                </a:ext>
              </a:extLst>
            </p:cNvPr>
            <p:cNvCxnSpPr>
              <a:stCxn id="295" idx="0"/>
              <a:endCxn id="296" idx="2"/>
            </p:cNvCxnSpPr>
            <p:nvPr/>
          </p:nvCxnSpPr>
          <p:spPr>
            <a:xfrm flipV="1">
              <a:off x="2087063" y="1548139"/>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FAAA8834-E52D-44E7-9E5D-868BD5EE5662}"/>
                </a:ext>
              </a:extLst>
            </p:cNvPr>
            <p:cNvCxnSpPr>
              <a:stCxn id="296" idx="7"/>
              <a:endCxn id="297" idx="0"/>
            </p:cNvCxnSpPr>
            <p:nvPr/>
          </p:nvCxnSpPr>
          <p:spPr>
            <a:xfrm>
              <a:off x="2406114" y="1495510"/>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8A608C9A-7844-4D2D-8543-C31316FC8DB7}"/>
                </a:ext>
              </a:extLst>
            </p:cNvPr>
            <p:cNvCxnSpPr>
              <a:stCxn id="297" idx="5"/>
              <a:endCxn id="298" idx="1"/>
            </p:cNvCxnSpPr>
            <p:nvPr/>
          </p:nvCxnSpPr>
          <p:spPr>
            <a:xfrm>
              <a:off x="2695727" y="1675196"/>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703F52C3-8B6C-4CB8-AC95-E492DC47B6F1}"/>
                </a:ext>
              </a:extLst>
            </p:cNvPr>
            <p:cNvCxnSpPr>
              <a:stCxn id="298" idx="4"/>
              <a:endCxn id="301" idx="7"/>
            </p:cNvCxnSpPr>
            <p:nvPr/>
          </p:nvCxnSpPr>
          <p:spPr>
            <a:xfrm flipH="1">
              <a:off x="2761446" y="1920279"/>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BED818D7-1D70-49E9-96EF-7E9F7F7B2886}"/>
                </a:ext>
              </a:extLst>
            </p:cNvPr>
            <p:cNvCxnSpPr>
              <a:stCxn id="301" idx="4"/>
              <a:endCxn id="300" idx="6"/>
            </p:cNvCxnSpPr>
            <p:nvPr/>
          </p:nvCxnSpPr>
          <p:spPr>
            <a:xfrm flipH="1">
              <a:off x="2502341" y="2159056"/>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21A8A007-58F7-4273-B396-A983394585E7}"/>
                </a:ext>
              </a:extLst>
            </p:cNvPr>
            <p:cNvCxnSpPr>
              <a:stCxn id="299" idx="4"/>
              <a:endCxn id="300" idx="2"/>
            </p:cNvCxnSpPr>
            <p:nvPr/>
          </p:nvCxnSpPr>
          <p:spPr>
            <a:xfrm>
              <a:off x="2151063" y="2117032"/>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35901450-F3BD-4489-9C83-B6FBF02445D4}"/>
                </a:ext>
              </a:extLst>
            </p:cNvPr>
            <p:cNvCxnSpPr>
              <a:stCxn id="295" idx="4"/>
              <a:endCxn id="299" idx="1"/>
            </p:cNvCxnSpPr>
            <p:nvPr/>
          </p:nvCxnSpPr>
          <p:spPr>
            <a:xfrm>
              <a:off x="2087063" y="1845851"/>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EA61F1BE-EB7F-4D46-AFB3-54A111F8F266}"/>
                </a:ext>
              </a:extLst>
            </p:cNvPr>
            <p:cNvCxnSpPr>
              <a:stCxn id="297" idx="3"/>
              <a:endCxn id="300" idx="0"/>
            </p:cNvCxnSpPr>
            <p:nvPr/>
          </p:nvCxnSpPr>
          <p:spPr>
            <a:xfrm flipH="1">
              <a:off x="2427913" y="1675196"/>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3C8F227E-CAE2-4E3D-A3EE-C6A0B32D96F2}"/>
                </a:ext>
              </a:extLst>
            </p:cNvPr>
            <p:cNvCxnSpPr>
              <a:stCxn id="296" idx="4"/>
              <a:endCxn id="301" idx="1"/>
            </p:cNvCxnSpPr>
            <p:nvPr/>
          </p:nvCxnSpPr>
          <p:spPr>
            <a:xfrm>
              <a:off x="2353485" y="1622567"/>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9DAAEDAF-907E-4260-9886-E2B926E99430}"/>
                </a:ext>
              </a:extLst>
            </p:cNvPr>
            <p:cNvCxnSpPr>
              <a:stCxn id="296" idx="4"/>
              <a:endCxn id="299" idx="7"/>
            </p:cNvCxnSpPr>
            <p:nvPr/>
          </p:nvCxnSpPr>
          <p:spPr>
            <a:xfrm flipH="1">
              <a:off x="2203692" y="1622567"/>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C1D69334-97B5-4D8C-95A7-99B2A2E17390}"/>
                </a:ext>
              </a:extLst>
            </p:cNvPr>
            <p:cNvCxnSpPr>
              <a:stCxn id="299" idx="7"/>
              <a:endCxn id="301" idx="1"/>
            </p:cNvCxnSpPr>
            <p:nvPr/>
          </p:nvCxnSpPr>
          <p:spPr>
            <a:xfrm>
              <a:off x="2203692" y="1989975"/>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A027076E-3465-4DC6-BAE7-2785D1A36C9F}"/>
                </a:ext>
              </a:extLst>
            </p:cNvPr>
            <p:cNvCxnSpPr>
              <a:cxnSpLocks/>
              <a:stCxn id="297" idx="2"/>
              <a:endCxn id="295" idx="6"/>
            </p:cNvCxnSpPr>
            <p:nvPr/>
          </p:nvCxnSpPr>
          <p:spPr>
            <a:xfrm flipH="1">
              <a:off x="2161491" y="1622567"/>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ED23D7CA-2BC6-40AE-9D5E-625ED443AEF2}"/>
                </a:ext>
              </a:extLst>
            </p:cNvPr>
            <p:cNvCxnSpPr>
              <a:stCxn id="295" idx="5"/>
              <a:endCxn id="300" idx="1"/>
            </p:cNvCxnSpPr>
            <p:nvPr/>
          </p:nvCxnSpPr>
          <p:spPr>
            <a:xfrm>
              <a:off x="2139692" y="1824052"/>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319" name="Oval 318">
              <a:extLst>
                <a:ext uri="{FF2B5EF4-FFF2-40B4-BE49-F238E27FC236}">
                  <a16:creationId xmlns:a16="http://schemas.microsoft.com/office/drawing/2014/main" id="{E5872237-32B4-44F7-A127-B42133F2C27D}"/>
                </a:ext>
              </a:extLst>
            </p:cNvPr>
            <p:cNvSpPr/>
            <p:nvPr/>
          </p:nvSpPr>
          <p:spPr>
            <a:xfrm>
              <a:off x="2902832" y="2361352"/>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20" name="Oval 319">
              <a:extLst>
                <a:ext uri="{FF2B5EF4-FFF2-40B4-BE49-F238E27FC236}">
                  <a16:creationId xmlns:a16="http://schemas.microsoft.com/office/drawing/2014/main" id="{43B3ED8F-F3A5-4B2E-9B23-DFCC41EAF80A}"/>
                </a:ext>
              </a:extLst>
            </p:cNvPr>
            <p:cNvSpPr/>
            <p:nvPr/>
          </p:nvSpPr>
          <p:spPr>
            <a:xfrm>
              <a:off x="3169254" y="2138068"/>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21" name="Oval 320">
              <a:extLst>
                <a:ext uri="{FF2B5EF4-FFF2-40B4-BE49-F238E27FC236}">
                  <a16:creationId xmlns:a16="http://schemas.microsoft.com/office/drawing/2014/main" id="{0AF90FFF-0D84-4902-B389-A54E604D4216}"/>
                </a:ext>
              </a:extLst>
            </p:cNvPr>
            <p:cNvSpPr/>
            <p:nvPr/>
          </p:nvSpPr>
          <p:spPr>
            <a:xfrm>
              <a:off x="3458867" y="2212496"/>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22" name="Oval 321">
              <a:extLst>
                <a:ext uri="{FF2B5EF4-FFF2-40B4-BE49-F238E27FC236}">
                  <a16:creationId xmlns:a16="http://schemas.microsoft.com/office/drawing/2014/main" id="{7B17C17A-121E-40D5-A086-3A66E0E1F8F5}"/>
                </a:ext>
              </a:extLst>
            </p:cNvPr>
            <p:cNvSpPr/>
            <p:nvPr/>
          </p:nvSpPr>
          <p:spPr>
            <a:xfrm>
              <a:off x="3619067" y="2435780"/>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23" name="Oval 322">
              <a:extLst>
                <a:ext uri="{FF2B5EF4-FFF2-40B4-BE49-F238E27FC236}">
                  <a16:creationId xmlns:a16="http://schemas.microsoft.com/office/drawing/2014/main" id="{71315B39-5C85-4D02-8998-79A4CC6BC8AB}"/>
                </a:ext>
              </a:extLst>
            </p:cNvPr>
            <p:cNvSpPr/>
            <p:nvPr/>
          </p:nvSpPr>
          <p:spPr>
            <a:xfrm>
              <a:off x="2966832" y="2632533"/>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24" name="Oval 323">
              <a:extLst>
                <a:ext uri="{FF2B5EF4-FFF2-40B4-BE49-F238E27FC236}">
                  <a16:creationId xmlns:a16="http://schemas.microsoft.com/office/drawing/2014/main" id="{B0AE2985-0FE3-4D46-B3CC-FDB0A7802882}"/>
                </a:ext>
              </a:extLst>
            </p:cNvPr>
            <p:cNvSpPr/>
            <p:nvPr/>
          </p:nvSpPr>
          <p:spPr>
            <a:xfrm>
              <a:off x="3243682" y="274898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25" name="Oval 324">
              <a:extLst>
                <a:ext uri="{FF2B5EF4-FFF2-40B4-BE49-F238E27FC236}">
                  <a16:creationId xmlns:a16="http://schemas.microsoft.com/office/drawing/2014/main" id="{69FA9200-12E6-4E6C-BEAB-82AEA20CCF2C}"/>
                </a:ext>
              </a:extLst>
            </p:cNvPr>
            <p:cNvSpPr/>
            <p:nvPr/>
          </p:nvSpPr>
          <p:spPr>
            <a:xfrm>
              <a:off x="3524586" y="267455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326" name="Straight Connector 325">
              <a:extLst>
                <a:ext uri="{FF2B5EF4-FFF2-40B4-BE49-F238E27FC236}">
                  <a16:creationId xmlns:a16="http://schemas.microsoft.com/office/drawing/2014/main" id="{89F01949-D87F-4EE7-A7CE-79210D647EBF}"/>
                </a:ext>
              </a:extLst>
            </p:cNvPr>
            <p:cNvCxnSpPr>
              <a:stCxn id="320" idx="4"/>
              <a:endCxn id="324" idx="0"/>
            </p:cNvCxnSpPr>
            <p:nvPr/>
          </p:nvCxnSpPr>
          <p:spPr>
            <a:xfrm>
              <a:off x="3243682" y="2286924"/>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D295CCE3-8BA1-44CB-B864-A621B308EF11}"/>
                </a:ext>
              </a:extLst>
            </p:cNvPr>
            <p:cNvCxnSpPr>
              <a:stCxn id="319" idx="6"/>
              <a:endCxn id="325" idx="1"/>
            </p:cNvCxnSpPr>
            <p:nvPr/>
          </p:nvCxnSpPr>
          <p:spPr>
            <a:xfrm>
              <a:off x="3051688" y="2435780"/>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D15A2A51-692B-4F8B-A553-B4B2C96753BC}"/>
                </a:ext>
              </a:extLst>
            </p:cNvPr>
            <p:cNvCxnSpPr>
              <a:stCxn id="323" idx="7"/>
              <a:endCxn id="321" idx="2"/>
            </p:cNvCxnSpPr>
            <p:nvPr/>
          </p:nvCxnSpPr>
          <p:spPr>
            <a:xfrm flipV="1">
              <a:off x="3093889" y="2286924"/>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FFA29F9B-0EE6-4404-A7F3-080728C437F5}"/>
                </a:ext>
              </a:extLst>
            </p:cNvPr>
            <p:cNvCxnSpPr>
              <a:cxnSpLocks/>
              <a:stCxn id="319" idx="6"/>
              <a:endCxn id="322" idx="2"/>
            </p:cNvCxnSpPr>
            <p:nvPr/>
          </p:nvCxnSpPr>
          <p:spPr>
            <a:xfrm>
              <a:off x="3051688" y="2435780"/>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234A23AC-EC9E-497A-8D0F-73A998ABC49B}"/>
                </a:ext>
              </a:extLst>
            </p:cNvPr>
            <p:cNvCxnSpPr>
              <a:stCxn id="319" idx="0"/>
              <a:endCxn id="320" idx="2"/>
            </p:cNvCxnSpPr>
            <p:nvPr/>
          </p:nvCxnSpPr>
          <p:spPr>
            <a:xfrm flipV="1">
              <a:off x="2977260" y="2212496"/>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1035157E-04BD-4532-95EC-1ABD165382A1}"/>
                </a:ext>
              </a:extLst>
            </p:cNvPr>
            <p:cNvCxnSpPr>
              <a:stCxn id="320" idx="7"/>
              <a:endCxn id="321" idx="0"/>
            </p:cNvCxnSpPr>
            <p:nvPr/>
          </p:nvCxnSpPr>
          <p:spPr>
            <a:xfrm>
              <a:off x="3296311" y="2159867"/>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2FB56554-0984-46BA-ACC1-1C6F405B313B}"/>
                </a:ext>
              </a:extLst>
            </p:cNvPr>
            <p:cNvCxnSpPr>
              <a:stCxn id="321" idx="5"/>
              <a:endCxn id="322" idx="1"/>
            </p:cNvCxnSpPr>
            <p:nvPr/>
          </p:nvCxnSpPr>
          <p:spPr>
            <a:xfrm>
              <a:off x="3585924" y="2339553"/>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A8F783BE-08D2-4616-9876-F40620468083}"/>
                </a:ext>
              </a:extLst>
            </p:cNvPr>
            <p:cNvCxnSpPr>
              <a:stCxn id="322" idx="4"/>
              <a:endCxn id="325" idx="7"/>
            </p:cNvCxnSpPr>
            <p:nvPr/>
          </p:nvCxnSpPr>
          <p:spPr>
            <a:xfrm flipH="1">
              <a:off x="3651643" y="2584636"/>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255F5383-BA55-4001-B688-B95B046D508C}"/>
                </a:ext>
              </a:extLst>
            </p:cNvPr>
            <p:cNvCxnSpPr>
              <a:stCxn id="325" idx="4"/>
              <a:endCxn id="324" idx="6"/>
            </p:cNvCxnSpPr>
            <p:nvPr/>
          </p:nvCxnSpPr>
          <p:spPr>
            <a:xfrm flipH="1">
              <a:off x="3392538" y="2823413"/>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47977771-A03E-4E9A-8284-0DFB783D1F29}"/>
                </a:ext>
              </a:extLst>
            </p:cNvPr>
            <p:cNvCxnSpPr>
              <a:stCxn id="323" idx="4"/>
              <a:endCxn id="324" idx="2"/>
            </p:cNvCxnSpPr>
            <p:nvPr/>
          </p:nvCxnSpPr>
          <p:spPr>
            <a:xfrm>
              <a:off x="3041260" y="2781389"/>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54C5672B-92A4-4104-91DD-F14B1993D826}"/>
                </a:ext>
              </a:extLst>
            </p:cNvPr>
            <p:cNvCxnSpPr>
              <a:stCxn id="319" idx="4"/>
              <a:endCxn id="323" idx="1"/>
            </p:cNvCxnSpPr>
            <p:nvPr/>
          </p:nvCxnSpPr>
          <p:spPr>
            <a:xfrm>
              <a:off x="2977260" y="2510208"/>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23A90499-714E-43BB-97C8-F8CE71CC14B9}"/>
                </a:ext>
              </a:extLst>
            </p:cNvPr>
            <p:cNvCxnSpPr>
              <a:stCxn id="321" idx="3"/>
              <a:endCxn id="324" idx="0"/>
            </p:cNvCxnSpPr>
            <p:nvPr/>
          </p:nvCxnSpPr>
          <p:spPr>
            <a:xfrm flipH="1">
              <a:off x="3318110" y="2339553"/>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251B37E9-2378-483B-8A25-D604B9951160}"/>
                </a:ext>
              </a:extLst>
            </p:cNvPr>
            <p:cNvCxnSpPr>
              <a:stCxn id="320" idx="4"/>
              <a:endCxn id="325" idx="1"/>
            </p:cNvCxnSpPr>
            <p:nvPr/>
          </p:nvCxnSpPr>
          <p:spPr>
            <a:xfrm>
              <a:off x="3243682" y="2286924"/>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8FCFDE04-EE96-4FF1-829A-FB14E8C67789}"/>
                </a:ext>
              </a:extLst>
            </p:cNvPr>
            <p:cNvCxnSpPr>
              <a:stCxn id="320" idx="4"/>
              <a:endCxn id="323" idx="7"/>
            </p:cNvCxnSpPr>
            <p:nvPr/>
          </p:nvCxnSpPr>
          <p:spPr>
            <a:xfrm flipH="1">
              <a:off x="3093889" y="2286924"/>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2C3429B5-7CC4-4CDC-9E1A-6EC723B7C992}"/>
                </a:ext>
              </a:extLst>
            </p:cNvPr>
            <p:cNvCxnSpPr>
              <a:stCxn id="323" idx="7"/>
              <a:endCxn id="325" idx="1"/>
            </p:cNvCxnSpPr>
            <p:nvPr/>
          </p:nvCxnSpPr>
          <p:spPr>
            <a:xfrm>
              <a:off x="3093889" y="2654332"/>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BF2D39AA-35CF-4F1C-90BB-C8DB150CDF6E}"/>
                </a:ext>
              </a:extLst>
            </p:cNvPr>
            <p:cNvCxnSpPr>
              <a:cxnSpLocks/>
              <a:stCxn id="321" idx="2"/>
              <a:endCxn id="319" idx="6"/>
            </p:cNvCxnSpPr>
            <p:nvPr/>
          </p:nvCxnSpPr>
          <p:spPr>
            <a:xfrm flipH="1">
              <a:off x="3051688" y="2286924"/>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3E2150FC-572F-445E-BAAD-97B630891182}"/>
                </a:ext>
              </a:extLst>
            </p:cNvPr>
            <p:cNvCxnSpPr>
              <a:stCxn id="319" idx="5"/>
              <a:endCxn id="324" idx="1"/>
            </p:cNvCxnSpPr>
            <p:nvPr/>
          </p:nvCxnSpPr>
          <p:spPr>
            <a:xfrm>
              <a:off x="3029889" y="2488409"/>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343" name="Oval 342">
              <a:extLst>
                <a:ext uri="{FF2B5EF4-FFF2-40B4-BE49-F238E27FC236}">
                  <a16:creationId xmlns:a16="http://schemas.microsoft.com/office/drawing/2014/main" id="{1D4FE6FA-33CB-4385-B511-C6A611440FCA}"/>
                </a:ext>
              </a:extLst>
            </p:cNvPr>
            <p:cNvSpPr/>
            <p:nvPr/>
          </p:nvSpPr>
          <p:spPr>
            <a:xfrm>
              <a:off x="403874" y="297226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44" name="Oval 343">
              <a:extLst>
                <a:ext uri="{FF2B5EF4-FFF2-40B4-BE49-F238E27FC236}">
                  <a16:creationId xmlns:a16="http://schemas.microsoft.com/office/drawing/2014/main" id="{8A6F5C59-7584-4D94-822D-F54E9DB594DA}"/>
                </a:ext>
              </a:extLst>
            </p:cNvPr>
            <p:cNvSpPr/>
            <p:nvPr/>
          </p:nvSpPr>
          <p:spPr>
            <a:xfrm>
              <a:off x="670296" y="274898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45" name="Oval 344">
              <a:extLst>
                <a:ext uri="{FF2B5EF4-FFF2-40B4-BE49-F238E27FC236}">
                  <a16:creationId xmlns:a16="http://schemas.microsoft.com/office/drawing/2014/main" id="{B8655790-CD55-48BA-88A8-4BB1528B2A39}"/>
                </a:ext>
              </a:extLst>
            </p:cNvPr>
            <p:cNvSpPr/>
            <p:nvPr/>
          </p:nvSpPr>
          <p:spPr>
            <a:xfrm>
              <a:off x="959909" y="2823413"/>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46" name="Oval 345">
              <a:extLst>
                <a:ext uri="{FF2B5EF4-FFF2-40B4-BE49-F238E27FC236}">
                  <a16:creationId xmlns:a16="http://schemas.microsoft.com/office/drawing/2014/main" id="{BAD524BE-92B3-481B-97F4-9203BBE8B197}"/>
                </a:ext>
              </a:extLst>
            </p:cNvPr>
            <p:cNvSpPr/>
            <p:nvPr/>
          </p:nvSpPr>
          <p:spPr>
            <a:xfrm>
              <a:off x="1120109" y="304669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47" name="Oval 346">
              <a:extLst>
                <a:ext uri="{FF2B5EF4-FFF2-40B4-BE49-F238E27FC236}">
                  <a16:creationId xmlns:a16="http://schemas.microsoft.com/office/drawing/2014/main" id="{4B07E72F-E6F2-48F3-84AD-9AA6B297F265}"/>
                </a:ext>
              </a:extLst>
            </p:cNvPr>
            <p:cNvSpPr/>
            <p:nvPr/>
          </p:nvSpPr>
          <p:spPr>
            <a:xfrm>
              <a:off x="467874" y="3243450"/>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48" name="Oval 347">
              <a:extLst>
                <a:ext uri="{FF2B5EF4-FFF2-40B4-BE49-F238E27FC236}">
                  <a16:creationId xmlns:a16="http://schemas.microsoft.com/office/drawing/2014/main" id="{4DDBF297-E9A2-4391-9AFA-6C773F2F406C}"/>
                </a:ext>
              </a:extLst>
            </p:cNvPr>
            <p:cNvSpPr/>
            <p:nvPr/>
          </p:nvSpPr>
          <p:spPr>
            <a:xfrm>
              <a:off x="744724" y="3359902"/>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49" name="Oval 348">
              <a:extLst>
                <a:ext uri="{FF2B5EF4-FFF2-40B4-BE49-F238E27FC236}">
                  <a16:creationId xmlns:a16="http://schemas.microsoft.com/office/drawing/2014/main" id="{E897D18B-B73B-467C-ADB6-1D8A5934FF4B}"/>
                </a:ext>
              </a:extLst>
            </p:cNvPr>
            <p:cNvSpPr/>
            <p:nvPr/>
          </p:nvSpPr>
          <p:spPr>
            <a:xfrm>
              <a:off x="1025628" y="3285474"/>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350" name="Straight Connector 349">
              <a:extLst>
                <a:ext uri="{FF2B5EF4-FFF2-40B4-BE49-F238E27FC236}">
                  <a16:creationId xmlns:a16="http://schemas.microsoft.com/office/drawing/2014/main" id="{97186FD8-BE46-45B0-827D-258CED33F823}"/>
                </a:ext>
              </a:extLst>
            </p:cNvPr>
            <p:cNvCxnSpPr>
              <a:stCxn id="344" idx="4"/>
              <a:endCxn id="348" idx="0"/>
            </p:cNvCxnSpPr>
            <p:nvPr/>
          </p:nvCxnSpPr>
          <p:spPr>
            <a:xfrm>
              <a:off x="744724" y="2897841"/>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04BAD013-8B5F-4A06-A0D0-0E669D23EE91}"/>
                </a:ext>
              </a:extLst>
            </p:cNvPr>
            <p:cNvCxnSpPr>
              <a:stCxn id="343" idx="6"/>
              <a:endCxn id="349" idx="1"/>
            </p:cNvCxnSpPr>
            <p:nvPr/>
          </p:nvCxnSpPr>
          <p:spPr>
            <a:xfrm>
              <a:off x="552730" y="3046697"/>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2C8AB6B2-BFC8-4B00-B738-68AE640758BE}"/>
                </a:ext>
              </a:extLst>
            </p:cNvPr>
            <p:cNvCxnSpPr>
              <a:stCxn id="347" idx="7"/>
              <a:endCxn id="345" idx="2"/>
            </p:cNvCxnSpPr>
            <p:nvPr/>
          </p:nvCxnSpPr>
          <p:spPr>
            <a:xfrm flipV="1">
              <a:off x="594931" y="2897841"/>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id="{D513E6D3-0052-4B10-A35A-7D6EA81398EE}"/>
                </a:ext>
              </a:extLst>
            </p:cNvPr>
            <p:cNvCxnSpPr>
              <a:cxnSpLocks/>
              <a:stCxn id="343" idx="6"/>
              <a:endCxn id="346" idx="2"/>
            </p:cNvCxnSpPr>
            <p:nvPr/>
          </p:nvCxnSpPr>
          <p:spPr>
            <a:xfrm>
              <a:off x="552730" y="3046697"/>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id="{3EE1281F-A098-44D4-A00E-E9D75B7FED60}"/>
                </a:ext>
              </a:extLst>
            </p:cNvPr>
            <p:cNvCxnSpPr>
              <a:stCxn id="343" idx="0"/>
              <a:endCxn id="344" idx="2"/>
            </p:cNvCxnSpPr>
            <p:nvPr/>
          </p:nvCxnSpPr>
          <p:spPr>
            <a:xfrm flipV="1">
              <a:off x="478302" y="2823413"/>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9AF752EE-0BFD-4051-B7AC-725BD2D3742B}"/>
                </a:ext>
              </a:extLst>
            </p:cNvPr>
            <p:cNvCxnSpPr>
              <a:stCxn id="344" idx="7"/>
              <a:endCxn id="345" idx="0"/>
            </p:cNvCxnSpPr>
            <p:nvPr/>
          </p:nvCxnSpPr>
          <p:spPr>
            <a:xfrm>
              <a:off x="797353" y="2770784"/>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D3281E9C-834B-4590-A786-53413EBE6F62}"/>
                </a:ext>
              </a:extLst>
            </p:cNvPr>
            <p:cNvCxnSpPr>
              <a:stCxn id="345" idx="5"/>
              <a:endCxn id="346" idx="1"/>
            </p:cNvCxnSpPr>
            <p:nvPr/>
          </p:nvCxnSpPr>
          <p:spPr>
            <a:xfrm>
              <a:off x="1086966" y="2950470"/>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A2A207A2-AA5C-4656-B8F7-B10C1B7AB099}"/>
                </a:ext>
              </a:extLst>
            </p:cNvPr>
            <p:cNvCxnSpPr>
              <a:stCxn id="346" idx="4"/>
              <a:endCxn id="349" idx="7"/>
            </p:cNvCxnSpPr>
            <p:nvPr/>
          </p:nvCxnSpPr>
          <p:spPr>
            <a:xfrm flipH="1">
              <a:off x="1152685" y="3195553"/>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68028ADC-5965-4AEB-B07E-656BAED6D7EF}"/>
                </a:ext>
              </a:extLst>
            </p:cNvPr>
            <p:cNvCxnSpPr>
              <a:stCxn id="349" idx="4"/>
              <a:endCxn id="348" idx="6"/>
            </p:cNvCxnSpPr>
            <p:nvPr/>
          </p:nvCxnSpPr>
          <p:spPr>
            <a:xfrm flipH="1">
              <a:off x="893580" y="3434330"/>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4596B1FC-D117-40EC-BBBB-E32100D51371}"/>
                </a:ext>
              </a:extLst>
            </p:cNvPr>
            <p:cNvCxnSpPr>
              <a:stCxn id="347" idx="4"/>
              <a:endCxn id="348" idx="2"/>
            </p:cNvCxnSpPr>
            <p:nvPr/>
          </p:nvCxnSpPr>
          <p:spPr>
            <a:xfrm>
              <a:off x="542302" y="3392306"/>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60" name="Straight Connector 359">
              <a:extLst>
                <a:ext uri="{FF2B5EF4-FFF2-40B4-BE49-F238E27FC236}">
                  <a16:creationId xmlns:a16="http://schemas.microsoft.com/office/drawing/2014/main" id="{E1B92954-39FB-4E20-B8CD-0681F6FB4D62}"/>
                </a:ext>
              </a:extLst>
            </p:cNvPr>
            <p:cNvCxnSpPr>
              <a:stCxn id="343" idx="4"/>
              <a:endCxn id="347" idx="1"/>
            </p:cNvCxnSpPr>
            <p:nvPr/>
          </p:nvCxnSpPr>
          <p:spPr>
            <a:xfrm>
              <a:off x="478302" y="3121125"/>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395BFD73-D972-4ED7-8782-2376D3B11098}"/>
                </a:ext>
              </a:extLst>
            </p:cNvPr>
            <p:cNvCxnSpPr>
              <a:stCxn id="345" idx="3"/>
              <a:endCxn id="348" idx="0"/>
            </p:cNvCxnSpPr>
            <p:nvPr/>
          </p:nvCxnSpPr>
          <p:spPr>
            <a:xfrm flipH="1">
              <a:off x="819152" y="2950470"/>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id="{2A27E5B5-E8B9-45E2-8327-55BD431AB871}"/>
                </a:ext>
              </a:extLst>
            </p:cNvPr>
            <p:cNvCxnSpPr>
              <a:stCxn id="344" idx="4"/>
              <a:endCxn id="349" idx="1"/>
            </p:cNvCxnSpPr>
            <p:nvPr/>
          </p:nvCxnSpPr>
          <p:spPr>
            <a:xfrm>
              <a:off x="744724" y="2897841"/>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9C36794C-7DCD-4968-9A25-A4CF556E771B}"/>
                </a:ext>
              </a:extLst>
            </p:cNvPr>
            <p:cNvCxnSpPr>
              <a:stCxn id="344" idx="4"/>
              <a:endCxn id="347" idx="7"/>
            </p:cNvCxnSpPr>
            <p:nvPr/>
          </p:nvCxnSpPr>
          <p:spPr>
            <a:xfrm flipH="1">
              <a:off x="594931" y="2897841"/>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56C0D13A-C642-44DA-B28F-8CC51C3C727D}"/>
                </a:ext>
              </a:extLst>
            </p:cNvPr>
            <p:cNvCxnSpPr>
              <a:stCxn id="347" idx="7"/>
              <a:endCxn id="349" idx="1"/>
            </p:cNvCxnSpPr>
            <p:nvPr/>
          </p:nvCxnSpPr>
          <p:spPr>
            <a:xfrm>
              <a:off x="594931" y="3265249"/>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F08046A7-3760-4DF7-89D0-1A799AB43D81}"/>
                </a:ext>
              </a:extLst>
            </p:cNvPr>
            <p:cNvCxnSpPr>
              <a:cxnSpLocks/>
              <a:stCxn id="345" idx="2"/>
              <a:endCxn id="343" idx="6"/>
            </p:cNvCxnSpPr>
            <p:nvPr/>
          </p:nvCxnSpPr>
          <p:spPr>
            <a:xfrm flipH="1">
              <a:off x="552730" y="2897841"/>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6" name="Straight Connector 365">
              <a:extLst>
                <a:ext uri="{FF2B5EF4-FFF2-40B4-BE49-F238E27FC236}">
                  <a16:creationId xmlns:a16="http://schemas.microsoft.com/office/drawing/2014/main" id="{F63329C7-5569-4A3F-A2CC-676B68B8AA53}"/>
                </a:ext>
              </a:extLst>
            </p:cNvPr>
            <p:cNvCxnSpPr>
              <a:stCxn id="343" idx="5"/>
              <a:endCxn id="348" idx="1"/>
            </p:cNvCxnSpPr>
            <p:nvPr/>
          </p:nvCxnSpPr>
          <p:spPr>
            <a:xfrm>
              <a:off x="530931" y="3099326"/>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367" name="Oval 366">
              <a:extLst>
                <a:ext uri="{FF2B5EF4-FFF2-40B4-BE49-F238E27FC236}">
                  <a16:creationId xmlns:a16="http://schemas.microsoft.com/office/drawing/2014/main" id="{5D61CD88-876D-4058-987F-A7CAEBF4A14E}"/>
                </a:ext>
              </a:extLst>
            </p:cNvPr>
            <p:cNvSpPr/>
            <p:nvPr/>
          </p:nvSpPr>
          <p:spPr>
            <a:xfrm>
              <a:off x="1037287" y="3957284"/>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68" name="Oval 367">
              <a:extLst>
                <a:ext uri="{FF2B5EF4-FFF2-40B4-BE49-F238E27FC236}">
                  <a16:creationId xmlns:a16="http://schemas.microsoft.com/office/drawing/2014/main" id="{D6FB2F96-F7F4-4BD6-B297-798CB4571B0B}"/>
                </a:ext>
              </a:extLst>
            </p:cNvPr>
            <p:cNvSpPr/>
            <p:nvPr/>
          </p:nvSpPr>
          <p:spPr>
            <a:xfrm>
              <a:off x="1303709" y="3734000"/>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69" name="Oval 368">
              <a:extLst>
                <a:ext uri="{FF2B5EF4-FFF2-40B4-BE49-F238E27FC236}">
                  <a16:creationId xmlns:a16="http://schemas.microsoft.com/office/drawing/2014/main" id="{73D4DC7D-62E7-4B0F-AD8E-29E3B2104993}"/>
                </a:ext>
              </a:extLst>
            </p:cNvPr>
            <p:cNvSpPr/>
            <p:nvPr/>
          </p:nvSpPr>
          <p:spPr>
            <a:xfrm>
              <a:off x="1593322" y="3808428"/>
              <a:ext cx="148856" cy="148856"/>
            </a:xfrm>
            <a:prstGeom prst="ellipse">
              <a:avLst/>
            </a:prstGeom>
            <a:solidFill>
              <a:schemeClr val="accent4">
                <a:lumMod val="60000"/>
                <a:lumOff val="4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70" name="Oval 369">
              <a:extLst>
                <a:ext uri="{FF2B5EF4-FFF2-40B4-BE49-F238E27FC236}">
                  <a16:creationId xmlns:a16="http://schemas.microsoft.com/office/drawing/2014/main" id="{89D8645F-DB66-4853-AB18-B6F41D56B3A1}"/>
                </a:ext>
              </a:extLst>
            </p:cNvPr>
            <p:cNvSpPr/>
            <p:nvPr/>
          </p:nvSpPr>
          <p:spPr>
            <a:xfrm>
              <a:off x="1753522" y="4031712"/>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71" name="Oval 370">
              <a:extLst>
                <a:ext uri="{FF2B5EF4-FFF2-40B4-BE49-F238E27FC236}">
                  <a16:creationId xmlns:a16="http://schemas.microsoft.com/office/drawing/2014/main" id="{54270C97-9DCF-4BE8-99D2-ACDF1C5E2785}"/>
                </a:ext>
              </a:extLst>
            </p:cNvPr>
            <p:cNvSpPr/>
            <p:nvPr/>
          </p:nvSpPr>
          <p:spPr>
            <a:xfrm>
              <a:off x="1101287" y="422846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72" name="Oval 371">
              <a:extLst>
                <a:ext uri="{FF2B5EF4-FFF2-40B4-BE49-F238E27FC236}">
                  <a16:creationId xmlns:a16="http://schemas.microsoft.com/office/drawing/2014/main" id="{0AB794D6-1A11-44B0-B03F-0FEC74077A2B}"/>
                </a:ext>
              </a:extLst>
            </p:cNvPr>
            <p:cNvSpPr/>
            <p:nvPr/>
          </p:nvSpPr>
          <p:spPr>
            <a:xfrm>
              <a:off x="1378137" y="434491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73" name="Oval 372">
              <a:extLst>
                <a:ext uri="{FF2B5EF4-FFF2-40B4-BE49-F238E27FC236}">
                  <a16:creationId xmlns:a16="http://schemas.microsoft.com/office/drawing/2014/main" id="{26F9A3BE-76A5-4925-AD7C-CB136E9A69C1}"/>
                </a:ext>
              </a:extLst>
            </p:cNvPr>
            <p:cNvSpPr/>
            <p:nvPr/>
          </p:nvSpPr>
          <p:spPr>
            <a:xfrm>
              <a:off x="1659041" y="427048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374" name="Straight Connector 373">
              <a:extLst>
                <a:ext uri="{FF2B5EF4-FFF2-40B4-BE49-F238E27FC236}">
                  <a16:creationId xmlns:a16="http://schemas.microsoft.com/office/drawing/2014/main" id="{AC7C9BA1-35E4-4A20-B26F-2254153D1CE6}"/>
                </a:ext>
              </a:extLst>
            </p:cNvPr>
            <p:cNvCxnSpPr>
              <a:cxnSpLocks/>
              <a:stCxn id="368" idx="4"/>
              <a:endCxn id="372" idx="0"/>
            </p:cNvCxnSpPr>
            <p:nvPr/>
          </p:nvCxnSpPr>
          <p:spPr>
            <a:xfrm>
              <a:off x="1378137" y="3882856"/>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375" name="Straight Connector 374">
              <a:extLst>
                <a:ext uri="{FF2B5EF4-FFF2-40B4-BE49-F238E27FC236}">
                  <a16:creationId xmlns:a16="http://schemas.microsoft.com/office/drawing/2014/main" id="{E969DD39-4E90-4CB1-A025-3D1D5C742444}"/>
                </a:ext>
              </a:extLst>
            </p:cNvPr>
            <p:cNvCxnSpPr>
              <a:cxnSpLocks/>
              <a:stCxn id="367" idx="6"/>
              <a:endCxn id="373" idx="1"/>
            </p:cNvCxnSpPr>
            <p:nvPr/>
          </p:nvCxnSpPr>
          <p:spPr>
            <a:xfrm>
              <a:off x="1186143" y="4031712"/>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361A3D51-CB7A-47D3-A0EC-DEB5421A93AF}"/>
                </a:ext>
              </a:extLst>
            </p:cNvPr>
            <p:cNvCxnSpPr>
              <a:cxnSpLocks/>
              <a:stCxn id="371" idx="7"/>
              <a:endCxn id="369" idx="2"/>
            </p:cNvCxnSpPr>
            <p:nvPr/>
          </p:nvCxnSpPr>
          <p:spPr>
            <a:xfrm flipV="1">
              <a:off x="1228344" y="3882856"/>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82329309-1680-43B7-9B37-87C647934D58}"/>
                </a:ext>
              </a:extLst>
            </p:cNvPr>
            <p:cNvCxnSpPr>
              <a:cxnSpLocks/>
              <a:stCxn id="367" idx="6"/>
              <a:endCxn id="370" idx="2"/>
            </p:cNvCxnSpPr>
            <p:nvPr/>
          </p:nvCxnSpPr>
          <p:spPr>
            <a:xfrm>
              <a:off x="1186143" y="4031712"/>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id="{0F0419F9-5DD4-4DE4-8F80-310F38B31FF5}"/>
                </a:ext>
              </a:extLst>
            </p:cNvPr>
            <p:cNvCxnSpPr>
              <a:cxnSpLocks/>
              <a:stCxn id="367" idx="0"/>
              <a:endCxn id="368" idx="2"/>
            </p:cNvCxnSpPr>
            <p:nvPr/>
          </p:nvCxnSpPr>
          <p:spPr>
            <a:xfrm flipV="1">
              <a:off x="1111715" y="3808428"/>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8899E66B-EF2E-48A6-BCBC-1903392EC271}"/>
                </a:ext>
              </a:extLst>
            </p:cNvPr>
            <p:cNvCxnSpPr>
              <a:cxnSpLocks/>
              <a:stCxn id="368" idx="7"/>
              <a:endCxn id="369" idx="0"/>
            </p:cNvCxnSpPr>
            <p:nvPr/>
          </p:nvCxnSpPr>
          <p:spPr>
            <a:xfrm>
              <a:off x="1430766" y="3755799"/>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B2A5459A-7856-4DEE-A4D6-1EE2D1664BB5}"/>
                </a:ext>
              </a:extLst>
            </p:cNvPr>
            <p:cNvCxnSpPr>
              <a:cxnSpLocks/>
              <a:stCxn id="369" idx="5"/>
              <a:endCxn id="370" idx="1"/>
            </p:cNvCxnSpPr>
            <p:nvPr/>
          </p:nvCxnSpPr>
          <p:spPr>
            <a:xfrm>
              <a:off x="1720379" y="3935485"/>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81" name="Straight Connector 380">
              <a:extLst>
                <a:ext uri="{FF2B5EF4-FFF2-40B4-BE49-F238E27FC236}">
                  <a16:creationId xmlns:a16="http://schemas.microsoft.com/office/drawing/2014/main" id="{AC1ACD45-7372-4D86-BCEA-8F173E8E1A94}"/>
                </a:ext>
              </a:extLst>
            </p:cNvPr>
            <p:cNvCxnSpPr>
              <a:cxnSpLocks/>
              <a:stCxn id="370" idx="4"/>
              <a:endCxn id="373" idx="7"/>
            </p:cNvCxnSpPr>
            <p:nvPr/>
          </p:nvCxnSpPr>
          <p:spPr>
            <a:xfrm flipH="1">
              <a:off x="1786098" y="4180568"/>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2E8B392A-A817-46E6-B277-251AFA5BE292}"/>
                </a:ext>
              </a:extLst>
            </p:cNvPr>
            <p:cNvCxnSpPr>
              <a:cxnSpLocks/>
              <a:stCxn id="373" idx="4"/>
              <a:endCxn id="372" idx="6"/>
            </p:cNvCxnSpPr>
            <p:nvPr/>
          </p:nvCxnSpPr>
          <p:spPr>
            <a:xfrm flipH="1">
              <a:off x="1526993" y="4419345"/>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21940CCA-F975-4B7D-AE2C-CD2352CF712E}"/>
                </a:ext>
              </a:extLst>
            </p:cNvPr>
            <p:cNvCxnSpPr>
              <a:cxnSpLocks/>
              <a:stCxn id="371" idx="4"/>
              <a:endCxn id="372" idx="2"/>
            </p:cNvCxnSpPr>
            <p:nvPr/>
          </p:nvCxnSpPr>
          <p:spPr>
            <a:xfrm>
              <a:off x="1175715" y="4377321"/>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C6DDB47B-A80C-463E-A530-2D30FE9CDD35}"/>
                </a:ext>
              </a:extLst>
            </p:cNvPr>
            <p:cNvCxnSpPr>
              <a:cxnSpLocks/>
              <a:stCxn id="367" idx="4"/>
              <a:endCxn id="371" idx="1"/>
            </p:cNvCxnSpPr>
            <p:nvPr/>
          </p:nvCxnSpPr>
          <p:spPr>
            <a:xfrm>
              <a:off x="1111715" y="4106140"/>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7E550834-B1A0-4000-8377-EBFE73961086}"/>
                </a:ext>
              </a:extLst>
            </p:cNvPr>
            <p:cNvCxnSpPr>
              <a:cxnSpLocks/>
              <a:stCxn id="369" idx="3"/>
              <a:endCxn id="372" idx="0"/>
            </p:cNvCxnSpPr>
            <p:nvPr/>
          </p:nvCxnSpPr>
          <p:spPr>
            <a:xfrm flipH="1">
              <a:off x="1452565" y="3935485"/>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17AE1F3D-4831-4938-B042-C218BD24489A}"/>
                </a:ext>
              </a:extLst>
            </p:cNvPr>
            <p:cNvCxnSpPr>
              <a:cxnSpLocks/>
              <a:stCxn id="368" idx="4"/>
              <a:endCxn id="373" idx="1"/>
            </p:cNvCxnSpPr>
            <p:nvPr/>
          </p:nvCxnSpPr>
          <p:spPr>
            <a:xfrm>
              <a:off x="1378137" y="3882856"/>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87" name="Straight Connector 386">
              <a:extLst>
                <a:ext uri="{FF2B5EF4-FFF2-40B4-BE49-F238E27FC236}">
                  <a16:creationId xmlns:a16="http://schemas.microsoft.com/office/drawing/2014/main" id="{A983104E-3CF6-4A40-9C0C-DAB5D15086C2}"/>
                </a:ext>
              </a:extLst>
            </p:cNvPr>
            <p:cNvCxnSpPr>
              <a:cxnSpLocks/>
              <a:stCxn id="368" idx="4"/>
              <a:endCxn id="371" idx="7"/>
            </p:cNvCxnSpPr>
            <p:nvPr/>
          </p:nvCxnSpPr>
          <p:spPr>
            <a:xfrm flipH="1">
              <a:off x="1228344" y="3882856"/>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D6F38A39-B7A8-4BFF-8B8B-CB065F6A2273}"/>
                </a:ext>
              </a:extLst>
            </p:cNvPr>
            <p:cNvCxnSpPr>
              <a:cxnSpLocks/>
              <a:stCxn id="371" idx="7"/>
              <a:endCxn id="373" idx="1"/>
            </p:cNvCxnSpPr>
            <p:nvPr/>
          </p:nvCxnSpPr>
          <p:spPr>
            <a:xfrm>
              <a:off x="1228344" y="4250264"/>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84988FAB-FE25-4A4B-B50C-401AC27F341A}"/>
                </a:ext>
              </a:extLst>
            </p:cNvPr>
            <p:cNvCxnSpPr>
              <a:cxnSpLocks/>
              <a:stCxn id="369" idx="2"/>
              <a:endCxn id="367" idx="6"/>
            </p:cNvCxnSpPr>
            <p:nvPr/>
          </p:nvCxnSpPr>
          <p:spPr>
            <a:xfrm flipH="1">
              <a:off x="1186143" y="3882856"/>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90" name="Straight Connector 389">
              <a:extLst>
                <a:ext uri="{FF2B5EF4-FFF2-40B4-BE49-F238E27FC236}">
                  <a16:creationId xmlns:a16="http://schemas.microsoft.com/office/drawing/2014/main" id="{75FE54A6-AECB-456D-B4AF-A68555B4B4C9}"/>
                </a:ext>
              </a:extLst>
            </p:cNvPr>
            <p:cNvCxnSpPr>
              <a:cxnSpLocks/>
              <a:stCxn id="367" idx="5"/>
              <a:endCxn id="372" idx="1"/>
            </p:cNvCxnSpPr>
            <p:nvPr/>
          </p:nvCxnSpPr>
          <p:spPr>
            <a:xfrm>
              <a:off x="1164344" y="4084341"/>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391" name="Oval 390">
              <a:extLst>
                <a:ext uri="{FF2B5EF4-FFF2-40B4-BE49-F238E27FC236}">
                  <a16:creationId xmlns:a16="http://schemas.microsoft.com/office/drawing/2014/main" id="{CC63F938-FFD7-4DA2-8E8D-1E2FC0D8C814}"/>
                </a:ext>
              </a:extLst>
            </p:cNvPr>
            <p:cNvSpPr/>
            <p:nvPr/>
          </p:nvSpPr>
          <p:spPr>
            <a:xfrm>
              <a:off x="2249619" y="4009913"/>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92" name="Oval 391">
              <a:extLst>
                <a:ext uri="{FF2B5EF4-FFF2-40B4-BE49-F238E27FC236}">
                  <a16:creationId xmlns:a16="http://schemas.microsoft.com/office/drawing/2014/main" id="{1152547D-6782-467B-8CE8-47CEFC9D7B26}"/>
                </a:ext>
              </a:extLst>
            </p:cNvPr>
            <p:cNvSpPr/>
            <p:nvPr/>
          </p:nvSpPr>
          <p:spPr>
            <a:xfrm>
              <a:off x="2516041" y="378662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93" name="Oval 392">
              <a:extLst>
                <a:ext uri="{FF2B5EF4-FFF2-40B4-BE49-F238E27FC236}">
                  <a16:creationId xmlns:a16="http://schemas.microsoft.com/office/drawing/2014/main" id="{2C8A8BAA-8B1E-4A0A-82F5-60E8D296F04E}"/>
                </a:ext>
              </a:extLst>
            </p:cNvPr>
            <p:cNvSpPr/>
            <p:nvPr/>
          </p:nvSpPr>
          <p:spPr>
            <a:xfrm>
              <a:off x="2805654" y="386105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94" name="Oval 393">
              <a:extLst>
                <a:ext uri="{FF2B5EF4-FFF2-40B4-BE49-F238E27FC236}">
                  <a16:creationId xmlns:a16="http://schemas.microsoft.com/office/drawing/2014/main" id="{6426DA4B-87A6-491E-BD01-E75F5D1609F6}"/>
                </a:ext>
              </a:extLst>
            </p:cNvPr>
            <p:cNvSpPr/>
            <p:nvPr/>
          </p:nvSpPr>
          <p:spPr>
            <a:xfrm>
              <a:off x="2965854" y="4084341"/>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95" name="Oval 394">
              <a:extLst>
                <a:ext uri="{FF2B5EF4-FFF2-40B4-BE49-F238E27FC236}">
                  <a16:creationId xmlns:a16="http://schemas.microsoft.com/office/drawing/2014/main" id="{27E89264-5603-4CF9-9E98-704DFDDAFA08}"/>
                </a:ext>
              </a:extLst>
            </p:cNvPr>
            <p:cNvSpPr/>
            <p:nvPr/>
          </p:nvSpPr>
          <p:spPr>
            <a:xfrm>
              <a:off x="2313619" y="4281094"/>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96" name="Oval 395">
              <a:extLst>
                <a:ext uri="{FF2B5EF4-FFF2-40B4-BE49-F238E27FC236}">
                  <a16:creationId xmlns:a16="http://schemas.microsoft.com/office/drawing/2014/main" id="{FC92B20F-2A9C-4E6C-A5DA-5FF10BDAF655}"/>
                </a:ext>
              </a:extLst>
            </p:cNvPr>
            <p:cNvSpPr/>
            <p:nvPr/>
          </p:nvSpPr>
          <p:spPr>
            <a:xfrm>
              <a:off x="2590469" y="4397546"/>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97" name="Oval 396">
              <a:extLst>
                <a:ext uri="{FF2B5EF4-FFF2-40B4-BE49-F238E27FC236}">
                  <a16:creationId xmlns:a16="http://schemas.microsoft.com/office/drawing/2014/main" id="{889B0DF2-7D7D-4C52-ADDF-3AF81A328233}"/>
                </a:ext>
              </a:extLst>
            </p:cNvPr>
            <p:cNvSpPr/>
            <p:nvPr/>
          </p:nvSpPr>
          <p:spPr>
            <a:xfrm>
              <a:off x="2871373" y="4323118"/>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398" name="Straight Connector 397">
              <a:extLst>
                <a:ext uri="{FF2B5EF4-FFF2-40B4-BE49-F238E27FC236}">
                  <a16:creationId xmlns:a16="http://schemas.microsoft.com/office/drawing/2014/main" id="{8D8D7B07-3F4F-434B-AAC1-2C37A449C1EB}"/>
                </a:ext>
              </a:extLst>
            </p:cNvPr>
            <p:cNvCxnSpPr>
              <a:cxnSpLocks/>
              <a:stCxn id="392" idx="4"/>
              <a:endCxn id="396" idx="0"/>
            </p:cNvCxnSpPr>
            <p:nvPr/>
          </p:nvCxnSpPr>
          <p:spPr>
            <a:xfrm>
              <a:off x="2590469" y="3935485"/>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id="{41536E40-0C9B-45A0-BABC-FA656164C4B7}"/>
                </a:ext>
              </a:extLst>
            </p:cNvPr>
            <p:cNvCxnSpPr>
              <a:cxnSpLocks/>
              <a:stCxn id="391" idx="6"/>
              <a:endCxn id="397" idx="1"/>
            </p:cNvCxnSpPr>
            <p:nvPr/>
          </p:nvCxnSpPr>
          <p:spPr>
            <a:xfrm>
              <a:off x="2398475" y="4084341"/>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0" name="Straight Connector 399">
              <a:extLst>
                <a:ext uri="{FF2B5EF4-FFF2-40B4-BE49-F238E27FC236}">
                  <a16:creationId xmlns:a16="http://schemas.microsoft.com/office/drawing/2014/main" id="{07E695F5-8412-42CC-8D28-F951A4BBACDD}"/>
                </a:ext>
              </a:extLst>
            </p:cNvPr>
            <p:cNvCxnSpPr>
              <a:cxnSpLocks/>
              <a:stCxn id="395" idx="7"/>
              <a:endCxn id="393" idx="2"/>
            </p:cNvCxnSpPr>
            <p:nvPr/>
          </p:nvCxnSpPr>
          <p:spPr>
            <a:xfrm flipV="1">
              <a:off x="2440676" y="3935485"/>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D6BE54B1-011E-46FC-B921-A74AACC46CCC}"/>
                </a:ext>
              </a:extLst>
            </p:cNvPr>
            <p:cNvCxnSpPr>
              <a:cxnSpLocks/>
              <a:stCxn id="391" idx="6"/>
              <a:endCxn id="394" idx="2"/>
            </p:cNvCxnSpPr>
            <p:nvPr/>
          </p:nvCxnSpPr>
          <p:spPr>
            <a:xfrm>
              <a:off x="2398475" y="4084341"/>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44AF6113-0B5D-40D0-B50C-2531C093194F}"/>
                </a:ext>
              </a:extLst>
            </p:cNvPr>
            <p:cNvCxnSpPr>
              <a:cxnSpLocks/>
              <a:stCxn id="391" idx="0"/>
              <a:endCxn id="392" idx="2"/>
            </p:cNvCxnSpPr>
            <p:nvPr/>
          </p:nvCxnSpPr>
          <p:spPr>
            <a:xfrm flipV="1">
              <a:off x="2324047" y="3861057"/>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3" name="Straight Connector 402">
              <a:extLst>
                <a:ext uri="{FF2B5EF4-FFF2-40B4-BE49-F238E27FC236}">
                  <a16:creationId xmlns:a16="http://schemas.microsoft.com/office/drawing/2014/main" id="{0E912063-74FD-48A8-BF9D-B7E07DD6AA22}"/>
                </a:ext>
              </a:extLst>
            </p:cNvPr>
            <p:cNvCxnSpPr>
              <a:cxnSpLocks/>
              <a:stCxn id="392" idx="7"/>
              <a:endCxn id="393" idx="0"/>
            </p:cNvCxnSpPr>
            <p:nvPr/>
          </p:nvCxnSpPr>
          <p:spPr>
            <a:xfrm>
              <a:off x="2643098" y="3808428"/>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59EDF9AB-F8F5-42D8-B40E-0E7D86FC081D}"/>
                </a:ext>
              </a:extLst>
            </p:cNvPr>
            <p:cNvCxnSpPr>
              <a:cxnSpLocks/>
              <a:stCxn id="393" idx="5"/>
              <a:endCxn id="394" idx="1"/>
            </p:cNvCxnSpPr>
            <p:nvPr/>
          </p:nvCxnSpPr>
          <p:spPr>
            <a:xfrm>
              <a:off x="2932711" y="3988114"/>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5" name="Straight Connector 404">
              <a:extLst>
                <a:ext uri="{FF2B5EF4-FFF2-40B4-BE49-F238E27FC236}">
                  <a16:creationId xmlns:a16="http://schemas.microsoft.com/office/drawing/2014/main" id="{268F70E2-2F46-48E3-9944-FC79FC0B7F63}"/>
                </a:ext>
              </a:extLst>
            </p:cNvPr>
            <p:cNvCxnSpPr>
              <a:cxnSpLocks/>
              <a:stCxn id="394" idx="4"/>
              <a:endCxn id="397" idx="7"/>
            </p:cNvCxnSpPr>
            <p:nvPr/>
          </p:nvCxnSpPr>
          <p:spPr>
            <a:xfrm flipH="1">
              <a:off x="2998430" y="4233197"/>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D662AE37-FEF7-47D3-89F3-C2E4927E904D}"/>
                </a:ext>
              </a:extLst>
            </p:cNvPr>
            <p:cNvCxnSpPr>
              <a:cxnSpLocks/>
              <a:stCxn id="397" idx="4"/>
              <a:endCxn id="396" idx="6"/>
            </p:cNvCxnSpPr>
            <p:nvPr/>
          </p:nvCxnSpPr>
          <p:spPr>
            <a:xfrm flipH="1">
              <a:off x="2739325" y="4471974"/>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25FEB077-1244-4AA2-B421-3AA204453C5A}"/>
                </a:ext>
              </a:extLst>
            </p:cNvPr>
            <p:cNvCxnSpPr>
              <a:cxnSpLocks/>
              <a:stCxn id="395" idx="4"/>
              <a:endCxn id="396" idx="2"/>
            </p:cNvCxnSpPr>
            <p:nvPr/>
          </p:nvCxnSpPr>
          <p:spPr>
            <a:xfrm>
              <a:off x="2388047" y="4429950"/>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CD7A540A-0301-41CF-BA18-A4FA2EBD91B8}"/>
                </a:ext>
              </a:extLst>
            </p:cNvPr>
            <p:cNvCxnSpPr>
              <a:cxnSpLocks/>
              <a:stCxn id="391" idx="4"/>
              <a:endCxn id="395" idx="1"/>
            </p:cNvCxnSpPr>
            <p:nvPr/>
          </p:nvCxnSpPr>
          <p:spPr>
            <a:xfrm>
              <a:off x="2324047" y="4158769"/>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409" name="Straight Connector 408">
              <a:extLst>
                <a:ext uri="{FF2B5EF4-FFF2-40B4-BE49-F238E27FC236}">
                  <a16:creationId xmlns:a16="http://schemas.microsoft.com/office/drawing/2014/main" id="{0B1F72E0-ABA2-4662-8207-4B6C70B1DD8F}"/>
                </a:ext>
              </a:extLst>
            </p:cNvPr>
            <p:cNvCxnSpPr>
              <a:cxnSpLocks/>
              <a:stCxn id="393" idx="3"/>
              <a:endCxn id="396" idx="0"/>
            </p:cNvCxnSpPr>
            <p:nvPr/>
          </p:nvCxnSpPr>
          <p:spPr>
            <a:xfrm flipH="1">
              <a:off x="2664897" y="3988114"/>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0" name="Straight Connector 409">
              <a:extLst>
                <a:ext uri="{FF2B5EF4-FFF2-40B4-BE49-F238E27FC236}">
                  <a16:creationId xmlns:a16="http://schemas.microsoft.com/office/drawing/2014/main" id="{CB043973-F7AC-44D2-A6B8-ED63F3DD3349}"/>
                </a:ext>
              </a:extLst>
            </p:cNvPr>
            <p:cNvCxnSpPr>
              <a:cxnSpLocks/>
              <a:stCxn id="392" idx="4"/>
              <a:endCxn id="397" idx="1"/>
            </p:cNvCxnSpPr>
            <p:nvPr/>
          </p:nvCxnSpPr>
          <p:spPr>
            <a:xfrm>
              <a:off x="2590469" y="3935485"/>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C59D33D2-85CF-4B22-8B5D-F6C40A472654}"/>
                </a:ext>
              </a:extLst>
            </p:cNvPr>
            <p:cNvCxnSpPr>
              <a:cxnSpLocks/>
              <a:stCxn id="392" idx="4"/>
              <a:endCxn id="395" idx="7"/>
            </p:cNvCxnSpPr>
            <p:nvPr/>
          </p:nvCxnSpPr>
          <p:spPr>
            <a:xfrm flipH="1">
              <a:off x="2440676" y="3935485"/>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B3DB4146-1D60-44A8-9A39-920DD6F75B7A}"/>
                </a:ext>
              </a:extLst>
            </p:cNvPr>
            <p:cNvCxnSpPr>
              <a:cxnSpLocks/>
              <a:stCxn id="395" idx="7"/>
              <a:endCxn id="397" idx="1"/>
            </p:cNvCxnSpPr>
            <p:nvPr/>
          </p:nvCxnSpPr>
          <p:spPr>
            <a:xfrm>
              <a:off x="2440676" y="4302893"/>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78DB43CD-906B-455F-BF28-D5B3DD2ECA2C}"/>
                </a:ext>
              </a:extLst>
            </p:cNvPr>
            <p:cNvCxnSpPr>
              <a:cxnSpLocks/>
              <a:stCxn id="393" idx="2"/>
              <a:endCxn id="391" idx="6"/>
            </p:cNvCxnSpPr>
            <p:nvPr/>
          </p:nvCxnSpPr>
          <p:spPr>
            <a:xfrm flipH="1">
              <a:off x="2398475" y="3935485"/>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80EBEAB2-A459-4170-B8D0-97608AC0F78E}"/>
                </a:ext>
              </a:extLst>
            </p:cNvPr>
            <p:cNvCxnSpPr>
              <a:cxnSpLocks/>
              <a:stCxn id="391" idx="5"/>
              <a:endCxn id="396" idx="1"/>
            </p:cNvCxnSpPr>
            <p:nvPr/>
          </p:nvCxnSpPr>
          <p:spPr>
            <a:xfrm>
              <a:off x="2376676" y="4136970"/>
              <a:ext cx="235592" cy="282375"/>
            </a:xfrm>
            <a:prstGeom prst="line">
              <a:avLst/>
            </a:prstGeom>
          </p:spPr>
          <p:style>
            <a:lnRef idx="1">
              <a:schemeClr val="accent1"/>
            </a:lnRef>
            <a:fillRef idx="0">
              <a:schemeClr val="accent1"/>
            </a:fillRef>
            <a:effectRef idx="0">
              <a:schemeClr val="accent1"/>
            </a:effectRef>
            <a:fontRef idx="minor">
              <a:schemeClr val="tx1"/>
            </a:fontRef>
          </p:style>
        </p:cxnSp>
        <p:sp>
          <p:nvSpPr>
            <p:cNvPr id="415" name="Oval 414">
              <a:extLst>
                <a:ext uri="{FF2B5EF4-FFF2-40B4-BE49-F238E27FC236}">
                  <a16:creationId xmlns:a16="http://schemas.microsoft.com/office/drawing/2014/main" id="{BC20F462-3844-492C-998D-79DDBF8A5A75}"/>
                </a:ext>
              </a:extLst>
            </p:cNvPr>
            <p:cNvSpPr/>
            <p:nvPr/>
          </p:nvSpPr>
          <p:spPr>
            <a:xfrm>
              <a:off x="2966665" y="3263111"/>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16" name="Oval 415">
              <a:extLst>
                <a:ext uri="{FF2B5EF4-FFF2-40B4-BE49-F238E27FC236}">
                  <a16:creationId xmlns:a16="http://schemas.microsoft.com/office/drawing/2014/main" id="{B68D9859-6E87-4E2A-8F09-036B37122546}"/>
                </a:ext>
              </a:extLst>
            </p:cNvPr>
            <p:cNvSpPr/>
            <p:nvPr/>
          </p:nvSpPr>
          <p:spPr>
            <a:xfrm>
              <a:off x="3233087" y="3039827"/>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17" name="Oval 416">
              <a:extLst>
                <a:ext uri="{FF2B5EF4-FFF2-40B4-BE49-F238E27FC236}">
                  <a16:creationId xmlns:a16="http://schemas.microsoft.com/office/drawing/2014/main" id="{33A4CF2A-3C55-4C9D-A864-255FB5051A96}"/>
                </a:ext>
              </a:extLst>
            </p:cNvPr>
            <p:cNvSpPr/>
            <p:nvPr/>
          </p:nvSpPr>
          <p:spPr>
            <a:xfrm>
              <a:off x="3522700" y="3114255"/>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18" name="Oval 417">
              <a:extLst>
                <a:ext uri="{FF2B5EF4-FFF2-40B4-BE49-F238E27FC236}">
                  <a16:creationId xmlns:a16="http://schemas.microsoft.com/office/drawing/2014/main" id="{A84049E3-480A-4A35-8919-62DCDB8B7CED}"/>
                </a:ext>
              </a:extLst>
            </p:cNvPr>
            <p:cNvSpPr/>
            <p:nvPr/>
          </p:nvSpPr>
          <p:spPr>
            <a:xfrm>
              <a:off x="3682900" y="3337539"/>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19" name="Oval 418">
              <a:extLst>
                <a:ext uri="{FF2B5EF4-FFF2-40B4-BE49-F238E27FC236}">
                  <a16:creationId xmlns:a16="http://schemas.microsoft.com/office/drawing/2014/main" id="{00557381-5805-4D7B-BF13-4232174E5A33}"/>
                </a:ext>
              </a:extLst>
            </p:cNvPr>
            <p:cNvSpPr/>
            <p:nvPr/>
          </p:nvSpPr>
          <p:spPr>
            <a:xfrm>
              <a:off x="3030665" y="3534292"/>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20" name="Oval 419">
              <a:extLst>
                <a:ext uri="{FF2B5EF4-FFF2-40B4-BE49-F238E27FC236}">
                  <a16:creationId xmlns:a16="http://schemas.microsoft.com/office/drawing/2014/main" id="{4F6B321D-CCB6-4147-B4C8-B4804A1B8FB8}"/>
                </a:ext>
              </a:extLst>
            </p:cNvPr>
            <p:cNvSpPr/>
            <p:nvPr/>
          </p:nvSpPr>
          <p:spPr>
            <a:xfrm>
              <a:off x="3307515" y="3650744"/>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21" name="Oval 420">
              <a:extLst>
                <a:ext uri="{FF2B5EF4-FFF2-40B4-BE49-F238E27FC236}">
                  <a16:creationId xmlns:a16="http://schemas.microsoft.com/office/drawing/2014/main" id="{2AB491B6-C289-4594-B043-040512E73A09}"/>
                </a:ext>
              </a:extLst>
            </p:cNvPr>
            <p:cNvSpPr/>
            <p:nvPr/>
          </p:nvSpPr>
          <p:spPr>
            <a:xfrm>
              <a:off x="3588419" y="3576316"/>
              <a:ext cx="148856" cy="148856"/>
            </a:xfrm>
            <a:prstGeom prst="ellipse">
              <a:avLst/>
            </a:prstGeom>
            <a:solidFill>
              <a:schemeClr val="accent6">
                <a:lumMod val="40000"/>
                <a:lumOff val="60000"/>
              </a:schemeClr>
            </a:solidFill>
            <a:ln>
              <a:solidFill>
                <a:srgbClr val="00B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422" name="Straight Connector 421">
              <a:extLst>
                <a:ext uri="{FF2B5EF4-FFF2-40B4-BE49-F238E27FC236}">
                  <a16:creationId xmlns:a16="http://schemas.microsoft.com/office/drawing/2014/main" id="{C4193FDD-E775-4EB6-A377-1AE962692464}"/>
                </a:ext>
              </a:extLst>
            </p:cNvPr>
            <p:cNvCxnSpPr>
              <a:cxnSpLocks/>
              <a:stCxn id="416" idx="4"/>
              <a:endCxn id="420" idx="0"/>
            </p:cNvCxnSpPr>
            <p:nvPr/>
          </p:nvCxnSpPr>
          <p:spPr>
            <a:xfrm>
              <a:off x="3307515" y="3188683"/>
              <a:ext cx="74428" cy="46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423" name="Straight Connector 422">
              <a:extLst>
                <a:ext uri="{FF2B5EF4-FFF2-40B4-BE49-F238E27FC236}">
                  <a16:creationId xmlns:a16="http://schemas.microsoft.com/office/drawing/2014/main" id="{E5DAD923-CFEB-4317-A1E2-B534065E1CE0}"/>
                </a:ext>
              </a:extLst>
            </p:cNvPr>
            <p:cNvCxnSpPr>
              <a:cxnSpLocks/>
              <a:stCxn id="415" idx="6"/>
              <a:endCxn id="421" idx="1"/>
            </p:cNvCxnSpPr>
            <p:nvPr/>
          </p:nvCxnSpPr>
          <p:spPr>
            <a:xfrm>
              <a:off x="3115521" y="3337539"/>
              <a:ext cx="494697" cy="260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424" name="Straight Connector 423">
              <a:extLst>
                <a:ext uri="{FF2B5EF4-FFF2-40B4-BE49-F238E27FC236}">
                  <a16:creationId xmlns:a16="http://schemas.microsoft.com/office/drawing/2014/main" id="{BBE97328-25EB-4192-9571-01959CD314B4}"/>
                </a:ext>
              </a:extLst>
            </p:cNvPr>
            <p:cNvCxnSpPr>
              <a:cxnSpLocks/>
              <a:stCxn id="419" idx="7"/>
              <a:endCxn id="417" idx="2"/>
            </p:cNvCxnSpPr>
            <p:nvPr/>
          </p:nvCxnSpPr>
          <p:spPr>
            <a:xfrm flipV="1">
              <a:off x="3157722" y="3188683"/>
              <a:ext cx="364978"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5" name="Straight Connector 424">
              <a:extLst>
                <a:ext uri="{FF2B5EF4-FFF2-40B4-BE49-F238E27FC236}">
                  <a16:creationId xmlns:a16="http://schemas.microsoft.com/office/drawing/2014/main" id="{E6593062-DCCF-43A7-889A-C6710D6CF311}"/>
                </a:ext>
              </a:extLst>
            </p:cNvPr>
            <p:cNvCxnSpPr>
              <a:cxnSpLocks/>
              <a:stCxn id="415" idx="6"/>
              <a:endCxn id="418" idx="2"/>
            </p:cNvCxnSpPr>
            <p:nvPr/>
          </p:nvCxnSpPr>
          <p:spPr>
            <a:xfrm>
              <a:off x="3115521" y="3337539"/>
              <a:ext cx="567379"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6" name="Straight Connector 425">
              <a:extLst>
                <a:ext uri="{FF2B5EF4-FFF2-40B4-BE49-F238E27FC236}">
                  <a16:creationId xmlns:a16="http://schemas.microsoft.com/office/drawing/2014/main" id="{6A5C914A-22F0-41FF-BD90-5F01BD095042}"/>
                </a:ext>
              </a:extLst>
            </p:cNvPr>
            <p:cNvCxnSpPr>
              <a:cxnSpLocks/>
              <a:stCxn id="415" idx="0"/>
              <a:endCxn id="416" idx="2"/>
            </p:cNvCxnSpPr>
            <p:nvPr/>
          </p:nvCxnSpPr>
          <p:spPr>
            <a:xfrm flipV="1">
              <a:off x="3041093" y="3114255"/>
              <a:ext cx="191994"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27" name="Straight Connector 426">
              <a:extLst>
                <a:ext uri="{FF2B5EF4-FFF2-40B4-BE49-F238E27FC236}">
                  <a16:creationId xmlns:a16="http://schemas.microsoft.com/office/drawing/2014/main" id="{648B57BD-63AD-494F-9B5A-56DE336C7B7A}"/>
                </a:ext>
              </a:extLst>
            </p:cNvPr>
            <p:cNvCxnSpPr>
              <a:cxnSpLocks/>
              <a:stCxn id="416" idx="7"/>
              <a:endCxn id="417" idx="0"/>
            </p:cNvCxnSpPr>
            <p:nvPr/>
          </p:nvCxnSpPr>
          <p:spPr>
            <a:xfrm>
              <a:off x="3360144" y="3061626"/>
              <a:ext cx="184355" cy="74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8" name="Straight Connector 427">
              <a:extLst>
                <a:ext uri="{FF2B5EF4-FFF2-40B4-BE49-F238E27FC236}">
                  <a16:creationId xmlns:a16="http://schemas.microsoft.com/office/drawing/2014/main" id="{C97B79EC-6BA2-47A0-A38A-68E7C37132CD}"/>
                </a:ext>
              </a:extLst>
            </p:cNvPr>
            <p:cNvCxnSpPr>
              <a:cxnSpLocks/>
              <a:stCxn id="417" idx="5"/>
              <a:endCxn id="418" idx="1"/>
            </p:cNvCxnSpPr>
            <p:nvPr/>
          </p:nvCxnSpPr>
          <p:spPr>
            <a:xfrm>
              <a:off x="3649757" y="3241312"/>
              <a:ext cx="54942" cy="11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429" name="Straight Connector 428">
              <a:extLst>
                <a:ext uri="{FF2B5EF4-FFF2-40B4-BE49-F238E27FC236}">
                  <a16:creationId xmlns:a16="http://schemas.microsoft.com/office/drawing/2014/main" id="{A3C953DC-45FB-4688-AB81-1BDFC56BF3D4}"/>
                </a:ext>
              </a:extLst>
            </p:cNvPr>
            <p:cNvCxnSpPr>
              <a:cxnSpLocks/>
              <a:stCxn id="418" idx="4"/>
              <a:endCxn id="421" idx="7"/>
            </p:cNvCxnSpPr>
            <p:nvPr/>
          </p:nvCxnSpPr>
          <p:spPr>
            <a:xfrm flipH="1">
              <a:off x="3715476" y="3486395"/>
              <a:ext cx="41852" cy="111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0" name="Straight Connector 429">
              <a:extLst>
                <a:ext uri="{FF2B5EF4-FFF2-40B4-BE49-F238E27FC236}">
                  <a16:creationId xmlns:a16="http://schemas.microsoft.com/office/drawing/2014/main" id="{7D18E11F-CFDE-4F3C-B581-4ECBB5C0F0DF}"/>
                </a:ext>
              </a:extLst>
            </p:cNvPr>
            <p:cNvCxnSpPr>
              <a:cxnSpLocks/>
              <a:stCxn id="421" idx="4"/>
              <a:endCxn id="420" idx="6"/>
            </p:cNvCxnSpPr>
            <p:nvPr/>
          </p:nvCxnSpPr>
          <p:spPr>
            <a:xfrm flipH="1">
              <a:off x="3456371" y="3725172"/>
              <a:ext cx="2064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1" name="Straight Connector 430">
              <a:extLst>
                <a:ext uri="{FF2B5EF4-FFF2-40B4-BE49-F238E27FC236}">
                  <a16:creationId xmlns:a16="http://schemas.microsoft.com/office/drawing/2014/main" id="{25E08DE4-9A6A-4501-B42C-690B90E2F3A1}"/>
                </a:ext>
              </a:extLst>
            </p:cNvPr>
            <p:cNvCxnSpPr>
              <a:cxnSpLocks/>
              <a:stCxn id="419" idx="4"/>
              <a:endCxn id="420" idx="2"/>
            </p:cNvCxnSpPr>
            <p:nvPr/>
          </p:nvCxnSpPr>
          <p:spPr>
            <a:xfrm>
              <a:off x="3105093" y="3683148"/>
              <a:ext cx="202422"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432" name="Straight Connector 431">
              <a:extLst>
                <a:ext uri="{FF2B5EF4-FFF2-40B4-BE49-F238E27FC236}">
                  <a16:creationId xmlns:a16="http://schemas.microsoft.com/office/drawing/2014/main" id="{412640EE-2A90-4238-A334-18103B9C92DB}"/>
                </a:ext>
              </a:extLst>
            </p:cNvPr>
            <p:cNvCxnSpPr>
              <a:cxnSpLocks/>
              <a:stCxn id="415" idx="4"/>
              <a:endCxn id="419" idx="1"/>
            </p:cNvCxnSpPr>
            <p:nvPr/>
          </p:nvCxnSpPr>
          <p:spPr>
            <a:xfrm>
              <a:off x="3041093" y="3411967"/>
              <a:ext cx="11371" cy="144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id="{C8C872C1-47D3-415A-98A7-8483E84AB9D2}"/>
                </a:ext>
              </a:extLst>
            </p:cNvPr>
            <p:cNvCxnSpPr>
              <a:cxnSpLocks/>
              <a:stCxn id="417" idx="3"/>
              <a:endCxn id="420" idx="0"/>
            </p:cNvCxnSpPr>
            <p:nvPr/>
          </p:nvCxnSpPr>
          <p:spPr>
            <a:xfrm flipH="1">
              <a:off x="3381943" y="3241312"/>
              <a:ext cx="162556"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34" name="Straight Connector 433">
              <a:extLst>
                <a:ext uri="{FF2B5EF4-FFF2-40B4-BE49-F238E27FC236}">
                  <a16:creationId xmlns:a16="http://schemas.microsoft.com/office/drawing/2014/main" id="{0D35D36E-F1E7-4049-83F4-D8765CEA8685}"/>
                </a:ext>
              </a:extLst>
            </p:cNvPr>
            <p:cNvCxnSpPr>
              <a:cxnSpLocks/>
              <a:stCxn id="416" idx="4"/>
              <a:endCxn id="421" idx="1"/>
            </p:cNvCxnSpPr>
            <p:nvPr/>
          </p:nvCxnSpPr>
          <p:spPr>
            <a:xfrm>
              <a:off x="3307515" y="3188683"/>
              <a:ext cx="302703" cy="409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435" name="Straight Connector 434">
              <a:extLst>
                <a:ext uri="{FF2B5EF4-FFF2-40B4-BE49-F238E27FC236}">
                  <a16:creationId xmlns:a16="http://schemas.microsoft.com/office/drawing/2014/main" id="{903D0418-E3F2-464F-B02A-0AC1CE3E5C59}"/>
                </a:ext>
              </a:extLst>
            </p:cNvPr>
            <p:cNvCxnSpPr>
              <a:cxnSpLocks/>
              <a:stCxn id="416" idx="4"/>
              <a:endCxn id="419" idx="7"/>
            </p:cNvCxnSpPr>
            <p:nvPr/>
          </p:nvCxnSpPr>
          <p:spPr>
            <a:xfrm flipH="1">
              <a:off x="3157722" y="3188683"/>
              <a:ext cx="149793" cy="367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id="{F12BC2F2-378B-4A12-81F7-52D0B96FA2ED}"/>
                </a:ext>
              </a:extLst>
            </p:cNvPr>
            <p:cNvCxnSpPr>
              <a:cxnSpLocks/>
              <a:stCxn id="419" idx="7"/>
              <a:endCxn id="421" idx="1"/>
            </p:cNvCxnSpPr>
            <p:nvPr/>
          </p:nvCxnSpPr>
          <p:spPr>
            <a:xfrm>
              <a:off x="3157722" y="3556091"/>
              <a:ext cx="452496" cy="42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437" name="Straight Connector 436">
              <a:extLst>
                <a:ext uri="{FF2B5EF4-FFF2-40B4-BE49-F238E27FC236}">
                  <a16:creationId xmlns:a16="http://schemas.microsoft.com/office/drawing/2014/main" id="{C9022B8F-2284-4DBA-B365-4B43D41508D7}"/>
                </a:ext>
              </a:extLst>
            </p:cNvPr>
            <p:cNvCxnSpPr>
              <a:cxnSpLocks/>
              <a:stCxn id="417" idx="2"/>
              <a:endCxn id="415" idx="6"/>
            </p:cNvCxnSpPr>
            <p:nvPr/>
          </p:nvCxnSpPr>
          <p:spPr>
            <a:xfrm flipH="1">
              <a:off x="3115521" y="3188683"/>
              <a:ext cx="407179"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8" name="Straight Connector 437">
              <a:extLst>
                <a:ext uri="{FF2B5EF4-FFF2-40B4-BE49-F238E27FC236}">
                  <a16:creationId xmlns:a16="http://schemas.microsoft.com/office/drawing/2014/main" id="{DE6EB0F3-EA79-4FFE-8B59-30E8B73D1B9D}"/>
                </a:ext>
              </a:extLst>
            </p:cNvPr>
            <p:cNvCxnSpPr>
              <a:cxnSpLocks/>
              <a:stCxn id="415" idx="5"/>
              <a:endCxn id="420" idx="1"/>
            </p:cNvCxnSpPr>
            <p:nvPr/>
          </p:nvCxnSpPr>
          <p:spPr>
            <a:xfrm>
              <a:off x="3093722" y="3390168"/>
              <a:ext cx="235592" cy="2823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CD187031-354C-4E18-B7EA-DBBBD1EA2FCC}"/>
                </a:ext>
              </a:extLst>
            </p:cNvPr>
            <p:cNvCxnSpPr>
              <a:cxnSpLocks/>
              <a:endCxn id="273" idx="7"/>
            </p:cNvCxnSpPr>
            <p:nvPr/>
          </p:nvCxnSpPr>
          <p:spPr>
            <a:xfrm flipH="1">
              <a:off x="1430145" y="1733833"/>
              <a:ext cx="617380" cy="58241"/>
            </a:xfrm>
            <a:prstGeom prst="line">
              <a:avLst/>
            </a:prstGeom>
            <a:ln w="25400">
              <a:tailEnd type="arrow"/>
            </a:ln>
          </p:spPr>
          <p:style>
            <a:lnRef idx="1">
              <a:schemeClr val="accent4"/>
            </a:lnRef>
            <a:fillRef idx="0">
              <a:schemeClr val="accent4"/>
            </a:fillRef>
            <a:effectRef idx="0">
              <a:schemeClr val="accent4"/>
            </a:effectRef>
            <a:fontRef idx="minor">
              <a:schemeClr val="tx1"/>
            </a:fontRef>
          </p:style>
        </p:cxnSp>
        <p:cxnSp>
          <p:nvCxnSpPr>
            <p:cNvPr id="440" name="Straight Connector 439">
              <a:extLst>
                <a:ext uri="{FF2B5EF4-FFF2-40B4-BE49-F238E27FC236}">
                  <a16:creationId xmlns:a16="http://schemas.microsoft.com/office/drawing/2014/main" id="{18476677-9128-4853-8E01-DDB665A35F0F}"/>
                </a:ext>
              </a:extLst>
            </p:cNvPr>
            <p:cNvCxnSpPr>
              <a:stCxn id="295" idx="3"/>
              <a:endCxn id="274" idx="0"/>
            </p:cNvCxnSpPr>
            <p:nvPr/>
          </p:nvCxnSpPr>
          <p:spPr>
            <a:xfrm flipH="1">
              <a:off x="1537716" y="1824052"/>
              <a:ext cx="496718" cy="169507"/>
            </a:xfrm>
            <a:prstGeom prst="line">
              <a:avLst/>
            </a:prstGeom>
            <a:ln w="25400">
              <a:tailEnd type="arrow"/>
            </a:ln>
          </p:spPr>
          <p:style>
            <a:lnRef idx="1">
              <a:schemeClr val="accent4"/>
            </a:lnRef>
            <a:fillRef idx="0">
              <a:schemeClr val="accent4"/>
            </a:fillRef>
            <a:effectRef idx="0">
              <a:schemeClr val="accent4"/>
            </a:effectRef>
            <a:fontRef idx="minor">
              <a:schemeClr val="tx1"/>
            </a:fontRef>
          </p:style>
        </p:cxnSp>
        <p:cxnSp>
          <p:nvCxnSpPr>
            <p:cNvPr id="441" name="Straight Connector 440">
              <a:extLst>
                <a:ext uri="{FF2B5EF4-FFF2-40B4-BE49-F238E27FC236}">
                  <a16:creationId xmlns:a16="http://schemas.microsoft.com/office/drawing/2014/main" id="{391B2328-08B8-4AFB-BE31-B6E04C0DBBAB}"/>
                </a:ext>
              </a:extLst>
            </p:cNvPr>
            <p:cNvCxnSpPr>
              <a:stCxn id="272" idx="7"/>
              <a:endCxn id="296" idx="2"/>
            </p:cNvCxnSpPr>
            <p:nvPr/>
          </p:nvCxnSpPr>
          <p:spPr>
            <a:xfrm flipV="1">
              <a:off x="1140532" y="1548139"/>
              <a:ext cx="1138525" cy="169507"/>
            </a:xfrm>
            <a:prstGeom prst="line">
              <a:avLst/>
            </a:prstGeom>
            <a:ln w="25400">
              <a:headEnd type="arrow"/>
              <a:tailEnd type="none"/>
            </a:ln>
          </p:spPr>
          <p:style>
            <a:lnRef idx="1">
              <a:schemeClr val="accent4"/>
            </a:lnRef>
            <a:fillRef idx="0">
              <a:schemeClr val="accent4"/>
            </a:fillRef>
            <a:effectRef idx="0">
              <a:schemeClr val="accent4"/>
            </a:effectRef>
            <a:fontRef idx="minor">
              <a:schemeClr val="tx1"/>
            </a:fontRef>
          </p:style>
        </p:cxnSp>
        <p:cxnSp>
          <p:nvCxnSpPr>
            <p:cNvPr id="442" name="Straight Connector 441">
              <a:extLst>
                <a:ext uri="{FF2B5EF4-FFF2-40B4-BE49-F238E27FC236}">
                  <a16:creationId xmlns:a16="http://schemas.microsoft.com/office/drawing/2014/main" id="{D4E4F368-ECA0-4AB5-AF64-A26BD7EF4613}"/>
                </a:ext>
              </a:extLst>
            </p:cNvPr>
            <p:cNvCxnSpPr>
              <a:stCxn id="299" idx="3"/>
              <a:endCxn id="274" idx="6"/>
            </p:cNvCxnSpPr>
            <p:nvPr/>
          </p:nvCxnSpPr>
          <p:spPr>
            <a:xfrm flipH="1" flipV="1">
              <a:off x="1612144" y="2067987"/>
              <a:ext cx="486290" cy="27246"/>
            </a:xfrm>
            <a:prstGeom prst="line">
              <a:avLst/>
            </a:prstGeom>
            <a:ln w="25400">
              <a:tailEnd type="arrow"/>
            </a:ln>
          </p:spPr>
          <p:style>
            <a:lnRef idx="1">
              <a:schemeClr val="accent4"/>
            </a:lnRef>
            <a:fillRef idx="0">
              <a:schemeClr val="accent4"/>
            </a:fillRef>
            <a:effectRef idx="0">
              <a:schemeClr val="accent4"/>
            </a:effectRef>
            <a:fontRef idx="minor">
              <a:schemeClr val="tx1"/>
            </a:fontRef>
          </p:style>
        </p:cxnSp>
        <p:cxnSp>
          <p:nvCxnSpPr>
            <p:cNvPr id="443" name="Straight Connector 442">
              <a:extLst>
                <a:ext uri="{FF2B5EF4-FFF2-40B4-BE49-F238E27FC236}">
                  <a16:creationId xmlns:a16="http://schemas.microsoft.com/office/drawing/2014/main" id="{CC0826BD-AD24-4D06-A13D-863F3592D984}"/>
                </a:ext>
              </a:extLst>
            </p:cNvPr>
            <p:cNvCxnSpPr>
              <a:stCxn id="277" idx="6"/>
              <a:endCxn id="295" idx="3"/>
            </p:cNvCxnSpPr>
            <p:nvPr/>
          </p:nvCxnSpPr>
          <p:spPr>
            <a:xfrm flipV="1">
              <a:off x="1517663" y="1824052"/>
              <a:ext cx="516771" cy="482712"/>
            </a:xfrm>
            <a:prstGeom prst="line">
              <a:avLst/>
            </a:prstGeom>
            <a:ln w="25400">
              <a:headEnd type="arrow"/>
              <a:tailEnd type="none"/>
            </a:ln>
          </p:spPr>
          <p:style>
            <a:lnRef idx="1">
              <a:schemeClr val="accent4"/>
            </a:lnRef>
            <a:fillRef idx="0">
              <a:schemeClr val="accent4"/>
            </a:fillRef>
            <a:effectRef idx="0">
              <a:schemeClr val="accent4"/>
            </a:effectRef>
            <a:fontRef idx="minor">
              <a:schemeClr val="tx1"/>
            </a:fontRef>
          </p:style>
        </p:cxnSp>
        <p:cxnSp>
          <p:nvCxnSpPr>
            <p:cNvPr id="444" name="Straight Connector 443">
              <a:extLst>
                <a:ext uri="{FF2B5EF4-FFF2-40B4-BE49-F238E27FC236}">
                  <a16:creationId xmlns:a16="http://schemas.microsoft.com/office/drawing/2014/main" id="{1EA90899-3E9C-452F-95D4-DCAF60C2A284}"/>
                </a:ext>
              </a:extLst>
            </p:cNvPr>
            <p:cNvCxnSpPr>
              <a:stCxn id="301" idx="4"/>
              <a:endCxn id="319" idx="5"/>
            </p:cNvCxnSpPr>
            <p:nvPr/>
          </p:nvCxnSpPr>
          <p:spPr>
            <a:xfrm>
              <a:off x="2708817" y="2159056"/>
              <a:ext cx="321072" cy="329353"/>
            </a:xfrm>
            <a:prstGeom prst="line">
              <a:avLst/>
            </a:prstGeom>
            <a:ln w="22225">
              <a:tailEnd type="arrow"/>
            </a:ln>
          </p:spPr>
          <p:style>
            <a:lnRef idx="1">
              <a:schemeClr val="accent4"/>
            </a:lnRef>
            <a:fillRef idx="0">
              <a:schemeClr val="accent4"/>
            </a:fillRef>
            <a:effectRef idx="0">
              <a:schemeClr val="accent4"/>
            </a:effectRef>
            <a:fontRef idx="minor">
              <a:schemeClr val="tx1"/>
            </a:fontRef>
          </p:style>
        </p:cxnSp>
        <p:cxnSp>
          <p:nvCxnSpPr>
            <p:cNvPr id="445" name="Straight Connector 444">
              <a:extLst>
                <a:ext uri="{FF2B5EF4-FFF2-40B4-BE49-F238E27FC236}">
                  <a16:creationId xmlns:a16="http://schemas.microsoft.com/office/drawing/2014/main" id="{C4E3B9C0-DA42-4E60-AE96-CE31B2649CBF}"/>
                </a:ext>
              </a:extLst>
            </p:cNvPr>
            <p:cNvCxnSpPr>
              <a:stCxn id="298" idx="5"/>
              <a:endCxn id="320" idx="0"/>
            </p:cNvCxnSpPr>
            <p:nvPr/>
          </p:nvCxnSpPr>
          <p:spPr>
            <a:xfrm>
              <a:off x="2855927" y="1898480"/>
              <a:ext cx="387755" cy="239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52F952BD-18F8-4D60-9215-32FB158295D2}"/>
                </a:ext>
              </a:extLst>
            </p:cNvPr>
            <p:cNvCxnSpPr>
              <a:stCxn id="298" idx="5"/>
              <a:endCxn id="319" idx="0"/>
            </p:cNvCxnSpPr>
            <p:nvPr/>
          </p:nvCxnSpPr>
          <p:spPr>
            <a:xfrm>
              <a:off x="2855927" y="1898480"/>
              <a:ext cx="121333" cy="462872"/>
            </a:xfrm>
            <a:prstGeom prst="line">
              <a:avLst/>
            </a:prstGeom>
            <a:ln w="22225">
              <a:tailEnd type="arrow"/>
            </a:ln>
          </p:spPr>
          <p:style>
            <a:lnRef idx="1">
              <a:schemeClr val="accent4"/>
            </a:lnRef>
            <a:fillRef idx="0">
              <a:schemeClr val="accent4"/>
            </a:fillRef>
            <a:effectRef idx="0">
              <a:schemeClr val="accent4"/>
            </a:effectRef>
            <a:fontRef idx="minor">
              <a:schemeClr val="tx1"/>
            </a:fontRef>
          </p:style>
        </p:cxnSp>
        <p:cxnSp>
          <p:nvCxnSpPr>
            <p:cNvPr id="447" name="Straight Connector 446">
              <a:extLst>
                <a:ext uri="{FF2B5EF4-FFF2-40B4-BE49-F238E27FC236}">
                  <a16:creationId xmlns:a16="http://schemas.microsoft.com/office/drawing/2014/main" id="{BFDE46EC-A769-460B-8E3B-97B96A9DD03E}"/>
                </a:ext>
              </a:extLst>
            </p:cNvPr>
            <p:cNvCxnSpPr>
              <a:stCxn id="297" idx="5"/>
              <a:endCxn id="320" idx="0"/>
            </p:cNvCxnSpPr>
            <p:nvPr/>
          </p:nvCxnSpPr>
          <p:spPr>
            <a:xfrm>
              <a:off x="2695727" y="1675196"/>
              <a:ext cx="547955" cy="462872"/>
            </a:xfrm>
            <a:prstGeom prst="line">
              <a:avLst/>
            </a:prstGeom>
            <a:ln w="22225">
              <a:tailEnd type="arrow"/>
            </a:ln>
          </p:spPr>
          <p:style>
            <a:lnRef idx="1">
              <a:schemeClr val="accent4"/>
            </a:lnRef>
            <a:fillRef idx="0">
              <a:schemeClr val="accent4"/>
            </a:fillRef>
            <a:effectRef idx="0">
              <a:schemeClr val="accent4"/>
            </a:effectRef>
            <a:fontRef idx="minor">
              <a:schemeClr val="tx1"/>
            </a:fontRef>
          </p:style>
        </p:cxnSp>
        <p:cxnSp>
          <p:nvCxnSpPr>
            <p:cNvPr id="448" name="Straight Connector 447">
              <a:extLst>
                <a:ext uri="{FF2B5EF4-FFF2-40B4-BE49-F238E27FC236}">
                  <a16:creationId xmlns:a16="http://schemas.microsoft.com/office/drawing/2014/main" id="{3F415C9C-D996-4896-A95E-C2727C9A6330}"/>
                </a:ext>
              </a:extLst>
            </p:cNvPr>
            <p:cNvCxnSpPr>
              <a:stCxn id="301" idx="5"/>
              <a:endCxn id="320" idx="2"/>
            </p:cNvCxnSpPr>
            <p:nvPr/>
          </p:nvCxnSpPr>
          <p:spPr>
            <a:xfrm>
              <a:off x="2761446" y="2137257"/>
              <a:ext cx="407808" cy="75239"/>
            </a:xfrm>
            <a:prstGeom prst="line">
              <a:avLst/>
            </a:prstGeom>
            <a:ln w="22225">
              <a:tailEnd type="arrow"/>
            </a:ln>
          </p:spPr>
          <p:style>
            <a:lnRef idx="1">
              <a:schemeClr val="accent4"/>
            </a:lnRef>
            <a:fillRef idx="0">
              <a:schemeClr val="accent4"/>
            </a:fillRef>
            <a:effectRef idx="0">
              <a:schemeClr val="accent4"/>
            </a:effectRef>
            <a:fontRef idx="minor">
              <a:schemeClr val="tx1"/>
            </a:fontRef>
          </p:style>
        </p:cxnSp>
        <p:cxnSp>
          <p:nvCxnSpPr>
            <p:cNvPr id="449" name="Straight Connector 448">
              <a:extLst>
                <a:ext uri="{FF2B5EF4-FFF2-40B4-BE49-F238E27FC236}">
                  <a16:creationId xmlns:a16="http://schemas.microsoft.com/office/drawing/2014/main" id="{516818A1-0D4E-43BD-8111-62FE97D44F40}"/>
                </a:ext>
              </a:extLst>
            </p:cNvPr>
            <p:cNvCxnSpPr>
              <a:stCxn id="300" idx="4"/>
              <a:endCxn id="319" idx="2"/>
            </p:cNvCxnSpPr>
            <p:nvPr/>
          </p:nvCxnSpPr>
          <p:spPr>
            <a:xfrm>
              <a:off x="2427913" y="2233484"/>
              <a:ext cx="474919" cy="202296"/>
            </a:xfrm>
            <a:prstGeom prst="line">
              <a:avLst/>
            </a:prstGeom>
            <a:ln w="22225">
              <a:tailEnd type="arrow"/>
            </a:ln>
          </p:spPr>
          <p:style>
            <a:lnRef idx="1">
              <a:schemeClr val="accent4"/>
            </a:lnRef>
            <a:fillRef idx="0">
              <a:schemeClr val="accent4"/>
            </a:fillRef>
            <a:effectRef idx="0">
              <a:schemeClr val="accent4"/>
            </a:effectRef>
            <a:fontRef idx="minor">
              <a:schemeClr val="tx1"/>
            </a:fontRef>
          </p:style>
        </p:cxnSp>
        <p:cxnSp>
          <p:nvCxnSpPr>
            <p:cNvPr id="450" name="Straight Connector 449">
              <a:extLst>
                <a:ext uri="{FF2B5EF4-FFF2-40B4-BE49-F238E27FC236}">
                  <a16:creationId xmlns:a16="http://schemas.microsoft.com/office/drawing/2014/main" id="{8CCD76E7-9BB4-45EC-A2BF-F680464B56FA}"/>
                </a:ext>
              </a:extLst>
            </p:cNvPr>
            <p:cNvCxnSpPr>
              <a:stCxn id="324" idx="4"/>
              <a:endCxn id="416" idx="0"/>
            </p:cNvCxnSpPr>
            <p:nvPr/>
          </p:nvCxnSpPr>
          <p:spPr>
            <a:xfrm flipH="1">
              <a:off x="3307515" y="2897841"/>
              <a:ext cx="10595" cy="1419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1" name="Straight Connector 450">
              <a:extLst>
                <a:ext uri="{FF2B5EF4-FFF2-40B4-BE49-F238E27FC236}">
                  <a16:creationId xmlns:a16="http://schemas.microsoft.com/office/drawing/2014/main" id="{F1185027-EEF8-4B31-8AF1-0EBCEC4D4DD1}"/>
                </a:ext>
              </a:extLst>
            </p:cNvPr>
            <p:cNvCxnSpPr>
              <a:stCxn id="325" idx="4"/>
              <a:endCxn id="417" idx="0"/>
            </p:cNvCxnSpPr>
            <p:nvPr/>
          </p:nvCxnSpPr>
          <p:spPr>
            <a:xfrm flipH="1">
              <a:off x="3597128" y="2823413"/>
              <a:ext cx="1886" cy="290842"/>
            </a:xfrm>
            <a:prstGeom prst="line">
              <a:avLst/>
            </a:prstGeom>
          </p:spPr>
          <p:style>
            <a:lnRef idx="1">
              <a:schemeClr val="accent1"/>
            </a:lnRef>
            <a:fillRef idx="0">
              <a:schemeClr val="accent1"/>
            </a:fillRef>
            <a:effectRef idx="0">
              <a:schemeClr val="accent1"/>
            </a:effectRef>
            <a:fontRef idx="minor">
              <a:schemeClr val="tx1"/>
            </a:fontRef>
          </p:style>
        </p:cxnSp>
        <p:cxnSp>
          <p:nvCxnSpPr>
            <p:cNvPr id="452" name="Straight Connector 451">
              <a:extLst>
                <a:ext uri="{FF2B5EF4-FFF2-40B4-BE49-F238E27FC236}">
                  <a16:creationId xmlns:a16="http://schemas.microsoft.com/office/drawing/2014/main" id="{B631F4BD-61B2-4B46-ACCD-95027C605B38}"/>
                </a:ext>
              </a:extLst>
            </p:cNvPr>
            <p:cNvCxnSpPr>
              <a:stCxn id="322" idx="5"/>
              <a:endCxn id="417" idx="6"/>
            </p:cNvCxnSpPr>
            <p:nvPr/>
          </p:nvCxnSpPr>
          <p:spPr>
            <a:xfrm flipH="1">
              <a:off x="3671556" y="2562837"/>
              <a:ext cx="74568" cy="6258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3" name="Straight Connector 452">
              <a:extLst>
                <a:ext uri="{FF2B5EF4-FFF2-40B4-BE49-F238E27FC236}">
                  <a16:creationId xmlns:a16="http://schemas.microsoft.com/office/drawing/2014/main" id="{A696CBED-C882-4639-902E-9660B04A1D36}"/>
                </a:ext>
              </a:extLst>
            </p:cNvPr>
            <p:cNvCxnSpPr>
              <a:stCxn id="419" idx="3"/>
              <a:endCxn id="393" idx="7"/>
            </p:cNvCxnSpPr>
            <p:nvPr/>
          </p:nvCxnSpPr>
          <p:spPr>
            <a:xfrm flipH="1">
              <a:off x="2932711" y="3661349"/>
              <a:ext cx="119753" cy="221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4AF83255-AE66-4FDF-BEBE-F5CB4438C7D6}"/>
                </a:ext>
              </a:extLst>
            </p:cNvPr>
            <p:cNvCxnSpPr>
              <a:stCxn id="420" idx="3"/>
              <a:endCxn id="394" idx="7"/>
            </p:cNvCxnSpPr>
            <p:nvPr/>
          </p:nvCxnSpPr>
          <p:spPr>
            <a:xfrm flipH="1">
              <a:off x="3092911" y="3777801"/>
              <a:ext cx="236403" cy="328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455" name="Straight Connector 454">
              <a:extLst>
                <a:ext uri="{FF2B5EF4-FFF2-40B4-BE49-F238E27FC236}">
                  <a16:creationId xmlns:a16="http://schemas.microsoft.com/office/drawing/2014/main" id="{6E8DD76A-D379-44AF-9F73-50280513125D}"/>
                </a:ext>
              </a:extLst>
            </p:cNvPr>
            <p:cNvCxnSpPr>
              <a:stCxn id="421" idx="4"/>
              <a:endCxn id="394" idx="6"/>
            </p:cNvCxnSpPr>
            <p:nvPr/>
          </p:nvCxnSpPr>
          <p:spPr>
            <a:xfrm flipH="1">
              <a:off x="3114710" y="3725172"/>
              <a:ext cx="548137" cy="433597"/>
            </a:xfrm>
            <a:prstGeom prst="line">
              <a:avLst/>
            </a:prstGeom>
          </p:spPr>
          <p:style>
            <a:lnRef idx="1">
              <a:schemeClr val="accent1"/>
            </a:lnRef>
            <a:fillRef idx="0">
              <a:schemeClr val="accent1"/>
            </a:fillRef>
            <a:effectRef idx="0">
              <a:schemeClr val="accent1"/>
            </a:effectRef>
            <a:fontRef idx="minor">
              <a:schemeClr val="tx1"/>
            </a:fontRef>
          </p:style>
        </p:cxnSp>
        <p:cxnSp>
          <p:nvCxnSpPr>
            <p:cNvPr id="456" name="Straight Connector 455">
              <a:extLst>
                <a:ext uri="{FF2B5EF4-FFF2-40B4-BE49-F238E27FC236}">
                  <a16:creationId xmlns:a16="http://schemas.microsoft.com/office/drawing/2014/main" id="{E692249D-227A-4170-A085-36D5633FCDA7}"/>
                </a:ext>
              </a:extLst>
            </p:cNvPr>
            <p:cNvCxnSpPr>
              <a:stCxn id="415" idx="2"/>
              <a:endCxn id="392" idx="7"/>
            </p:cNvCxnSpPr>
            <p:nvPr/>
          </p:nvCxnSpPr>
          <p:spPr>
            <a:xfrm flipH="1">
              <a:off x="2643098" y="3337539"/>
              <a:ext cx="323567" cy="470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457" name="Straight Connector 456">
              <a:extLst>
                <a:ext uri="{FF2B5EF4-FFF2-40B4-BE49-F238E27FC236}">
                  <a16:creationId xmlns:a16="http://schemas.microsoft.com/office/drawing/2014/main" id="{C620A56F-60A7-4ACB-9020-5C2FE87421B0}"/>
                </a:ext>
              </a:extLst>
            </p:cNvPr>
            <p:cNvCxnSpPr>
              <a:stCxn id="415" idx="3"/>
              <a:endCxn id="393" idx="7"/>
            </p:cNvCxnSpPr>
            <p:nvPr/>
          </p:nvCxnSpPr>
          <p:spPr>
            <a:xfrm flipH="1">
              <a:off x="2932711" y="3390168"/>
              <a:ext cx="55753" cy="49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8" name="Straight Connector 457">
              <a:extLst>
                <a:ext uri="{FF2B5EF4-FFF2-40B4-BE49-F238E27FC236}">
                  <a16:creationId xmlns:a16="http://schemas.microsoft.com/office/drawing/2014/main" id="{6C38B733-99DB-4780-94E8-8FDB0C2A2B29}"/>
                </a:ext>
              </a:extLst>
            </p:cNvPr>
            <p:cNvCxnSpPr>
              <a:stCxn id="419" idx="4"/>
              <a:endCxn id="394" idx="6"/>
            </p:cNvCxnSpPr>
            <p:nvPr/>
          </p:nvCxnSpPr>
          <p:spPr>
            <a:xfrm>
              <a:off x="3105093" y="3683148"/>
              <a:ext cx="9617" cy="475621"/>
            </a:xfrm>
            <a:prstGeom prst="line">
              <a:avLst/>
            </a:prstGeom>
          </p:spPr>
          <p:style>
            <a:lnRef idx="1">
              <a:schemeClr val="accent1"/>
            </a:lnRef>
            <a:fillRef idx="0">
              <a:schemeClr val="accent1"/>
            </a:fillRef>
            <a:effectRef idx="0">
              <a:schemeClr val="accent1"/>
            </a:effectRef>
            <a:fontRef idx="minor">
              <a:schemeClr val="tx1"/>
            </a:fontRef>
          </p:style>
        </p:cxnSp>
        <p:cxnSp>
          <p:nvCxnSpPr>
            <p:cNvPr id="459" name="Straight Connector 458">
              <a:extLst>
                <a:ext uri="{FF2B5EF4-FFF2-40B4-BE49-F238E27FC236}">
                  <a16:creationId xmlns:a16="http://schemas.microsoft.com/office/drawing/2014/main" id="{B3E63087-6CC5-4A52-BD4D-AECBA20A2979}"/>
                </a:ext>
              </a:extLst>
            </p:cNvPr>
            <p:cNvCxnSpPr>
              <a:stCxn id="370" idx="5"/>
              <a:endCxn id="391" idx="3"/>
            </p:cNvCxnSpPr>
            <p:nvPr/>
          </p:nvCxnSpPr>
          <p:spPr>
            <a:xfrm flipV="1">
              <a:off x="1880579" y="4136970"/>
              <a:ext cx="390839" cy="21799"/>
            </a:xfrm>
            <a:prstGeom prst="line">
              <a:avLst/>
            </a:prstGeom>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95963385-756D-497A-9205-BEDD9EB07462}"/>
                </a:ext>
              </a:extLst>
            </p:cNvPr>
            <p:cNvCxnSpPr>
              <a:cxnSpLocks/>
              <a:stCxn id="373" idx="5"/>
              <a:endCxn id="395" idx="3"/>
            </p:cNvCxnSpPr>
            <p:nvPr/>
          </p:nvCxnSpPr>
          <p:spPr>
            <a:xfrm>
              <a:off x="1786098" y="4397546"/>
              <a:ext cx="549320" cy="10605"/>
            </a:xfrm>
            <a:prstGeom prst="line">
              <a:avLst/>
            </a:prstGeom>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id="{02026C41-023D-4DA6-84A2-94CF042A2080}"/>
                </a:ext>
              </a:extLst>
            </p:cNvPr>
            <p:cNvCxnSpPr>
              <a:stCxn id="373" idx="6"/>
              <a:endCxn id="391" idx="5"/>
            </p:cNvCxnSpPr>
            <p:nvPr/>
          </p:nvCxnSpPr>
          <p:spPr>
            <a:xfrm flipV="1">
              <a:off x="1807897" y="4136970"/>
              <a:ext cx="568779" cy="207947"/>
            </a:xfrm>
            <a:prstGeom prst="line">
              <a:avLst/>
            </a:prstGeom>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D05B285B-2031-4D86-A514-17C7305F73EE}"/>
                </a:ext>
              </a:extLst>
            </p:cNvPr>
            <p:cNvCxnSpPr>
              <a:stCxn id="369" idx="6"/>
              <a:endCxn id="391" idx="1"/>
            </p:cNvCxnSpPr>
            <p:nvPr/>
          </p:nvCxnSpPr>
          <p:spPr>
            <a:xfrm>
              <a:off x="1742178" y="3882856"/>
              <a:ext cx="529240" cy="148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6848E1F1-9ED3-4B6B-8EB1-3747ACA8BE8A}"/>
                </a:ext>
              </a:extLst>
            </p:cNvPr>
            <p:cNvCxnSpPr>
              <a:stCxn id="275" idx="3"/>
              <a:endCxn id="344" idx="7"/>
            </p:cNvCxnSpPr>
            <p:nvPr/>
          </p:nvCxnSpPr>
          <p:spPr>
            <a:xfrm flipH="1">
              <a:off x="797353" y="2317369"/>
              <a:ext cx="35499" cy="453415"/>
            </a:xfrm>
            <a:prstGeom prst="line">
              <a:avLst/>
            </a:prstGeom>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id="{A3D40BDF-0931-4D67-BF3F-BBAF99B18A8A}"/>
                </a:ext>
              </a:extLst>
            </p:cNvPr>
            <p:cNvCxnSpPr>
              <a:stCxn id="276" idx="3"/>
              <a:endCxn id="345" idx="0"/>
            </p:cNvCxnSpPr>
            <p:nvPr/>
          </p:nvCxnSpPr>
          <p:spPr>
            <a:xfrm flipH="1">
              <a:off x="1034337" y="2433821"/>
              <a:ext cx="75365" cy="389592"/>
            </a:xfrm>
            <a:prstGeom prst="line">
              <a:avLst/>
            </a:prstGeom>
          </p:spPr>
          <p:style>
            <a:lnRef idx="1">
              <a:schemeClr val="accent1"/>
            </a:lnRef>
            <a:fillRef idx="0">
              <a:schemeClr val="accent1"/>
            </a:fillRef>
            <a:effectRef idx="0">
              <a:schemeClr val="accent1"/>
            </a:effectRef>
            <a:fontRef idx="minor">
              <a:schemeClr val="tx1"/>
            </a:fontRef>
          </p:style>
        </p:cxnSp>
        <p:cxnSp>
          <p:nvCxnSpPr>
            <p:cNvPr id="465" name="Straight Connector 464">
              <a:extLst>
                <a:ext uri="{FF2B5EF4-FFF2-40B4-BE49-F238E27FC236}">
                  <a16:creationId xmlns:a16="http://schemas.microsoft.com/office/drawing/2014/main" id="{0E679C93-9FBB-402C-AA58-5C80FAFCE193}"/>
                </a:ext>
              </a:extLst>
            </p:cNvPr>
            <p:cNvCxnSpPr>
              <a:stCxn id="277" idx="5"/>
              <a:endCxn id="345" idx="5"/>
            </p:cNvCxnSpPr>
            <p:nvPr/>
          </p:nvCxnSpPr>
          <p:spPr>
            <a:xfrm flipH="1">
              <a:off x="1086966" y="2359393"/>
              <a:ext cx="408898" cy="591077"/>
            </a:xfrm>
            <a:prstGeom prst="line">
              <a:avLst/>
            </a:prstGeom>
          </p:spPr>
          <p:style>
            <a:lnRef idx="1">
              <a:schemeClr val="accent1"/>
            </a:lnRef>
            <a:fillRef idx="0">
              <a:schemeClr val="accent1"/>
            </a:fillRef>
            <a:effectRef idx="0">
              <a:schemeClr val="accent1"/>
            </a:effectRef>
            <a:fontRef idx="minor">
              <a:schemeClr val="tx1"/>
            </a:fontRef>
          </p:style>
        </p:cxnSp>
        <p:cxnSp>
          <p:nvCxnSpPr>
            <p:cNvPr id="466" name="Straight Connector 465">
              <a:extLst>
                <a:ext uri="{FF2B5EF4-FFF2-40B4-BE49-F238E27FC236}">
                  <a16:creationId xmlns:a16="http://schemas.microsoft.com/office/drawing/2014/main" id="{AF7B7AB4-A2AE-417D-AF59-C3CF1148D415}"/>
                </a:ext>
              </a:extLst>
            </p:cNvPr>
            <p:cNvCxnSpPr>
              <a:stCxn id="275" idx="4"/>
              <a:endCxn id="345" idx="1"/>
            </p:cNvCxnSpPr>
            <p:nvPr/>
          </p:nvCxnSpPr>
          <p:spPr>
            <a:xfrm>
              <a:off x="885481" y="2339168"/>
              <a:ext cx="96227" cy="506044"/>
            </a:xfrm>
            <a:prstGeom prst="line">
              <a:avLst/>
            </a:prstGeom>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1EDC9B6B-F48B-4F2E-A7EA-763E676E97B8}"/>
                </a:ext>
              </a:extLst>
            </p:cNvPr>
            <p:cNvCxnSpPr>
              <a:stCxn id="348" idx="4"/>
              <a:endCxn id="367" idx="2"/>
            </p:cNvCxnSpPr>
            <p:nvPr/>
          </p:nvCxnSpPr>
          <p:spPr>
            <a:xfrm>
              <a:off x="819152" y="3508758"/>
              <a:ext cx="218135" cy="5229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E2FB15CD-2E53-4AB9-A822-D1E46343AF49}"/>
                </a:ext>
              </a:extLst>
            </p:cNvPr>
            <p:cNvCxnSpPr>
              <a:stCxn id="348" idx="4"/>
              <a:endCxn id="368" idx="2"/>
            </p:cNvCxnSpPr>
            <p:nvPr/>
          </p:nvCxnSpPr>
          <p:spPr>
            <a:xfrm>
              <a:off x="819152" y="3508758"/>
              <a:ext cx="484557" cy="29967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69A4FF6F-F804-4F41-8070-FBFB192D8C32}"/>
                </a:ext>
              </a:extLst>
            </p:cNvPr>
            <p:cNvCxnSpPr>
              <a:stCxn id="349" idx="5"/>
              <a:endCxn id="368" idx="1"/>
            </p:cNvCxnSpPr>
            <p:nvPr/>
          </p:nvCxnSpPr>
          <p:spPr>
            <a:xfrm>
              <a:off x="1152685" y="3412531"/>
              <a:ext cx="172823" cy="343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5B95ABAA-A704-43F5-B3C5-769D8F3F048F}"/>
                </a:ext>
              </a:extLst>
            </p:cNvPr>
            <p:cNvCxnSpPr>
              <a:stCxn id="300" idx="3"/>
              <a:endCxn id="369" idx="7"/>
            </p:cNvCxnSpPr>
            <p:nvPr/>
          </p:nvCxnSpPr>
          <p:spPr>
            <a:xfrm flipH="1">
              <a:off x="1720379" y="2211685"/>
              <a:ext cx="654905" cy="1618542"/>
            </a:xfrm>
            <a:prstGeom prst="line">
              <a:avLst/>
            </a:prstGeom>
          </p:spPr>
          <p:style>
            <a:lnRef idx="1">
              <a:schemeClr val="accent1"/>
            </a:lnRef>
            <a:fillRef idx="0">
              <a:schemeClr val="accent1"/>
            </a:fillRef>
            <a:effectRef idx="0">
              <a:schemeClr val="accent1"/>
            </a:effectRef>
            <a:fontRef idx="minor">
              <a:schemeClr val="tx1"/>
            </a:fontRef>
          </p:style>
        </p:cxnSp>
      </p:grpSp>
      <p:sp>
        <p:nvSpPr>
          <p:cNvPr id="472" name="椭圆 12">
            <a:extLst>
              <a:ext uri="{FF2B5EF4-FFF2-40B4-BE49-F238E27FC236}">
                <a16:creationId xmlns:a16="http://schemas.microsoft.com/office/drawing/2014/main" id="{6AFBB673-99F4-49A8-9FA7-B3A478FA87F4}"/>
              </a:ext>
            </a:extLst>
          </p:cNvPr>
          <p:cNvSpPr/>
          <p:nvPr/>
        </p:nvSpPr>
        <p:spPr>
          <a:xfrm>
            <a:off x="7929756" y="1599498"/>
            <a:ext cx="951975" cy="829925"/>
          </a:xfrm>
          <a:prstGeom prst="ellipse">
            <a:avLst/>
          </a:prstGeom>
          <a:solidFill>
            <a:srgbClr val="FFF2CC">
              <a:alpha val="50196"/>
            </a:srgbClr>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5" name="椭圆 25">
            <a:extLst>
              <a:ext uri="{FF2B5EF4-FFF2-40B4-BE49-F238E27FC236}">
                <a16:creationId xmlns:a16="http://schemas.microsoft.com/office/drawing/2014/main" id="{E17906CE-49C8-4A0C-992B-A9146AB62A22}"/>
              </a:ext>
            </a:extLst>
          </p:cNvPr>
          <p:cNvSpPr/>
          <p:nvPr/>
        </p:nvSpPr>
        <p:spPr>
          <a:xfrm>
            <a:off x="10118848" y="2004764"/>
            <a:ext cx="940725" cy="841740"/>
          </a:xfrm>
          <a:prstGeom prst="ellipse">
            <a:avLst/>
          </a:prstGeom>
          <a:solidFill>
            <a:srgbClr val="FFF2CC">
              <a:alpha val="50196"/>
            </a:srgbClr>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6" name="椭圆 26">
            <a:extLst>
              <a:ext uri="{FF2B5EF4-FFF2-40B4-BE49-F238E27FC236}">
                <a16:creationId xmlns:a16="http://schemas.microsoft.com/office/drawing/2014/main" id="{0CCBCB01-3DC0-4349-85DD-29E9BB7DB8D5}"/>
              </a:ext>
            </a:extLst>
          </p:cNvPr>
          <p:cNvSpPr/>
          <p:nvPr/>
        </p:nvSpPr>
        <p:spPr>
          <a:xfrm>
            <a:off x="9186396" y="1395539"/>
            <a:ext cx="941643" cy="835012"/>
          </a:xfrm>
          <a:prstGeom prst="ellipse">
            <a:avLst/>
          </a:prstGeom>
          <a:solidFill>
            <a:srgbClr val="FFF2CC">
              <a:alpha val="50196"/>
            </a:srgbClr>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4" name="矩形 27">
            <a:extLst>
              <a:ext uri="{FF2B5EF4-FFF2-40B4-BE49-F238E27FC236}">
                <a16:creationId xmlns:a16="http://schemas.microsoft.com/office/drawing/2014/main" id="{39029FEC-2AA3-4AE2-9722-AAB6043AF703}"/>
              </a:ext>
            </a:extLst>
          </p:cNvPr>
          <p:cNvSpPr/>
          <p:nvPr/>
        </p:nvSpPr>
        <p:spPr>
          <a:xfrm>
            <a:off x="9048664" y="2723722"/>
            <a:ext cx="251091" cy="373363"/>
          </a:xfrm>
          <a:prstGeom prst="rect">
            <a:avLst/>
          </a:prstGeom>
        </p:spPr>
        <p:txBody>
          <a:bodyPr wrap="none">
            <a:spAutoFit/>
          </a:bodyPr>
          <a:lstStyle/>
          <a:p>
            <a:r>
              <a:rPr lang="en-US" sz="3600" b="1" dirty="0">
                <a:solidFill>
                  <a:schemeClr val="tx1">
                    <a:lumMod val="75000"/>
                    <a:lumOff val="25000"/>
                  </a:schemeClr>
                </a:solidFill>
                <a:sym typeface="Wingdings" panose="05000000000000000000" pitchFamily="2" charset="2"/>
              </a:rPr>
              <a:t>×</a:t>
            </a:r>
            <a:endParaRPr lang="en-GB" sz="3600" dirty="0">
              <a:solidFill>
                <a:schemeClr val="tx1">
                  <a:lumMod val="75000"/>
                  <a:lumOff val="25000"/>
                </a:schemeClr>
              </a:solidFill>
            </a:endParaRPr>
          </a:p>
        </p:txBody>
      </p:sp>
      <p:sp>
        <p:nvSpPr>
          <p:cNvPr id="471" name="TextBox 470">
            <a:extLst>
              <a:ext uri="{FF2B5EF4-FFF2-40B4-BE49-F238E27FC236}">
                <a16:creationId xmlns:a16="http://schemas.microsoft.com/office/drawing/2014/main" id="{F702CA7C-6862-436F-8547-B0F8EB0AC39C}"/>
              </a:ext>
            </a:extLst>
          </p:cNvPr>
          <p:cNvSpPr txBox="1"/>
          <p:nvPr/>
        </p:nvSpPr>
        <p:spPr>
          <a:xfrm>
            <a:off x="290963" y="1377766"/>
            <a:ext cx="1641453" cy="369332"/>
          </a:xfrm>
          <a:prstGeom prst="rect">
            <a:avLst/>
          </a:prstGeom>
          <a:noFill/>
        </p:spPr>
        <p:txBody>
          <a:bodyPr wrap="square" rtlCol="0">
            <a:spAutoFit/>
          </a:bodyPr>
          <a:lstStyle/>
          <a:p>
            <a:r>
              <a:rPr lang="en-US" dirty="0"/>
              <a:t>Community B</a:t>
            </a:r>
          </a:p>
        </p:txBody>
      </p:sp>
      <p:sp>
        <p:nvSpPr>
          <p:cNvPr id="473" name="TextBox 472">
            <a:extLst>
              <a:ext uri="{FF2B5EF4-FFF2-40B4-BE49-F238E27FC236}">
                <a16:creationId xmlns:a16="http://schemas.microsoft.com/office/drawing/2014/main" id="{51CA9BCC-916F-4B51-8F49-3E8F773C3246}"/>
              </a:ext>
            </a:extLst>
          </p:cNvPr>
          <p:cNvSpPr txBox="1"/>
          <p:nvPr/>
        </p:nvSpPr>
        <p:spPr>
          <a:xfrm>
            <a:off x="2376312" y="1053663"/>
            <a:ext cx="1641453" cy="369332"/>
          </a:xfrm>
          <a:prstGeom prst="rect">
            <a:avLst/>
          </a:prstGeom>
          <a:noFill/>
        </p:spPr>
        <p:txBody>
          <a:bodyPr wrap="square" rtlCol="0">
            <a:spAutoFit/>
          </a:bodyPr>
          <a:lstStyle/>
          <a:p>
            <a:r>
              <a:rPr lang="en-US" dirty="0"/>
              <a:t>Community A</a:t>
            </a:r>
          </a:p>
        </p:txBody>
      </p:sp>
      <p:sp>
        <p:nvSpPr>
          <p:cNvPr id="474" name="TextBox 473">
            <a:extLst>
              <a:ext uri="{FF2B5EF4-FFF2-40B4-BE49-F238E27FC236}">
                <a16:creationId xmlns:a16="http://schemas.microsoft.com/office/drawing/2014/main" id="{393F74DB-7479-4E3C-AAE9-5544DBDBA2F2}"/>
              </a:ext>
            </a:extLst>
          </p:cNvPr>
          <p:cNvSpPr txBox="1"/>
          <p:nvPr/>
        </p:nvSpPr>
        <p:spPr>
          <a:xfrm>
            <a:off x="1076942" y="4522814"/>
            <a:ext cx="1641453" cy="369332"/>
          </a:xfrm>
          <a:prstGeom prst="rect">
            <a:avLst/>
          </a:prstGeom>
          <a:noFill/>
        </p:spPr>
        <p:txBody>
          <a:bodyPr wrap="square" rtlCol="0">
            <a:spAutoFit/>
          </a:bodyPr>
          <a:lstStyle/>
          <a:p>
            <a:r>
              <a:rPr lang="en-US" dirty="0"/>
              <a:t>Community C</a:t>
            </a:r>
          </a:p>
        </p:txBody>
      </p:sp>
      <p:sp>
        <p:nvSpPr>
          <p:cNvPr id="478" name="TextBox 477">
            <a:extLst>
              <a:ext uri="{FF2B5EF4-FFF2-40B4-BE49-F238E27FC236}">
                <a16:creationId xmlns:a16="http://schemas.microsoft.com/office/drawing/2014/main" id="{D3D9D017-6D4A-4763-BDD7-E2F32F653282}"/>
              </a:ext>
            </a:extLst>
          </p:cNvPr>
          <p:cNvSpPr txBox="1"/>
          <p:nvPr/>
        </p:nvSpPr>
        <p:spPr>
          <a:xfrm>
            <a:off x="6864014" y="1295421"/>
            <a:ext cx="1641453" cy="369332"/>
          </a:xfrm>
          <a:prstGeom prst="rect">
            <a:avLst/>
          </a:prstGeom>
          <a:noFill/>
        </p:spPr>
        <p:txBody>
          <a:bodyPr wrap="square" rtlCol="0">
            <a:spAutoFit/>
          </a:bodyPr>
          <a:lstStyle/>
          <a:p>
            <a:r>
              <a:rPr lang="en-US" dirty="0"/>
              <a:t>Community B</a:t>
            </a:r>
          </a:p>
        </p:txBody>
      </p:sp>
      <p:sp>
        <p:nvSpPr>
          <p:cNvPr id="479" name="TextBox 478">
            <a:extLst>
              <a:ext uri="{FF2B5EF4-FFF2-40B4-BE49-F238E27FC236}">
                <a16:creationId xmlns:a16="http://schemas.microsoft.com/office/drawing/2014/main" id="{B7ABF63A-F8D8-448E-AB79-55CA3F7A0B93}"/>
              </a:ext>
            </a:extLst>
          </p:cNvPr>
          <p:cNvSpPr txBox="1"/>
          <p:nvPr/>
        </p:nvSpPr>
        <p:spPr>
          <a:xfrm>
            <a:off x="8949363" y="971318"/>
            <a:ext cx="1641453" cy="369332"/>
          </a:xfrm>
          <a:prstGeom prst="rect">
            <a:avLst/>
          </a:prstGeom>
          <a:noFill/>
        </p:spPr>
        <p:txBody>
          <a:bodyPr wrap="square" rtlCol="0">
            <a:spAutoFit/>
          </a:bodyPr>
          <a:lstStyle/>
          <a:p>
            <a:r>
              <a:rPr lang="en-US" dirty="0"/>
              <a:t>Community A</a:t>
            </a:r>
          </a:p>
        </p:txBody>
      </p:sp>
      <p:sp>
        <p:nvSpPr>
          <p:cNvPr id="480" name="TextBox 479">
            <a:extLst>
              <a:ext uri="{FF2B5EF4-FFF2-40B4-BE49-F238E27FC236}">
                <a16:creationId xmlns:a16="http://schemas.microsoft.com/office/drawing/2014/main" id="{5EADB3C7-5F7F-43BC-8A9F-613B12137556}"/>
              </a:ext>
            </a:extLst>
          </p:cNvPr>
          <p:cNvSpPr txBox="1"/>
          <p:nvPr/>
        </p:nvSpPr>
        <p:spPr>
          <a:xfrm>
            <a:off x="7649993" y="4440469"/>
            <a:ext cx="1641453" cy="369332"/>
          </a:xfrm>
          <a:prstGeom prst="rect">
            <a:avLst/>
          </a:prstGeom>
          <a:noFill/>
        </p:spPr>
        <p:txBody>
          <a:bodyPr wrap="square" rtlCol="0">
            <a:spAutoFit/>
          </a:bodyPr>
          <a:lstStyle/>
          <a:p>
            <a:r>
              <a:rPr lang="en-US" dirty="0"/>
              <a:t>Community C</a:t>
            </a:r>
          </a:p>
        </p:txBody>
      </p:sp>
    </p:spTree>
    <p:extLst>
      <p:ext uri="{BB962C8B-B14F-4D97-AF65-F5344CB8AC3E}">
        <p14:creationId xmlns:p14="http://schemas.microsoft.com/office/powerpoint/2010/main" val="2821666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p:cNvSpPr>
            <a:spLocks noGrp="1"/>
          </p:cNvSpPr>
          <p:nvPr>
            <p:ph type="title"/>
          </p:nvPr>
        </p:nvSpPr>
        <p:spPr>
          <a:xfrm>
            <a:off x="630936" y="639520"/>
            <a:ext cx="3429000" cy="1719072"/>
          </a:xfrm>
        </p:spPr>
        <p:txBody>
          <a:bodyPr vert="horz" lIns="91440" tIns="45720" rIns="91440" bIns="45720" rtlCol="0" anchor="b">
            <a:normAutofit/>
          </a:bodyPr>
          <a:lstStyle/>
          <a:p>
            <a:r>
              <a:rPr lang="en-US" sz="3800" b="1" kern="1200" dirty="0">
                <a:solidFill>
                  <a:schemeClr val="tx1"/>
                </a:solidFill>
                <a:latin typeface="+mj-lt"/>
                <a:ea typeface="+mj-ea"/>
                <a:cs typeface="+mj-cs"/>
              </a:rPr>
              <a:t>Today’s </a:t>
            </a:r>
            <a:r>
              <a:rPr lang="en-US" sz="3800" b="1" kern="1200" dirty="0" err="1">
                <a:solidFill>
                  <a:schemeClr val="tx1"/>
                </a:solidFill>
                <a:latin typeface="+mj-lt"/>
                <a:ea typeface="+mj-ea"/>
                <a:cs typeface="+mj-cs"/>
              </a:rPr>
              <a:t>programe</a:t>
            </a:r>
            <a:endParaRPr lang="en-US" sz="3800" b="1" kern="1200" dirty="0">
              <a:solidFill>
                <a:schemeClr val="tx1"/>
              </a:solidFill>
              <a:latin typeface="+mj-lt"/>
              <a:ea typeface="+mj-ea"/>
              <a:cs typeface="+mj-cs"/>
            </a:endParaRP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内容占位符 2">
            <a:extLst>
              <a:ext uri="{FF2B5EF4-FFF2-40B4-BE49-F238E27FC236}">
                <a16:creationId xmlns:a16="http://schemas.microsoft.com/office/drawing/2014/main" id="{AB6D431C-6C24-41DA-8089-88EE2487A0FA}"/>
              </a:ext>
            </a:extLst>
          </p:cNvPr>
          <p:cNvSpPr txBox="1">
            <a:spLocks/>
          </p:cNvSpPr>
          <p:nvPr/>
        </p:nvSpPr>
        <p:spPr>
          <a:xfrm>
            <a:off x="3898373" y="563320"/>
            <a:ext cx="8196197"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200"/>
              </a:spcBef>
              <a:spcAft>
                <a:spcPts val="60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Simple contagion</a:t>
            </a:r>
          </a:p>
          <a:p>
            <a:pPr marL="0" marR="0" lvl="0" indent="0" algn="l" defTabSz="914400" rtl="0" eaLnBrk="1" fontAlgn="auto" latinLnBrk="0" hangingPunct="1">
              <a:lnSpc>
                <a:spcPct val="90000"/>
              </a:lnSpc>
              <a:spcBef>
                <a:spcPts val="1200"/>
              </a:spcBef>
              <a:spcAft>
                <a:spcPts val="600"/>
              </a:spcAft>
              <a:buClrTx/>
              <a:buSzTx/>
              <a:buFont typeface="Arial" panose="020B0604020202020204" pitchFamily="34" charset="0"/>
              <a:buNone/>
              <a:tabLst/>
              <a:defRPr/>
            </a:pPr>
            <a:r>
              <a:rPr kumimoji="0" lang="en-GB" sz="26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    Mechanism and the strength of ‘weak ties’</a:t>
            </a:r>
            <a:endParaRPr kumimoji="0" lang="en-GB" sz="2600" b="1"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200"/>
              </a:spcBef>
              <a:spcAft>
                <a:spcPts val="60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Diffusion model for simple contagion</a:t>
            </a:r>
          </a:p>
          <a:p>
            <a:pPr marL="0" marR="0" lvl="0" indent="0" algn="l" defTabSz="914400" rtl="0" eaLnBrk="1" fontAlgn="auto" latinLnBrk="0" hangingPunct="1">
              <a:lnSpc>
                <a:spcPct val="90000"/>
              </a:lnSpc>
              <a:spcBef>
                <a:spcPts val="1200"/>
              </a:spcBef>
              <a:spcAft>
                <a:spcPts val="600"/>
              </a:spcAft>
              <a:buClrTx/>
              <a:buSzTx/>
              <a:buFont typeface="Arial" panose="020B0604020202020204" pitchFamily="34" charset="0"/>
              <a:buNone/>
              <a:tabLst/>
              <a:defRPr/>
            </a:pPr>
            <a:r>
              <a:rPr kumimoji="0" lang="en-GB" sz="2600" b="1"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    </a:t>
            </a:r>
            <a:r>
              <a:rPr kumimoji="0" lang="en-GB" sz="26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Independent cascade model and other variants</a:t>
            </a:r>
          </a:p>
          <a:p>
            <a:pPr marL="228600" marR="0" lvl="0" indent="-228600" algn="l" defTabSz="914400" rtl="0" eaLnBrk="1" fontAlgn="auto" latinLnBrk="0" hangingPunct="1">
              <a:lnSpc>
                <a:spcPct val="90000"/>
              </a:lnSpc>
              <a:spcBef>
                <a:spcPts val="1200"/>
              </a:spcBef>
              <a:spcAft>
                <a:spcPts val="600"/>
              </a:spcAft>
              <a:buClrTx/>
              <a:buSzTx/>
              <a:buFont typeface="Arial" panose="020B0604020202020204" pitchFamily="34" charset="0"/>
              <a:buChar char="•"/>
              <a:tabLst/>
              <a:defRPr/>
            </a:pPr>
            <a:r>
              <a:rPr kumimoji="0" lang="en-US" sz="2600" b="1"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rPr>
              <a:t>Complex contagion</a:t>
            </a:r>
          </a:p>
          <a:p>
            <a:pPr marL="0" marR="0" lvl="0"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r>
              <a:rPr kumimoji="0" lang="en-US" sz="26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rPr>
              <a:t>     </a:t>
            </a:r>
            <a:r>
              <a:rPr kumimoji="0" lang="en-GB" sz="26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rPr>
              <a:t>Mechanism and the strength of ‘strong ties’</a:t>
            </a:r>
          </a:p>
          <a:p>
            <a:pPr marL="228600" marR="0" lvl="0" indent="-228600" algn="l" defTabSz="914400" rtl="0" eaLnBrk="1" fontAlgn="auto" latinLnBrk="0" hangingPunct="1">
              <a:lnSpc>
                <a:spcPct val="90000"/>
              </a:lnSpc>
              <a:spcBef>
                <a:spcPts val="1200"/>
              </a:spcBef>
              <a:spcAft>
                <a:spcPts val="600"/>
              </a:spcAft>
              <a:buClrTx/>
              <a:buSzTx/>
              <a:buFont typeface="Arial" panose="020B0604020202020204" pitchFamily="34" charset="0"/>
              <a:buChar char="•"/>
              <a:tabLst/>
              <a:defRPr/>
            </a:pPr>
            <a:r>
              <a:rPr kumimoji="0" lang="nl-NL" sz="2600" b="1" i="0" u="none" strike="noStrike" kern="1200" cap="none" spc="0" normalizeH="0" baseline="0" noProof="0" dirty="0" err="1">
                <a:ln>
                  <a:noFill/>
                </a:ln>
                <a:solidFill>
                  <a:srgbClr val="ED7D31">
                    <a:lumMod val="75000"/>
                  </a:srgbClr>
                </a:solidFill>
                <a:effectLst/>
                <a:uLnTx/>
                <a:uFillTx/>
                <a:latin typeface="Calibri" panose="020F0502020204030204"/>
                <a:ea typeface="+mn-ea"/>
                <a:cs typeface="+mn-cs"/>
              </a:rPr>
              <a:t>Diffusion</a:t>
            </a:r>
            <a:r>
              <a:rPr kumimoji="0" lang="nl-NL" sz="26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 model </a:t>
            </a:r>
            <a:r>
              <a:rPr kumimoji="0" lang="nl-NL" sz="2600" b="1" i="0" u="none" strike="noStrike" kern="1200" cap="none" spc="0" normalizeH="0" baseline="0" noProof="0" dirty="0" err="1">
                <a:ln>
                  <a:noFill/>
                </a:ln>
                <a:solidFill>
                  <a:srgbClr val="ED7D31">
                    <a:lumMod val="75000"/>
                  </a:srgbClr>
                </a:solidFill>
                <a:effectLst/>
                <a:uLnTx/>
                <a:uFillTx/>
                <a:latin typeface="Calibri" panose="020F0502020204030204"/>
                <a:ea typeface="+mn-ea"/>
                <a:cs typeface="+mn-cs"/>
              </a:rPr>
              <a:t>for</a:t>
            </a:r>
            <a:r>
              <a:rPr kumimoji="0" lang="nl-NL" sz="26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 complex </a:t>
            </a:r>
            <a:r>
              <a:rPr kumimoji="0" lang="nl-NL" sz="2600" b="1" i="0" u="none" strike="noStrike" kern="1200" cap="none" spc="0" normalizeH="0" baseline="0" noProof="0" dirty="0" err="1">
                <a:ln>
                  <a:noFill/>
                </a:ln>
                <a:solidFill>
                  <a:srgbClr val="ED7D31">
                    <a:lumMod val="75000"/>
                  </a:srgbClr>
                </a:solidFill>
                <a:effectLst/>
                <a:uLnTx/>
                <a:uFillTx/>
                <a:latin typeface="Calibri" panose="020F0502020204030204"/>
                <a:ea typeface="+mn-ea"/>
                <a:cs typeface="+mn-cs"/>
              </a:rPr>
              <a:t>contagion</a:t>
            </a:r>
            <a:endParaRPr kumimoji="0" lang="en-GB" sz="26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     Threshold model </a:t>
            </a:r>
            <a:r>
              <a:rPr kumimoji="0" lang="en-US" sz="26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rPr>
              <a:t>and seeding</a:t>
            </a:r>
          </a:p>
        </p:txBody>
      </p:sp>
      <p:sp>
        <p:nvSpPr>
          <p:cNvPr id="4" name="Thought Bubble: Cloud 3">
            <a:extLst>
              <a:ext uri="{FF2B5EF4-FFF2-40B4-BE49-F238E27FC236}">
                <a16:creationId xmlns:a16="http://schemas.microsoft.com/office/drawing/2014/main" id="{513D7112-26C7-4BC8-81D4-92D188D571C3}"/>
              </a:ext>
            </a:extLst>
          </p:cNvPr>
          <p:cNvSpPr/>
          <p:nvPr/>
        </p:nvSpPr>
        <p:spPr>
          <a:xfrm>
            <a:off x="1324947" y="4985403"/>
            <a:ext cx="10769624" cy="1682496"/>
          </a:xfrm>
          <a:prstGeom prst="cloudCallout">
            <a:avLst>
              <a:gd name="adj1" fmla="val -16348"/>
              <a:gd name="adj2" fmla="val -62814"/>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spcAft>
                <a:spcPts val="600"/>
              </a:spcAft>
            </a:pPr>
            <a:r>
              <a:rPr lang="en-US" sz="2400" b="1" dirty="0">
                <a:solidFill>
                  <a:srgbClr val="0070C0"/>
                </a:solidFill>
              </a:rPr>
              <a:t>How to translate the complex contagion theory into numerical models?</a:t>
            </a:r>
          </a:p>
        </p:txBody>
      </p:sp>
    </p:spTree>
    <p:extLst>
      <p:ext uri="{BB962C8B-B14F-4D97-AF65-F5344CB8AC3E}">
        <p14:creationId xmlns:p14="http://schemas.microsoft.com/office/powerpoint/2010/main" val="3200652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01CEB-3668-4CC2-8867-52026482C43D}"/>
              </a:ext>
            </a:extLst>
          </p:cNvPr>
          <p:cNvSpPr>
            <a:spLocks noGrp="1"/>
          </p:cNvSpPr>
          <p:nvPr>
            <p:ph type="title"/>
          </p:nvPr>
        </p:nvSpPr>
        <p:spPr>
          <a:xfrm>
            <a:off x="171450" y="-13173"/>
            <a:ext cx="11751988" cy="1325563"/>
          </a:xfrm>
        </p:spPr>
        <p:txBody>
          <a:bodyPr>
            <a:normAutofit/>
          </a:bodyPr>
          <a:lstStyle/>
          <a:p>
            <a:r>
              <a:rPr lang="en-US" sz="3400" b="1" dirty="0">
                <a:solidFill>
                  <a:srgbClr val="0070C0"/>
                </a:solidFill>
              </a:rPr>
              <a:t>Translate complex contagion into numerical models by “</a:t>
            </a:r>
            <a:r>
              <a:rPr lang="en-US" sz="3400" b="1" i="1" dirty="0">
                <a:solidFill>
                  <a:srgbClr val="0070C0"/>
                </a:solidFill>
              </a:rPr>
              <a:t>Threshold</a:t>
            </a:r>
            <a:r>
              <a:rPr lang="en-US" sz="3400" b="1" dirty="0">
                <a:solidFill>
                  <a:srgbClr val="0070C0"/>
                </a:solidFill>
              </a:rPr>
              <a:t>”</a:t>
            </a:r>
            <a:endParaRPr lang="nl-NL" sz="3400" b="1" dirty="0">
              <a:solidFill>
                <a:srgbClr val="0070C0"/>
              </a:solidFill>
            </a:endParaRPr>
          </a:p>
        </p:txBody>
      </p:sp>
      <p:sp>
        <p:nvSpPr>
          <p:cNvPr id="7" name="Title 1">
            <a:extLst>
              <a:ext uri="{FF2B5EF4-FFF2-40B4-BE49-F238E27FC236}">
                <a16:creationId xmlns:a16="http://schemas.microsoft.com/office/drawing/2014/main" id="{025C52A4-92F9-47CA-AEC0-AC8D1FC446B8}"/>
              </a:ext>
            </a:extLst>
          </p:cNvPr>
          <p:cNvSpPr txBox="1">
            <a:spLocks/>
          </p:cNvSpPr>
          <p:nvPr/>
        </p:nvSpPr>
        <p:spPr>
          <a:xfrm>
            <a:off x="323113" y="2835443"/>
            <a:ext cx="11545774" cy="96019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2000" b="1" dirty="0">
                <a:solidFill>
                  <a:srgbClr val="0070C0"/>
                </a:solidFill>
                <a:latin typeface="+mn-lt"/>
              </a:rPr>
              <a:t>Threshold</a:t>
            </a:r>
            <a:r>
              <a:rPr lang="en-US" sz="2000" dirty="0">
                <a:solidFill>
                  <a:schemeClr val="tx1">
                    <a:lumMod val="95000"/>
                    <a:lumOff val="5000"/>
                  </a:schemeClr>
                </a:solidFill>
                <a:latin typeface="+mn-lt"/>
              </a:rPr>
              <a:t>: To adopt a new behavior, an individual needs to be convinced by </a:t>
            </a:r>
            <a:r>
              <a:rPr lang="en-US" sz="2000" i="1" dirty="0">
                <a:solidFill>
                  <a:schemeClr val="accent2">
                    <a:lumMod val="75000"/>
                  </a:schemeClr>
                </a:solidFill>
                <a:latin typeface="+mn-lt"/>
              </a:rPr>
              <a:t>an absolute number </a:t>
            </a:r>
            <a:r>
              <a:rPr lang="en-US" sz="2000" dirty="0">
                <a:solidFill>
                  <a:schemeClr val="tx1">
                    <a:lumMod val="95000"/>
                    <a:lumOff val="5000"/>
                  </a:schemeClr>
                </a:solidFill>
                <a:latin typeface="+mn-lt"/>
              </a:rPr>
              <a:t>or </a:t>
            </a:r>
            <a:r>
              <a:rPr lang="en-US" sz="2000" i="1" dirty="0">
                <a:solidFill>
                  <a:schemeClr val="accent2">
                    <a:lumMod val="75000"/>
                  </a:schemeClr>
                </a:solidFill>
                <a:latin typeface="+mn-lt"/>
              </a:rPr>
              <a:t>a fraction </a:t>
            </a:r>
            <a:r>
              <a:rPr lang="en-US" sz="2000" dirty="0">
                <a:solidFill>
                  <a:schemeClr val="accent2">
                    <a:lumMod val="75000"/>
                  </a:schemeClr>
                </a:solidFill>
                <a:latin typeface="+mn-lt"/>
              </a:rPr>
              <a:t>of his/her social contacts </a:t>
            </a:r>
            <a:r>
              <a:rPr lang="en-US" sz="2000" dirty="0">
                <a:latin typeface="+mn-lt"/>
              </a:rPr>
              <a:t>(e.g., the riskier the behavior the higher the threshold)</a:t>
            </a:r>
          </a:p>
        </p:txBody>
      </p:sp>
      <p:sp>
        <p:nvSpPr>
          <p:cNvPr id="9" name="Rectangle 8">
            <a:extLst>
              <a:ext uri="{FF2B5EF4-FFF2-40B4-BE49-F238E27FC236}">
                <a16:creationId xmlns:a16="http://schemas.microsoft.com/office/drawing/2014/main" id="{41A260FC-38CC-4E24-ABC7-CC50E67374BC}"/>
              </a:ext>
            </a:extLst>
          </p:cNvPr>
          <p:cNvSpPr/>
          <p:nvPr/>
        </p:nvSpPr>
        <p:spPr>
          <a:xfrm>
            <a:off x="0" y="107992"/>
            <a:ext cx="171450" cy="11134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5BC9BC0-4D45-43BC-B251-CB4E15200466}"/>
              </a:ext>
            </a:extLst>
          </p:cNvPr>
          <p:cNvPicPr>
            <a:picLocks noChangeAspect="1"/>
          </p:cNvPicPr>
          <p:nvPr/>
        </p:nvPicPr>
        <p:blipFill>
          <a:blip r:embed="rId3"/>
          <a:stretch>
            <a:fillRect/>
          </a:stretch>
        </p:blipFill>
        <p:spPr>
          <a:xfrm>
            <a:off x="342900" y="1221469"/>
            <a:ext cx="5990836" cy="1265920"/>
          </a:xfrm>
          <a:prstGeom prst="rect">
            <a:avLst/>
          </a:prstGeom>
          <a:ln>
            <a:solidFill>
              <a:schemeClr val="bg2">
                <a:lumMod val="50000"/>
              </a:schemeClr>
            </a:solidFill>
          </a:ln>
        </p:spPr>
      </p:pic>
      <p:pic>
        <p:nvPicPr>
          <p:cNvPr id="12" name="Picture 2">
            <a:extLst>
              <a:ext uri="{FF2B5EF4-FFF2-40B4-BE49-F238E27FC236}">
                <a16:creationId xmlns:a16="http://schemas.microsoft.com/office/drawing/2014/main" id="{87292027-0BB6-47AE-A358-AAB3534585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242" y="4143687"/>
            <a:ext cx="5066031" cy="13759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1068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ECD7DF-620A-4B5E-90B0-B326326B2A85}"/>
                  </a:ext>
                </a:extLst>
              </p:cNvPr>
              <p:cNvSpPr>
                <a:spLocks noGrp="1"/>
              </p:cNvSpPr>
              <p:nvPr>
                <p:ph idx="1"/>
              </p:nvPr>
            </p:nvSpPr>
            <p:spPr>
              <a:xfrm>
                <a:off x="305034" y="1262779"/>
                <a:ext cx="11756367" cy="5342601"/>
              </a:xfrm>
            </p:spPr>
            <p:txBody>
              <a:bodyPr>
                <a:noAutofit/>
              </a:bodyPr>
              <a:lstStyle/>
              <a:p>
                <a:pPr>
                  <a:lnSpc>
                    <a:spcPct val="130000"/>
                  </a:lnSpc>
                </a:pPr>
                <a:r>
                  <a:rPr lang="en-US" sz="1800" dirty="0"/>
                  <a:t>Node </a:t>
                </a:r>
                <a:r>
                  <a:rPr lang="en-US" sz="1800" i="1" dirty="0" err="1">
                    <a:latin typeface="Times New Roman" panose="02020603050405020304" pitchFamily="18" charset="0"/>
                    <a:cs typeface="Times New Roman" panose="02020603050405020304" pitchFamily="18" charset="0"/>
                  </a:rPr>
                  <a:t>i</a:t>
                </a:r>
                <a:r>
                  <a:rPr lang="en-US" sz="1800" i="1" dirty="0">
                    <a:latin typeface="Times New Roman" panose="02020603050405020304" pitchFamily="18" charset="0"/>
                    <a:cs typeface="Times New Roman" panose="02020603050405020304" pitchFamily="18" charset="0"/>
                  </a:rPr>
                  <a:t> </a:t>
                </a:r>
                <a:r>
                  <a:rPr lang="en-US" sz="1800" dirty="0"/>
                  <a:t>can</a:t>
                </a:r>
                <a:r>
                  <a:rPr lang="en-US" sz="1800" i="1" dirty="0">
                    <a:latin typeface="Times New Roman" panose="02020603050405020304" pitchFamily="18" charset="0"/>
                    <a:cs typeface="Times New Roman" panose="02020603050405020304" pitchFamily="18" charset="0"/>
                  </a:rPr>
                  <a:t> </a:t>
                </a:r>
                <a:r>
                  <a:rPr lang="en-US" sz="1800" dirty="0"/>
                  <a:t>have two states — active (</a:t>
                </a:r>
                <a14:m>
                  <m:oMath xmlns:m="http://schemas.openxmlformats.org/officeDocument/2006/math">
                    <m:sSub>
                      <m:sSubPr>
                        <m:ctrlPr>
                          <a:rPr lang="en-US" sz="1800" i="1" dirty="0" smtClean="0">
                            <a:latin typeface="Cambria Math" panose="02040503050406030204" pitchFamily="18" charset="0"/>
                          </a:rPr>
                        </m:ctrlPr>
                      </m:sSubPr>
                      <m:e>
                        <m:r>
                          <a:rPr lang="nl-NL" sz="1800" b="0" i="1" dirty="0" smtClean="0">
                            <a:latin typeface="Cambria Math" panose="02040503050406030204" pitchFamily="18" charset="0"/>
                          </a:rPr>
                          <m:t>𝑆</m:t>
                        </m:r>
                      </m:e>
                      <m:sub>
                        <m:r>
                          <a:rPr lang="nl-NL" sz="1800" b="0" i="1" dirty="0" smtClean="0">
                            <a:latin typeface="Cambria Math" panose="02040503050406030204" pitchFamily="18" charset="0"/>
                          </a:rPr>
                          <m:t>𝑖</m:t>
                        </m:r>
                      </m:sub>
                    </m:sSub>
                    <m:r>
                      <a:rPr lang="en-US" sz="1800" i="1" dirty="0" smtClean="0">
                        <a:latin typeface="Cambria Math" panose="02040503050406030204" pitchFamily="18" charset="0"/>
                        <a:ea typeface="Cambria Math" panose="02040503050406030204" pitchFamily="18" charset="0"/>
                      </a:rPr>
                      <m:t>=</m:t>
                    </m:r>
                    <m:r>
                      <a:rPr lang="nl-NL" sz="1800" b="0" i="1" dirty="0" smtClean="0">
                        <a:latin typeface="Cambria Math" panose="02040503050406030204" pitchFamily="18" charset="0"/>
                        <a:ea typeface="Cambria Math" panose="02040503050406030204" pitchFamily="18" charset="0"/>
                      </a:rPr>
                      <m:t>1</m:t>
                    </m:r>
                  </m:oMath>
                </a14:m>
                <a:r>
                  <a:rPr lang="en-US" sz="1800" dirty="0"/>
                  <a:t>) and inactive (</a:t>
                </a:r>
                <a14:m>
                  <m:oMath xmlns:m="http://schemas.openxmlformats.org/officeDocument/2006/math">
                    <m:sSub>
                      <m:sSubPr>
                        <m:ctrlPr>
                          <a:rPr lang="en-US" sz="1800" i="1" dirty="0">
                            <a:latin typeface="Cambria Math" panose="02040503050406030204" pitchFamily="18" charset="0"/>
                          </a:rPr>
                        </m:ctrlPr>
                      </m:sSubPr>
                      <m:e>
                        <m:r>
                          <a:rPr lang="nl-NL" sz="1800" i="1" dirty="0">
                            <a:latin typeface="Cambria Math" panose="02040503050406030204" pitchFamily="18" charset="0"/>
                          </a:rPr>
                          <m:t>𝑆</m:t>
                        </m:r>
                      </m:e>
                      <m:sub>
                        <m:r>
                          <a:rPr lang="nl-NL" sz="1800" i="1" dirty="0">
                            <a:latin typeface="Cambria Math" panose="02040503050406030204" pitchFamily="18" charset="0"/>
                          </a:rPr>
                          <m:t>𝑖</m:t>
                        </m:r>
                      </m:sub>
                    </m:sSub>
                    <m:r>
                      <a:rPr lang="en-US" sz="1800" i="1" dirty="0">
                        <a:latin typeface="Cambria Math" panose="02040503050406030204" pitchFamily="18" charset="0"/>
                        <a:ea typeface="Cambria Math" panose="02040503050406030204" pitchFamily="18" charset="0"/>
                      </a:rPr>
                      <m:t>=</m:t>
                    </m:r>
                  </m:oMath>
                </a14:m>
                <a:r>
                  <a:rPr lang="en-US" sz="1800" dirty="0"/>
                  <a:t>0); once activated, will remain active all the time. </a:t>
                </a:r>
              </a:p>
              <a:p>
                <a:pPr>
                  <a:lnSpc>
                    <a:spcPct val="130000"/>
                  </a:lnSpc>
                </a:pPr>
                <a:r>
                  <a:rPr lang="en-US" sz="1800" dirty="0"/>
                  <a:t>Imagine node </a:t>
                </a:r>
                <a:r>
                  <a:rPr lang="en-US" sz="1800" i="1" dirty="0">
                    <a:latin typeface="Times New Roman" panose="02020603050405020304" pitchFamily="18" charset="0"/>
                    <a:cs typeface="Times New Roman" panose="02020603050405020304" pitchFamily="18" charset="0"/>
                  </a:rPr>
                  <a:t>i</a:t>
                </a:r>
                <a:r>
                  <a:rPr lang="en-US" sz="1800" dirty="0"/>
                  <a:t> has </a:t>
                </a:r>
                <a:r>
                  <a:rPr lang="en-US" sz="1800" b="1" dirty="0"/>
                  <a:t>a fractional threshold </a:t>
                </a:r>
                <a:r>
                  <a:rPr lang="en-US" sz="1800" dirty="0"/>
                  <a:t>defined as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𝜃</m:t>
                        </m:r>
                      </m:e>
                      <m:sub>
                        <m:r>
                          <a:rPr lang="nl-NL" sz="1800" i="1">
                            <a:latin typeface="Cambria Math" panose="02040503050406030204" pitchFamily="18" charset="0"/>
                          </a:rPr>
                          <m:t>𝑖</m:t>
                        </m:r>
                      </m:sub>
                    </m:sSub>
                  </m:oMath>
                </a14:m>
                <a:r>
                  <a:rPr lang="en-US" sz="1800" i="1" dirty="0">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sSub>
                      <m:sSubPr>
                        <m:ctrlPr>
                          <a:rPr lang="en-US" sz="1800" i="1">
                            <a:latin typeface="Cambria Math" panose="02040503050406030204" pitchFamily="18" charset="0"/>
                            <a:ea typeface="Cambria Math" panose="02040503050406030204" pitchFamily="18" charset="0"/>
                            <a:cs typeface="Times New Roman" panose="02020603050405020304" pitchFamily="18" charset="0"/>
                          </a:rPr>
                        </m:ctrlPr>
                      </m:sSubPr>
                      <m:e>
                        <m:r>
                          <a:rPr lang="nl-NL" sz="1800" i="1">
                            <a:latin typeface="Cambria Math" panose="02040503050406030204" pitchFamily="18" charset="0"/>
                            <a:ea typeface="Cambria Math" panose="02040503050406030204" pitchFamily="18" charset="0"/>
                            <a:cs typeface="Times New Roman" panose="02020603050405020304" pitchFamily="18" charset="0"/>
                          </a:rPr>
                          <m:t>0≤</m:t>
                        </m:r>
                        <m:r>
                          <a:rPr lang="en-US" sz="1800" i="1">
                            <a:latin typeface="Cambria Math" panose="02040503050406030204" pitchFamily="18" charset="0"/>
                            <a:ea typeface="Cambria Math" panose="02040503050406030204" pitchFamily="18" charset="0"/>
                            <a:cs typeface="Times New Roman" panose="02020603050405020304" pitchFamily="18" charset="0"/>
                          </a:rPr>
                          <m:t>𝜃</m:t>
                        </m:r>
                      </m:e>
                      <m:sub>
                        <m:r>
                          <a:rPr lang="nl-NL" sz="1800" i="1">
                            <a:latin typeface="Cambria Math" panose="02040503050406030204" pitchFamily="18" charset="0"/>
                            <a:ea typeface="Cambria Math" panose="02040503050406030204" pitchFamily="18" charset="0"/>
                            <a:cs typeface="Times New Roman" panose="02020603050405020304" pitchFamily="18" charset="0"/>
                          </a:rPr>
                          <m:t>𝑖</m:t>
                        </m:r>
                      </m:sub>
                    </m:sSub>
                    <m:r>
                      <a:rPr lang="en-US" sz="1800" i="1">
                        <a:latin typeface="Cambria Math" panose="02040503050406030204" pitchFamily="18" charset="0"/>
                        <a:ea typeface="Cambria Math" panose="02040503050406030204" pitchFamily="18" charset="0"/>
                        <a:cs typeface="Times New Roman" panose="02020603050405020304" pitchFamily="18" charset="0"/>
                      </a:rPr>
                      <m:t>≤</m:t>
                    </m:r>
                    <m:r>
                      <a:rPr lang="nl-NL" sz="1800" i="1">
                        <a:latin typeface="Cambria Math" panose="02040503050406030204" pitchFamily="18" charset="0"/>
                        <a:ea typeface="Cambria Math" panose="02040503050406030204" pitchFamily="18" charset="0"/>
                        <a:cs typeface="Times New Roman" panose="02020603050405020304" pitchFamily="18" charset="0"/>
                      </a:rPr>
                      <m:t>1</m:t>
                    </m:r>
                  </m:oMath>
                </a14:m>
                <a:endParaRPr lang="en-US" sz="1800" i="1"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30000"/>
                  </a:lnSpc>
                </a:pPr>
                <a:r>
                  <a:rPr lang="en-US" sz="1800" dirty="0"/>
                  <a:t>Imagine node </a:t>
                </a:r>
                <a:r>
                  <a:rPr lang="en-US" sz="1800" i="1" dirty="0">
                    <a:latin typeface="Times New Roman" panose="02020603050405020304" pitchFamily="18" charset="0"/>
                    <a:cs typeface="Times New Roman" panose="02020603050405020304" pitchFamily="18" charset="0"/>
                  </a:rPr>
                  <a:t>i</a:t>
                </a:r>
                <a:r>
                  <a:rPr lang="en-US" sz="1800" dirty="0"/>
                  <a:t> has </a:t>
                </a:r>
                <a:r>
                  <a:rPr lang="en-US" sz="1800" i="1" dirty="0">
                    <a:latin typeface="Cambria Math" panose="02040503050406030204" pitchFamily="18" charset="0"/>
                    <a:ea typeface="Cambria Math" panose="02040503050406030204" pitchFamily="18" charset="0"/>
                  </a:rPr>
                  <a:t>n</a:t>
                </a:r>
                <a:r>
                  <a:rPr lang="en-US" sz="1800" dirty="0"/>
                  <a:t> direct neighbors. </a:t>
                </a:r>
              </a:p>
              <a:p>
                <a:pPr>
                  <a:lnSpc>
                    <a:spcPct val="130000"/>
                  </a:lnSpc>
                </a:pPr>
                <a:r>
                  <a:rPr lang="en-US" sz="1800" dirty="0"/>
                  <a:t>At each time step </a:t>
                </a:r>
                <a:r>
                  <a:rPr lang="en-US" sz="1800" i="1" dirty="0">
                    <a:latin typeface="Times New Roman" panose="02020603050405020304" pitchFamily="18" charset="0"/>
                    <a:cs typeface="Times New Roman" panose="02020603050405020304" pitchFamily="18" charset="0"/>
                  </a:rPr>
                  <a:t>t</a:t>
                </a:r>
                <a:r>
                  <a:rPr lang="en-US" sz="1800" dirty="0"/>
                  <a:t>, calculate the weighted status of node </a:t>
                </a:r>
                <a:r>
                  <a:rPr lang="en-US" sz="1800" i="1" dirty="0">
                    <a:latin typeface="Times New Roman" panose="02020603050405020304" pitchFamily="18" charset="0"/>
                    <a:cs typeface="Times New Roman" panose="02020603050405020304" pitchFamily="18" charset="0"/>
                  </a:rPr>
                  <a:t>i</a:t>
                </a:r>
                <a:r>
                  <a:rPr lang="en-US" sz="1800" dirty="0"/>
                  <a:t>’s neighbors: </a:t>
                </a:r>
              </a:p>
              <a:p>
                <a:pPr marL="0" indent="0">
                  <a:lnSpc>
                    <a:spcPct val="130000"/>
                  </a:lnSpc>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         </m:t>
                          </m:r>
                          <m:r>
                            <a:rPr lang="en-US" sz="1800" b="0" i="1" smtClean="0">
                              <a:latin typeface="Cambria Math" panose="02040503050406030204" pitchFamily="18" charset="0"/>
                            </a:rPr>
                            <m:t>𝑤</m:t>
                          </m:r>
                        </m:e>
                        <m:sub>
                          <m:r>
                            <a:rPr lang="en-US" sz="1800" b="0" i="1" smtClean="0">
                              <a:latin typeface="Cambria Math" panose="02040503050406030204" pitchFamily="18" charset="0"/>
                            </a:rPr>
                            <m:t>𝑖</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𝑁𝑢𝑚𝑏𝑒𝑟</m:t>
                          </m:r>
                          <m:r>
                            <a:rPr lang="en-US" sz="1800" b="0" i="1" smtClean="0">
                              <a:latin typeface="Cambria Math" panose="02040503050406030204" pitchFamily="18" charset="0"/>
                            </a:rPr>
                            <m:t> </m:t>
                          </m:r>
                          <m:r>
                            <a:rPr lang="en-US" sz="1800" b="0" i="1" smtClean="0">
                              <a:latin typeface="Cambria Math" panose="02040503050406030204" pitchFamily="18" charset="0"/>
                            </a:rPr>
                            <m:t>𝑜𝑓</m:t>
                          </m:r>
                          <m:r>
                            <a:rPr lang="en-US" sz="1800" b="0" i="1" smtClean="0">
                              <a:latin typeface="Cambria Math" panose="02040503050406030204" pitchFamily="18" charset="0"/>
                            </a:rPr>
                            <m:t> </m:t>
                          </m:r>
                          <m:r>
                            <a:rPr lang="en-US" sz="1800" b="0" i="1" smtClean="0">
                              <a:latin typeface="Cambria Math" panose="02040503050406030204" pitchFamily="18" charset="0"/>
                            </a:rPr>
                            <m:t>𝑎𝑐𝑡𝑖𝑣𝑎𝑡𝑒𝑑</m:t>
                          </m:r>
                          <m:r>
                            <a:rPr lang="en-US" sz="1800" b="0" i="1" smtClean="0">
                              <a:latin typeface="Cambria Math" panose="02040503050406030204" pitchFamily="18" charset="0"/>
                            </a:rPr>
                            <m:t> </m:t>
                          </m:r>
                          <m:r>
                            <a:rPr lang="en-US" sz="1800" b="0" i="1" smtClean="0">
                              <a:latin typeface="Cambria Math" panose="02040503050406030204" pitchFamily="18" charset="0"/>
                            </a:rPr>
                            <m:t>𝑛𝑒𝑖𝑔𝑏h𝑜𝑟𝑠</m:t>
                          </m:r>
                          <m:r>
                            <a:rPr lang="en-US" sz="1800" b="0" i="1" smtClean="0">
                              <a:latin typeface="Cambria Math" panose="02040503050406030204" pitchFamily="18" charset="0"/>
                            </a:rPr>
                            <m:t> </m:t>
                          </m:r>
                          <m:r>
                            <a:rPr lang="en-US" sz="1800" b="0" i="1" smtClean="0">
                              <a:latin typeface="Cambria Math" panose="02040503050406030204" pitchFamily="18" charset="0"/>
                            </a:rPr>
                            <m:t>𝑜𝑓</m:t>
                          </m:r>
                          <m:r>
                            <a:rPr lang="en-US" sz="1800" b="0" i="1" smtClean="0">
                              <a:latin typeface="Cambria Math" panose="02040503050406030204" pitchFamily="18" charset="0"/>
                            </a:rPr>
                            <m:t> </m:t>
                          </m:r>
                          <m:r>
                            <a:rPr lang="en-US" sz="1800" b="0" i="1" smtClean="0">
                              <a:latin typeface="Cambria Math" panose="02040503050406030204" pitchFamily="18" charset="0"/>
                            </a:rPr>
                            <m:t>𝑛𝑜𝑑𝑒</m:t>
                          </m:r>
                          <m:r>
                            <a:rPr lang="en-US" sz="1800" b="0" i="1" smtClean="0">
                              <a:latin typeface="Cambria Math" panose="02040503050406030204" pitchFamily="18" charset="0"/>
                            </a:rPr>
                            <m:t> </m:t>
                          </m:r>
                          <m:r>
                            <a:rPr lang="en-US" sz="1800" b="0" i="1" smtClean="0">
                              <a:latin typeface="Cambria Math" panose="02040503050406030204" pitchFamily="18" charset="0"/>
                            </a:rPr>
                            <m:t>𝑖</m:t>
                          </m:r>
                          <m:r>
                            <a:rPr lang="en-US" sz="1800" b="0" i="1" smtClean="0">
                              <a:latin typeface="Cambria Math" panose="02040503050406030204" pitchFamily="18" charset="0"/>
                            </a:rPr>
                            <m:t> </m:t>
                          </m:r>
                          <m:r>
                            <a:rPr lang="en-US" sz="1800" b="0" i="1" smtClean="0">
                              <a:latin typeface="Cambria Math" panose="02040503050406030204" pitchFamily="18" charset="0"/>
                            </a:rPr>
                            <m:t>𝑎𝑡</m:t>
                          </m:r>
                          <m:r>
                            <a:rPr lang="en-US" sz="1800" b="0" i="1" smtClean="0">
                              <a:latin typeface="Cambria Math" panose="02040503050406030204" pitchFamily="18" charset="0"/>
                            </a:rPr>
                            <m:t> </m:t>
                          </m:r>
                          <m:r>
                            <a:rPr lang="en-US" sz="1800" b="0" i="1" smtClean="0">
                              <a:latin typeface="Cambria Math" panose="02040503050406030204" pitchFamily="18" charset="0"/>
                            </a:rPr>
                            <m:t>𝑡𝑖𝑚𝑒</m:t>
                          </m:r>
                          <m:r>
                            <a:rPr lang="en-US" sz="1800" b="0" i="1" smtClean="0">
                              <a:latin typeface="Cambria Math" panose="02040503050406030204" pitchFamily="18" charset="0"/>
                            </a:rPr>
                            <m:t> </m:t>
                          </m:r>
                          <m:r>
                            <a:rPr lang="en-US" sz="1800" b="0" i="1" smtClean="0">
                              <a:latin typeface="Cambria Math" panose="02040503050406030204" pitchFamily="18" charset="0"/>
                            </a:rPr>
                            <m:t>𝑡</m:t>
                          </m:r>
                        </m:num>
                        <m:den>
                          <m:r>
                            <a:rPr lang="en-US" sz="1800" b="0" i="1" smtClean="0">
                              <a:latin typeface="Cambria Math" panose="02040503050406030204" pitchFamily="18" charset="0"/>
                            </a:rPr>
                            <m:t>𝑛</m:t>
                          </m:r>
                        </m:den>
                      </m:f>
                    </m:oMath>
                  </m:oMathPara>
                </a14:m>
                <a:endParaRPr lang="en-US" sz="1800" dirty="0"/>
              </a:p>
              <a:p>
                <a:pPr marL="0" indent="0">
                  <a:lnSpc>
                    <a:spcPct val="130000"/>
                  </a:lnSpc>
                  <a:buNone/>
                </a:pPr>
                <a:r>
                  <a:rPr lang="en-US" sz="1800" dirty="0"/>
                  <a:t>    </a:t>
                </a:r>
              </a:p>
              <a:p>
                <a:pPr marL="0" indent="0">
                  <a:lnSpc>
                    <a:spcPct val="130000"/>
                  </a:lnSpc>
                  <a:buNone/>
                </a:pP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𝑝</m:t>
                        </m:r>
                      </m:e>
                      <m:sub>
                        <m:r>
                          <a:rPr lang="en-US" sz="1800" b="0" i="1" smtClean="0">
                            <a:latin typeface="Cambria Math" panose="02040503050406030204" pitchFamily="18" charset="0"/>
                          </a:rPr>
                          <m:t>𝑖</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oMath>
                </a14:m>
                <a:r>
                  <a:rPr lang="en-US" sz="1800" dirty="0"/>
                  <a:t> is the chance for node </a:t>
                </a:r>
                <a:r>
                  <a:rPr lang="en-US" sz="1800" i="1" dirty="0">
                    <a:latin typeface="Times New Roman" panose="02020603050405020304" pitchFamily="18" charset="0"/>
                    <a:cs typeface="Times New Roman" panose="02020603050405020304" pitchFamily="18" charset="0"/>
                  </a:rPr>
                  <a:t>i</a:t>
                </a:r>
                <a:r>
                  <a:rPr lang="en-US" sz="1800" dirty="0"/>
                  <a:t> to adopt the behavior at time step </a:t>
                </a:r>
                <a:r>
                  <a:rPr lang="en-US" sz="1800" i="1" dirty="0">
                    <a:latin typeface="Times New Roman" panose="02020603050405020304" pitchFamily="18" charset="0"/>
                    <a:cs typeface="Times New Roman" panose="02020603050405020304" pitchFamily="18" charset="0"/>
                  </a:rPr>
                  <a:t>t</a:t>
                </a:r>
                <a:r>
                  <a:rPr lang="en-US" sz="1800" dirty="0"/>
                  <a:t>: </a:t>
                </a:r>
              </a:p>
              <a:p>
                <a:pPr marL="0" indent="0">
                  <a:lnSpc>
                    <a:spcPct val="130000"/>
                  </a:lnSpc>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𝑝</m:t>
                          </m:r>
                        </m:e>
                        <m:sub>
                          <m:r>
                            <a:rPr lang="en-US" sz="1800" b="0" i="1" smtClean="0">
                              <a:latin typeface="Cambria Math" panose="02040503050406030204" pitchFamily="18" charset="0"/>
                            </a:rPr>
                            <m:t>𝑖</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=1</m:t>
                      </m:r>
                      <m:r>
                        <a:rPr lang="en-US" sz="1800" i="1">
                          <a:latin typeface="Cambria Math" panose="02040503050406030204" pitchFamily="18" charset="0"/>
                          <a:ea typeface="DengXian" panose="02010600030101010101" pitchFamily="2" charset="-122"/>
                          <a:cs typeface="Times New Roman" panose="02020603050405020304" pitchFamily="18" charset="0"/>
                        </a:rPr>
                        <m:t>|</m:t>
                      </m:r>
                      <m:r>
                        <a:rPr lang="en-US" sz="1800" b="0" i="1" smtClean="0">
                          <a:latin typeface="Cambria Math" panose="02040503050406030204" pitchFamily="18" charset="0"/>
                          <a:ea typeface="DengXian" panose="02010600030101010101" pitchFamily="2" charset="-122"/>
                          <a:cs typeface="Times New Roman" panose="020206030504050203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𝑖</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i="1">
                          <a:latin typeface="Cambria Math" panose="02040503050406030204" pitchFamily="18" charset="0"/>
                          <a:ea typeface="Cambria Math" panose="02040503050406030204" pitchFamily="18" charset="0"/>
                        </a:rPr>
                        <m:t>≥</m:t>
                      </m:r>
                      <m:sSub>
                        <m:sSubPr>
                          <m:ctrlPr>
                            <a:rPr lang="en-US" sz="1800" i="1" smtClean="0">
                              <a:latin typeface="Cambria Math" panose="02040503050406030204" pitchFamily="18" charset="0"/>
                              <a:ea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𝜃</m:t>
                          </m:r>
                        </m:e>
                        <m:sub>
                          <m:r>
                            <a:rPr lang="en-US" sz="1800" b="0" i="1" smtClean="0">
                              <a:latin typeface="Cambria Math" panose="02040503050406030204" pitchFamily="18" charset="0"/>
                              <a:ea typeface="Cambria Math" panose="02040503050406030204" pitchFamily="18" charset="0"/>
                            </a:rPr>
                            <m:t>𝑖</m:t>
                          </m:r>
                        </m:sub>
                      </m:sSub>
                    </m:oMath>
                  </m:oMathPara>
                </a14:m>
                <a:endParaRPr lang="en-US" sz="1800" dirty="0"/>
              </a:p>
              <a:p>
                <a:pPr marL="0" indent="0">
                  <a:lnSpc>
                    <a:spcPct val="130000"/>
                  </a:lnSpc>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𝑝</m:t>
                          </m:r>
                        </m:e>
                        <m:sub>
                          <m:r>
                            <a:rPr lang="en-US" sz="1800" b="0" i="1" smtClean="0">
                              <a:latin typeface="Cambria Math" panose="02040503050406030204" pitchFamily="18" charset="0"/>
                            </a:rPr>
                            <m:t>𝑖</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=0</m:t>
                      </m:r>
                      <m:r>
                        <a:rPr lang="en-US" sz="1800" i="1">
                          <a:latin typeface="Cambria Math" panose="02040503050406030204" pitchFamily="18" charset="0"/>
                          <a:ea typeface="DengXian" panose="02010600030101010101" pitchFamily="2" charset="-122"/>
                          <a:cs typeface="Times New Roman" panose="02020603050405020304" pitchFamily="18" charset="0"/>
                        </a:rPr>
                        <m:t>|</m:t>
                      </m:r>
                      <m:r>
                        <a:rPr lang="en-US" sz="1800" b="0" i="1" smtClean="0">
                          <a:latin typeface="Cambria Math" panose="02040503050406030204" pitchFamily="18" charset="0"/>
                          <a:ea typeface="DengXian" panose="02010600030101010101" pitchFamily="2" charset="-122"/>
                          <a:cs typeface="Times New Roman" panose="020206030504050203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𝑖</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i="1" smtClean="0">
                          <a:latin typeface="Cambria Math" panose="02040503050406030204" pitchFamily="18" charset="0"/>
                          <a:ea typeface="Cambria Math" panose="02040503050406030204" pitchFamily="18" charset="0"/>
                        </a:rPr>
                        <m:t>&lt;</m:t>
                      </m:r>
                      <m:sSub>
                        <m:sSubPr>
                          <m:ctrlPr>
                            <a:rPr lang="en-US" sz="1800" i="1" smtClean="0">
                              <a:latin typeface="Cambria Math" panose="02040503050406030204" pitchFamily="18" charset="0"/>
                              <a:ea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𝜃</m:t>
                          </m:r>
                        </m:e>
                        <m:sub>
                          <m:r>
                            <a:rPr lang="en-US" sz="1800" b="0" i="1" smtClean="0">
                              <a:latin typeface="Cambria Math" panose="02040503050406030204" pitchFamily="18" charset="0"/>
                              <a:ea typeface="Cambria Math" panose="02040503050406030204" pitchFamily="18" charset="0"/>
                            </a:rPr>
                            <m:t>𝑖</m:t>
                          </m:r>
                        </m:sub>
                      </m:sSub>
                    </m:oMath>
                  </m:oMathPara>
                </a14:m>
                <a:endParaRPr lang="nl-NL" sz="1800" dirty="0"/>
              </a:p>
              <a:p>
                <a:pPr>
                  <a:lnSpc>
                    <a:spcPct val="130000"/>
                  </a:lnSpc>
                </a:pPr>
                <a:endParaRPr lang="nl-NL" sz="1800" dirty="0"/>
              </a:p>
              <a:p>
                <a:pPr>
                  <a:lnSpc>
                    <a:spcPct val="130000"/>
                  </a:lnSpc>
                </a:pPr>
                <a:r>
                  <a:rPr lang="nl-NL" sz="1800" dirty="0"/>
                  <a:t>Stop when all the nodes are activated or the number of </a:t>
                </a:r>
                <a:r>
                  <a:rPr lang="nl-NL" sz="1800" dirty="0" err="1"/>
                  <a:t>activated</a:t>
                </a:r>
                <a:r>
                  <a:rPr lang="nl-NL" sz="1800" dirty="0"/>
                  <a:t> </a:t>
                </a:r>
                <a:r>
                  <a:rPr lang="nl-NL" sz="1800" dirty="0" err="1"/>
                  <a:t>nodes</a:t>
                </a:r>
                <a:r>
                  <a:rPr lang="nl-NL" sz="1800" dirty="0"/>
                  <a:t> is saturated.</a:t>
                </a:r>
                <a:endParaRPr lang="en-US" sz="1800" dirty="0"/>
              </a:p>
            </p:txBody>
          </p:sp>
        </mc:Choice>
        <mc:Fallback xmlns="">
          <p:sp>
            <p:nvSpPr>
              <p:cNvPr id="3" name="Content Placeholder 2">
                <a:extLst>
                  <a:ext uri="{FF2B5EF4-FFF2-40B4-BE49-F238E27FC236}">
                    <a16:creationId xmlns:a16="http://schemas.microsoft.com/office/drawing/2014/main" id="{A0ECD7DF-620A-4B5E-90B0-B326326B2A85}"/>
                  </a:ext>
                </a:extLst>
              </p:cNvPr>
              <p:cNvSpPr>
                <a:spLocks noGrp="1" noRot="1" noChangeAspect="1" noMove="1" noResize="1" noEditPoints="1" noAdjustHandles="1" noChangeArrowheads="1" noChangeShapeType="1" noTextEdit="1"/>
              </p:cNvSpPr>
              <p:nvPr>
                <p:ph idx="1"/>
              </p:nvPr>
            </p:nvSpPr>
            <p:spPr>
              <a:xfrm>
                <a:off x="305034" y="1262779"/>
                <a:ext cx="11756367" cy="5342601"/>
              </a:xfrm>
              <a:blipFill>
                <a:blip r:embed="rId2"/>
                <a:stretch>
                  <a:fillRect l="-311"/>
                </a:stretch>
              </a:blipFill>
            </p:spPr>
            <p:txBody>
              <a:bodyPr/>
              <a:lstStyle/>
              <a:p>
                <a:r>
                  <a:rPr lang="nl-NL">
                    <a:noFill/>
                  </a:rPr>
                  <a:t> </a:t>
                </a:r>
              </a:p>
            </p:txBody>
          </p:sp>
        </mc:Fallback>
      </mc:AlternateContent>
      <p:sp>
        <p:nvSpPr>
          <p:cNvPr id="4" name="Title 1">
            <a:extLst>
              <a:ext uri="{FF2B5EF4-FFF2-40B4-BE49-F238E27FC236}">
                <a16:creationId xmlns:a16="http://schemas.microsoft.com/office/drawing/2014/main" id="{EDA9199C-4784-48C5-81C3-E466D6F3239A}"/>
              </a:ext>
            </a:extLst>
          </p:cNvPr>
          <p:cNvSpPr txBox="1">
            <a:spLocks/>
          </p:cNvSpPr>
          <p:nvPr/>
        </p:nvSpPr>
        <p:spPr>
          <a:xfrm>
            <a:off x="130599" y="252619"/>
            <a:ext cx="11930802" cy="775325"/>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0070C0"/>
                </a:solidFill>
              </a:rPr>
              <a:t>Formalization of a threshold model</a:t>
            </a:r>
            <a:endParaRPr lang="nl-NL" sz="3600" b="1" dirty="0">
              <a:solidFill>
                <a:srgbClr val="0070C0"/>
              </a:solidFill>
            </a:endParaRPr>
          </a:p>
        </p:txBody>
      </p:sp>
      <p:sp>
        <p:nvSpPr>
          <p:cNvPr id="5" name="Rectangle 4">
            <a:extLst>
              <a:ext uri="{FF2B5EF4-FFF2-40B4-BE49-F238E27FC236}">
                <a16:creationId xmlns:a16="http://schemas.microsoft.com/office/drawing/2014/main" id="{C6652E67-58B3-4B0D-A5E9-4DDB88CE1D6B}"/>
              </a:ext>
            </a:extLst>
          </p:cNvPr>
          <p:cNvSpPr/>
          <p:nvPr/>
        </p:nvSpPr>
        <p:spPr>
          <a:xfrm>
            <a:off x="0" y="202759"/>
            <a:ext cx="139744" cy="8251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a:extLst>
              <a:ext uri="{FF2B5EF4-FFF2-40B4-BE49-F238E27FC236}">
                <a16:creationId xmlns:a16="http://schemas.microsoft.com/office/drawing/2014/main" id="{7FDAB03E-9BE3-4428-B5BC-3F0F26D8EB1F}"/>
              </a:ext>
            </a:extLst>
          </p:cNvPr>
          <p:cNvPicPr>
            <a:picLocks noChangeAspect="1"/>
          </p:cNvPicPr>
          <p:nvPr/>
        </p:nvPicPr>
        <p:blipFill rotWithShape="1">
          <a:blip r:embed="rId3"/>
          <a:srcRect l="9073" b="25401"/>
          <a:stretch/>
        </p:blipFill>
        <p:spPr>
          <a:xfrm>
            <a:off x="7951012" y="3990109"/>
            <a:ext cx="3935954" cy="1818409"/>
          </a:xfrm>
          <a:prstGeom prst="rect">
            <a:avLst/>
          </a:prstGeom>
        </p:spPr>
      </p:pic>
    </p:spTree>
    <p:extLst>
      <p:ext uri="{BB962C8B-B14F-4D97-AF65-F5344CB8AC3E}">
        <p14:creationId xmlns:p14="http://schemas.microsoft.com/office/powerpoint/2010/main" val="4000510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p:cNvSpPr>
            <a:spLocks noGrp="1"/>
          </p:cNvSpPr>
          <p:nvPr>
            <p:ph type="title"/>
          </p:nvPr>
        </p:nvSpPr>
        <p:spPr>
          <a:xfrm>
            <a:off x="630936" y="639520"/>
            <a:ext cx="3429000" cy="1719072"/>
          </a:xfrm>
        </p:spPr>
        <p:txBody>
          <a:bodyPr vert="horz" lIns="91440" tIns="45720" rIns="91440" bIns="45720" rtlCol="0" anchor="b">
            <a:normAutofit/>
          </a:bodyPr>
          <a:lstStyle/>
          <a:p>
            <a:r>
              <a:rPr lang="en-US" sz="3800" b="1" kern="1200" dirty="0">
                <a:solidFill>
                  <a:schemeClr val="tx1"/>
                </a:solidFill>
                <a:latin typeface="+mj-lt"/>
                <a:ea typeface="+mj-ea"/>
                <a:cs typeface="+mj-cs"/>
              </a:rPr>
              <a:t>Today’s </a:t>
            </a:r>
            <a:r>
              <a:rPr lang="en-US" sz="3800" b="1" kern="1200" dirty="0" err="1">
                <a:solidFill>
                  <a:schemeClr val="tx1"/>
                </a:solidFill>
                <a:latin typeface="+mj-lt"/>
                <a:ea typeface="+mj-ea"/>
                <a:cs typeface="+mj-cs"/>
              </a:rPr>
              <a:t>programe</a:t>
            </a:r>
            <a:endParaRPr lang="en-US" sz="3800" b="1" kern="1200" dirty="0">
              <a:solidFill>
                <a:schemeClr val="tx1"/>
              </a:solidFill>
              <a:latin typeface="+mj-lt"/>
              <a:ea typeface="+mj-ea"/>
              <a:cs typeface="+mj-cs"/>
            </a:endParaRP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内容占位符 2">
            <a:extLst>
              <a:ext uri="{FF2B5EF4-FFF2-40B4-BE49-F238E27FC236}">
                <a16:creationId xmlns:a16="http://schemas.microsoft.com/office/drawing/2014/main" id="{AB6D431C-6C24-41DA-8089-88EE2487A0FA}"/>
              </a:ext>
            </a:extLst>
          </p:cNvPr>
          <p:cNvSpPr txBox="1">
            <a:spLocks/>
          </p:cNvSpPr>
          <p:nvPr/>
        </p:nvSpPr>
        <p:spPr>
          <a:xfrm>
            <a:off x="3963737" y="166359"/>
            <a:ext cx="8196197"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200"/>
              </a:spcBef>
              <a:spcAft>
                <a:spcPts val="60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Simple contagion</a:t>
            </a:r>
          </a:p>
          <a:p>
            <a:pPr marL="0" marR="0" lvl="0" indent="0" algn="l" defTabSz="914400" rtl="0" eaLnBrk="1" fontAlgn="auto" latinLnBrk="0" hangingPunct="1">
              <a:lnSpc>
                <a:spcPct val="90000"/>
              </a:lnSpc>
              <a:spcBef>
                <a:spcPts val="1200"/>
              </a:spcBef>
              <a:spcAft>
                <a:spcPts val="600"/>
              </a:spcAft>
              <a:buClrTx/>
              <a:buSzTx/>
              <a:buFont typeface="Arial" panose="020B0604020202020204" pitchFamily="34" charset="0"/>
              <a:buNone/>
              <a:tabLst/>
              <a:defRPr/>
            </a:pPr>
            <a:r>
              <a:rPr kumimoji="0" lang="en-GB" sz="26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    Mechanism and the strength of ‘weak ties’</a:t>
            </a:r>
            <a:endParaRPr kumimoji="0" lang="en-GB" sz="2600" b="1"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200"/>
              </a:spcBef>
              <a:spcAft>
                <a:spcPts val="60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Diffusion model for simple contagion</a:t>
            </a:r>
          </a:p>
          <a:p>
            <a:pPr marL="0" marR="0" lvl="0" indent="0" algn="l" defTabSz="914400" rtl="0" eaLnBrk="1" fontAlgn="auto" latinLnBrk="0" hangingPunct="1">
              <a:lnSpc>
                <a:spcPct val="90000"/>
              </a:lnSpc>
              <a:spcBef>
                <a:spcPts val="1200"/>
              </a:spcBef>
              <a:spcAft>
                <a:spcPts val="600"/>
              </a:spcAft>
              <a:buClrTx/>
              <a:buSzTx/>
              <a:buFont typeface="Arial" panose="020B0604020202020204" pitchFamily="34" charset="0"/>
              <a:buNone/>
              <a:tabLst/>
              <a:defRPr/>
            </a:pPr>
            <a:r>
              <a:rPr kumimoji="0" lang="en-GB" sz="2600" b="1"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    </a:t>
            </a:r>
            <a:r>
              <a:rPr kumimoji="0" lang="en-GB" sz="26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Independent cascade model and other variants</a:t>
            </a:r>
          </a:p>
          <a:p>
            <a:pPr marL="228600" marR="0" lvl="0" indent="-228600" algn="l" defTabSz="914400" rtl="0" eaLnBrk="1" fontAlgn="auto" latinLnBrk="0" hangingPunct="1">
              <a:lnSpc>
                <a:spcPct val="90000"/>
              </a:lnSpc>
              <a:spcBef>
                <a:spcPts val="1200"/>
              </a:spcBef>
              <a:spcAft>
                <a:spcPts val="600"/>
              </a:spcAft>
              <a:buClrTx/>
              <a:buSzTx/>
              <a:buFont typeface="Arial" panose="020B0604020202020204" pitchFamily="34" charset="0"/>
              <a:buChar char="•"/>
              <a:tabLst/>
              <a:defRPr/>
            </a:pPr>
            <a:r>
              <a:rPr kumimoji="0" lang="en-US" sz="2600" b="1"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Complex contagion</a:t>
            </a:r>
          </a:p>
          <a:p>
            <a:pPr marL="0" marR="0" lvl="0"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     </a:t>
            </a:r>
            <a:r>
              <a:rPr kumimoji="0" lang="en-GB" sz="26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Mechanism and the strength of ‘strong ties’</a:t>
            </a:r>
          </a:p>
          <a:p>
            <a:pPr marL="228600" marR="0" lvl="0" indent="-228600" algn="l" defTabSz="914400" rtl="0" eaLnBrk="1" fontAlgn="auto" latinLnBrk="0" hangingPunct="1">
              <a:lnSpc>
                <a:spcPct val="90000"/>
              </a:lnSpc>
              <a:spcBef>
                <a:spcPts val="1200"/>
              </a:spcBef>
              <a:spcAft>
                <a:spcPts val="600"/>
              </a:spcAft>
              <a:buClrTx/>
              <a:buSzTx/>
              <a:buFont typeface="Arial" panose="020B0604020202020204" pitchFamily="34" charset="0"/>
              <a:buChar char="•"/>
              <a:tabLst/>
              <a:defRPr/>
            </a:pPr>
            <a:r>
              <a:rPr kumimoji="0" lang="nl-NL" sz="2600" b="1" i="0" u="none" strike="noStrike" kern="1200" cap="none" spc="0" normalizeH="0" baseline="0" noProof="0" dirty="0" err="1">
                <a:ln>
                  <a:noFill/>
                </a:ln>
                <a:solidFill>
                  <a:schemeClr val="tx1">
                    <a:lumMod val="95000"/>
                    <a:lumOff val="5000"/>
                  </a:schemeClr>
                </a:solidFill>
                <a:effectLst/>
                <a:uLnTx/>
                <a:uFillTx/>
                <a:latin typeface="Calibri" panose="020F0502020204030204"/>
                <a:ea typeface="+mn-ea"/>
                <a:cs typeface="+mn-cs"/>
              </a:rPr>
              <a:t>Diffusion</a:t>
            </a:r>
            <a:r>
              <a:rPr kumimoji="0" lang="nl-NL" sz="2600" b="1"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rPr>
              <a:t> model </a:t>
            </a:r>
            <a:r>
              <a:rPr kumimoji="0" lang="nl-NL" sz="2600" b="1" i="0" u="none" strike="noStrike" kern="1200" cap="none" spc="0" normalizeH="0" baseline="0" noProof="0" dirty="0" err="1">
                <a:ln>
                  <a:noFill/>
                </a:ln>
                <a:solidFill>
                  <a:schemeClr val="tx1">
                    <a:lumMod val="95000"/>
                    <a:lumOff val="5000"/>
                  </a:schemeClr>
                </a:solidFill>
                <a:effectLst/>
                <a:uLnTx/>
                <a:uFillTx/>
                <a:latin typeface="Calibri" panose="020F0502020204030204"/>
                <a:ea typeface="+mn-ea"/>
                <a:cs typeface="+mn-cs"/>
              </a:rPr>
              <a:t>for</a:t>
            </a:r>
            <a:r>
              <a:rPr kumimoji="0" lang="nl-NL" sz="2600" b="1"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rPr>
              <a:t> complex </a:t>
            </a:r>
            <a:r>
              <a:rPr kumimoji="0" lang="nl-NL" sz="2600" b="1" i="0" u="none" strike="noStrike" kern="1200" cap="none" spc="0" normalizeH="0" baseline="0" noProof="0" dirty="0" err="1">
                <a:ln>
                  <a:noFill/>
                </a:ln>
                <a:solidFill>
                  <a:schemeClr val="tx1">
                    <a:lumMod val="95000"/>
                    <a:lumOff val="5000"/>
                  </a:schemeClr>
                </a:solidFill>
                <a:effectLst/>
                <a:uLnTx/>
                <a:uFillTx/>
                <a:latin typeface="Calibri" panose="020F0502020204030204"/>
                <a:ea typeface="+mn-ea"/>
                <a:cs typeface="+mn-cs"/>
              </a:rPr>
              <a:t>contagion</a:t>
            </a:r>
            <a:endParaRPr kumimoji="0" lang="en-GB" sz="2600" b="1"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r>
              <a:rPr kumimoji="0" lang="en-US" sz="26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rPr>
              <a:t>     Threshold model and </a:t>
            </a:r>
            <a:r>
              <a:rPr kumimoji="0" lang="en-US" sz="26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seeding</a:t>
            </a:r>
          </a:p>
        </p:txBody>
      </p:sp>
      <p:sp>
        <p:nvSpPr>
          <p:cNvPr id="4" name="Thought Bubble: Cloud 3">
            <a:extLst>
              <a:ext uri="{FF2B5EF4-FFF2-40B4-BE49-F238E27FC236}">
                <a16:creationId xmlns:a16="http://schemas.microsoft.com/office/drawing/2014/main" id="{513D7112-26C7-4BC8-81D4-92D188D571C3}"/>
              </a:ext>
            </a:extLst>
          </p:cNvPr>
          <p:cNvSpPr/>
          <p:nvPr/>
        </p:nvSpPr>
        <p:spPr>
          <a:xfrm>
            <a:off x="4489721" y="4684056"/>
            <a:ext cx="6264869" cy="995466"/>
          </a:xfrm>
          <a:prstGeom prst="cloudCallout">
            <a:avLst>
              <a:gd name="adj1" fmla="val 1490"/>
              <a:gd name="adj2" fmla="val -8545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spcAft>
                <a:spcPts val="600"/>
              </a:spcAft>
            </a:pPr>
            <a:r>
              <a:rPr lang="en-US" sz="1800" b="1" dirty="0">
                <a:solidFill>
                  <a:srgbClr val="B42926"/>
                </a:solidFill>
              </a:rPr>
              <a:t>What </a:t>
            </a:r>
            <a:r>
              <a:rPr lang="en-US" b="1" dirty="0">
                <a:solidFill>
                  <a:srgbClr val="B42926"/>
                </a:solidFill>
              </a:rPr>
              <a:t>kind of </a:t>
            </a:r>
            <a:r>
              <a:rPr lang="en-US" sz="1800" b="1" dirty="0">
                <a:solidFill>
                  <a:srgbClr val="B42926"/>
                </a:solidFill>
              </a:rPr>
              <a:t>insights can you get from the model?</a:t>
            </a:r>
          </a:p>
        </p:txBody>
      </p:sp>
    </p:spTree>
    <p:extLst>
      <p:ext uri="{BB962C8B-B14F-4D97-AF65-F5344CB8AC3E}">
        <p14:creationId xmlns:p14="http://schemas.microsoft.com/office/powerpoint/2010/main" val="145131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268C57-3E17-4C57-A2AE-DDBEA7B5E16A}"/>
              </a:ext>
            </a:extLst>
          </p:cNvPr>
          <p:cNvPicPr>
            <a:picLocks noChangeAspect="1"/>
          </p:cNvPicPr>
          <p:nvPr/>
        </p:nvPicPr>
        <p:blipFill>
          <a:blip r:embed="rId3"/>
          <a:stretch>
            <a:fillRect/>
          </a:stretch>
        </p:blipFill>
        <p:spPr>
          <a:xfrm>
            <a:off x="5981282" y="2750244"/>
            <a:ext cx="5859047" cy="3660511"/>
          </a:xfrm>
          <a:prstGeom prst="rect">
            <a:avLst/>
          </a:prstGeom>
        </p:spPr>
      </p:pic>
      <p:sp>
        <p:nvSpPr>
          <p:cNvPr id="5" name="矩形 3">
            <a:extLst>
              <a:ext uri="{FF2B5EF4-FFF2-40B4-BE49-F238E27FC236}">
                <a16:creationId xmlns:a16="http://schemas.microsoft.com/office/drawing/2014/main" id="{6E2006DD-3760-4EF7-9450-A9D3C23F24B6}"/>
              </a:ext>
            </a:extLst>
          </p:cNvPr>
          <p:cNvSpPr/>
          <p:nvPr/>
        </p:nvSpPr>
        <p:spPr>
          <a:xfrm>
            <a:off x="345879" y="203831"/>
            <a:ext cx="10692910" cy="903250"/>
          </a:xfrm>
          <a:prstGeom prst="rect">
            <a:avLst/>
          </a:prstGeom>
        </p:spPr>
        <p:txBody>
          <a:bodyPr vert="horz" lIns="91440" tIns="45720" rIns="91440" bIns="45720" rtlCol="0">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Influencer marketing industry: around $16.4bn in 2022</a:t>
            </a:r>
          </a:p>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Almost half of marketers spent more than 20% of their budget on influencer posts</a:t>
            </a:r>
          </a:p>
        </p:txBody>
      </p:sp>
      <p:sp>
        <p:nvSpPr>
          <p:cNvPr id="6" name="矩形 3">
            <a:extLst>
              <a:ext uri="{FF2B5EF4-FFF2-40B4-BE49-F238E27FC236}">
                <a16:creationId xmlns:a16="http://schemas.microsoft.com/office/drawing/2014/main" id="{6E2006DD-3760-4EF7-9450-A9D3C23F24B6}"/>
              </a:ext>
            </a:extLst>
          </p:cNvPr>
          <p:cNvSpPr/>
          <p:nvPr/>
        </p:nvSpPr>
        <p:spPr>
          <a:xfrm>
            <a:off x="345879" y="4455756"/>
            <a:ext cx="5036827" cy="2372809"/>
          </a:xfrm>
          <a:prstGeom prst="rect">
            <a:avLst/>
          </a:prstGeom>
        </p:spPr>
        <p:txBody>
          <a:bodyPr vert="horz" lIns="91440" tIns="45720" rIns="91440" bIns="45720" rtlCol="0">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2400" b="0" i="0" u="none" strike="noStrike" kern="1200" cap="none" spc="0" normalizeH="0" baseline="0" noProof="0" dirty="0">
              <a:ln>
                <a:noFill/>
              </a:ln>
              <a:solidFill>
                <a:srgbClr val="FFFF00"/>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Calibri" panose="020F0502020204030204"/>
                <a:ea typeface="+mn-ea"/>
                <a:cs typeface="+mn-cs"/>
              </a:rPr>
              <a:t>A</a:t>
            </a:r>
            <a:r>
              <a:rPr kumimoji="0" lang="en-US" altLang="zh-CN" sz="24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rPr>
              <a:t>re the ones with most followers always the best brand ambassadors?</a:t>
            </a:r>
            <a:endParaRPr kumimoji="0" lang="en-US" sz="2400" b="0" i="0" u="none" strike="noStrike" kern="1200" cap="none" spc="0" normalizeH="0" baseline="0" noProof="0" dirty="0">
              <a:ln>
                <a:noFill/>
              </a:ln>
              <a:solidFill>
                <a:srgbClr val="FFFF00"/>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4210560E-114C-471B-816E-E01E71267F45}"/>
              </a:ext>
            </a:extLst>
          </p:cNvPr>
          <p:cNvPicPr>
            <a:picLocks noChangeAspect="1"/>
          </p:cNvPicPr>
          <p:nvPr/>
        </p:nvPicPr>
        <p:blipFill>
          <a:blip r:embed="rId4"/>
          <a:stretch>
            <a:fillRect/>
          </a:stretch>
        </p:blipFill>
        <p:spPr>
          <a:xfrm>
            <a:off x="39107" y="1278943"/>
            <a:ext cx="5859047" cy="2942602"/>
          </a:xfrm>
          <a:prstGeom prst="rect">
            <a:avLst/>
          </a:prstGeom>
        </p:spPr>
      </p:pic>
    </p:spTree>
    <p:extLst>
      <p:ext uri="{BB962C8B-B14F-4D97-AF65-F5344CB8AC3E}">
        <p14:creationId xmlns:p14="http://schemas.microsoft.com/office/powerpoint/2010/main" val="757958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a:xfrm>
            <a:off x="260491" y="1119417"/>
            <a:ext cx="1021653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chemeClr val="tx1">
                    <a:lumMod val="95000"/>
                    <a:lumOff val="5000"/>
                  </a:schemeClr>
                </a:solidFill>
              </a:rPr>
              <a:t>Seeding: To find out </a:t>
            </a:r>
            <a:r>
              <a:rPr lang="en-US" sz="3200" b="1" u="sng" dirty="0">
                <a:solidFill>
                  <a:schemeClr val="tx1">
                    <a:lumMod val="95000"/>
                    <a:lumOff val="5000"/>
                  </a:schemeClr>
                </a:solidFill>
              </a:rPr>
              <a:t>a small set of influential nodes</a:t>
            </a:r>
            <a:r>
              <a:rPr lang="en-US" sz="3200" b="1" dirty="0">
                <a:solidFill>
                  <a:schemeClr val="tx1">
                    <a:lumMod val="95000"/>
                    <a:lumOff val="5000"/>
                  </a:schemeClr>
                </a:solidFill>
              </a:rPr>
              <a:t> for activation/immunization</a:t>
            </a:r>
            <a:endParaRPr lang="en-GB" sz="3200" b="1" dirty="0">
              <a:solidFill>
                <a:schemeClr val="tx1">
                  <a:lumMod val="95000"/>
                  <a:lumOff val="5000"/>
                </a:schemeClr>
              </a:solidFill>
            </a:endParaRPr>
          </a:p>
        </p:txBody>
      </p:sp>
      <p:sp>
        <p:nvSpPr>
          <p:cNvPr id="7" name="标题 1"/>
          <p:cNvSpPr txBox="1">
            <a:spLocks/>
          </p:cNvSpPr>
          <p:nvPr/>
        </p:nvSpPr>
        <p:spPr>
          <a:xfrm>
            <a:off x="539232" y="259098"/>
            <a:ext cx="10983277" cy="6347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GB" sz="3600" b="1" dirty="0">
                <a:solidFill>
                  <a:schemeClr val="bg1"/>
                </a:solidFill>
              </a:rPr>
              <a:t>Let’s try to find out:</a:t>
            </a:r>
          </a:p>
        </p:txBody>
      </p:sp>
      <p:pic>
        <p:nvPicPr>
          <p:cNvPr id="9" name="Picture 2">
            <a:extLst>
              <a:ext uri="{FF2B5EF4-FFF2-40B4-BE49-F238E27FC236}">
                <a16:creationId xmlns:a16="http://schemas.microsoft.com/office/drawing/2014/main" id="{BF29AE6E-8997-457F-B5E6-F808BA46E1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6682" y="2285059"/>
            <a:ext cx="3095523" cy="17718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a:extLst>
              <a:ext uri="{FF2B5EF4-FFF2-40B4-BE49-F238E27FC236}">
                <a16:creationId xmlns:a16="http://schemas.microsoft.com/office/drawing/2014/main" id="{D2C8C840-3C87-4427-91EE-057C11441A00}"/>
              </a:ext>
            </a:extLst>
          </p:cNvPr>
          <p:cNvSpPr txBox="1"/>
          <p:nvPr/>
        </p:nvSpPr>
        <p:spPr>
          <a:xfrm>
            <a:off x="5928999" y="3353035"/>
            <a:ext cx="2947488" cy="1200329"/>
          </a:xfrm>
          <a:prstGeom prst="rect">
            <a:avLst/>
          </a:prstGeom>
          <a:ln w="38100">
            <a:prstDash val="sysDash"/>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2400" dirty="0"/>
              <a:t>“Influencers”</a:t>
            </a:r>
          </a:p>
          <a:p>
            <a:pPr algn="ctr"/>
            <a:r>
              <a:rPr lang="en-GB" sz="2400" dirty="0"/>
              <a:t>“Super spreaders”</a:t>
            </a:r>
          </a:p>
          <a:p>
            <a:pPr algn="ctr"/>
            <a:r>
              <a:rPr lang="en-GB" sz="2400" dirty="0"/>
              <a:t>“Brand ambassadors”</a:t>
            </a:r>
          </a:p>
        </p:txBody>
      </p:sp>
      <p:cxnSp>
        <p:nvCxnSpPr>
          <p:cNvPr id="13" name="曲线连接符 9">
            <a:extLst>
              <a:ext uri="{FF2B5EF4-FFF2-40B4-BE49-F238E27FC236}">
                <a16:creationId xmlns:a16="http://schemas.microsoft.com/office/drawing/2014/main" id="{C3F16C9F-592E-47DC-B318-DB0363B4AA7B}"/>
              </a:ext>
            </a:extLst>
          </p:cNvPr>
          <p:cNvCxnSpPr>
            <a:cxnSpLocks/>
            <a:endCxn id="10" idx="1"/>
          </p:cNvCxnSpPr>
          <p:nvPr/>
        </p:nvCxnSpPr>
        <p:spPr>
          <a:xfrm rot="16200000" flipH="1">
            <a:off x="4543033" y="2567233"/>
            <a:ext cx="1459837" cy="1312095"/>
          </a:xfrm>
          <a:prstGeom prst="curvedConnector2">
            <a:avLst/>
          </a:prstGeom>
          <a:ln w="19050">
            <a:tailEnd type="arrow"/>
          </a:ln>
        </p:spPr>
        <p:style>
          <a:lnRef idx="1">
            <a:schemeClr val="accent5"/>
          </a:lnRef>
          <a:fillRef idx="0">
            <a:schemeClr val="accent5"/>
          </a:fillRef>
          <a:effectRef idx="0">
            <a:schemeClr val="accent5"/>
          </a:effectRef>
          <a:fontRef idx="minor">
            <a:schemeClr val="tx1"/>
          </a:fontRef>
        </p:style>
      </p:cxnSp>
      <p:cxnSp>
        <p:nvCxnSpPr>
          <p:cNvPr id="14" name="曲线连接符 14">
            <a:extLst>
              <a:ext uri="{FF2B5EF4-FFF2-40B4-BE49-F238E27FC236}">
                <a16:creationId xmlns:a16="http://schemas.microsoft.com/office/drawing/2014/main" id="{E309275C-5859-4425-BB67-DC70D6D34482}"/>
              </a:ext>
            </a:extLst>
          </p:cNvPr>
          <p:cNvCxnSpPr>
            <a:cxnSpLocks/>
            <a:endCxn id="10" idx="0"/>
          </p:cNvCxnSpPr>
          <p:nvPr/>
        </p:nvCxnSpPr>
        <p:spPr>
          <a:xfrm rot="10800000" flipV="1">
            <a:off x="7402743" y="2670575"/>
            <a:ext cx="1473744" cy="682460"/>
          </a:xfrm>
          <a:prstGeom prst="curvedConnector2">
            <a:avLst/>
          </a:prstGeom>
          <a:ln w="19050">
            <a:tailEnd type="arrow"/>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124107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DA9199C-4784-48C5-81C3-E466D6F3239A}"/>
              </a:ext>
            </a:extLst>
          </p:cNvPr>
          <p:cNvSpPr txBox="1">
            <a:spLocks/>
          </p:cNvSpPr>
          <p:nvPr/>
        </p:nvSpPr>
        <p:spPr>
          <a:xfrm>
            <a:off x="130599" y="224338"/>
            <a:ext cx="11930802" cy="1010573"/>
          </a:xfrm>
          <a:prstGeom prst="rect">
            <a:avLst/>
          </a:prstGeom>
          <a:solidFill>
            <a:schemeClr val="bg1"/>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0070C0"/>
                </a:solidFill>
              </a:rPr>
              <a:t>Finding out this set of influential nodes is an influence maximization problem (IMP)</a:t>
            </a:r>
            <a:endParaRPr lang="nl-NL" sz="3600" b="1" dirty="0">
              <a:solidFill>
                <a:srgbClr val="0070C0"/>
              </a:solidFill>
            </a:endParaRPr>
          </a:p>
        </p:txBody>
      </p:sp>
      <p:sp>
        <p:nvSpPr>
          <p:cNvPr id="5" name="Rectangle 4">
            <a:extLst>
              <a:ext uri="{FF2B5EF4-FFF2-40B4-BE49-F238E27FC236}">
                <a16:creationId xmlns:a16="http://schemas.microsoft.com/office/drawing/2014/main" id="{C6652E67-58B3-4B0D-A5E9-4DDB88CE1D6B}"/>
              </a:ext>
            </a:extLst>
          </p:cNvPr>
          <p:cNvSpPr/>
          <p:nvPr/>
        </p:nvSpPr>
        <p:spPr>
          <a:xfrm>
            <a:off x="0" y="202759"/>
            <a:ext cx="130599" cy="10604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a:extLst>
              <a:ext uri="{FF2B5EF4-FFF2-40B4-BE49-F238E27FC236}">
                <a16:creationId xmlns:a16="http://schemas.microsoft.com/office/drawing/2014/main" id="{EE804B72-EC87-47F6-B75C-2C94DA736BAA}"/>
              </a:ext>
            </a:extLst>
          </p:cNvPr>
          <p:cNvSpPr>
            <a:spLocks noGrp="1"/>
          </p:cNvSpPr>
          <p:nvPr>
            <p:ph idx="1"/>
          </p:nvPr>
        </p:nvSpPr>
        <p:spPr>
          <a:xfrm>
            <a:off x="613758" y="1448762"/>
            <a:ext cx="10515600" cy="2236182"/>
          </a:xfrm>
          <a:solidFill>
            <a:schemeClr val="accent1">
              <a:lumMod val="20000"/>
              <a:lumOff val="80000"/>
            </a:schemeClr>
          </a:solidFill>
        </p:spPr>
        <p:txBody>
          <a:bodyPr>
            <a:normAutofit/>
          </a:bodyPr>
          <a:lstStyle/>
          <a:p>
            <a:pPr>
              <a:spcAft>
                <a:spcPts val="600"/>
              </a:spcAft>
            </a:pPr>
            <a:r>
              <a:rPr lang="en-US" sz="2600" dirty="0"/>
              <a:t>Given a network </a:t>
            </a:r>
            <a:r>
              <a:rPr lang="en-US" sz="2600" b="1" i="1" dirty="0">
                <a:latin typeface="Times New Roman" panose="02020603050405020304" pitchFamily="18" charset="0"/>
                <a:cs typeface="Times New Roman" panose="02020603050405020304" pitchFamily="18" charset="0"/>
              </a:rPr>
              <a:t>G(V, E) </a:t>
            </a:r>
            <a:r>
              <a:rPr lang="en-US" sz="2600" dirty="0"/>
              <a:t>with </a:t>
            </a:r>
            <a:r>
              <a:rPr lang="en-US" sz="2600" b="1" i="1" dirty="0">
                <a:latin typeface="Times New Roman" panose="02020603050405020304" pitchFamily="18" charset="0"/>
                <a:cs typeface="Times New Roman" panose="02020603050405020304" pitchFamily="18" charset="0"/>
              </a:rPr>
              <a:t>V</a:t>
            </a:r>
            <a:r>
              <a:rPr lang="en-US" sz="2600" dirty="0"/>
              <a:t> and </a:t>
            </a:r>
            <a:r>
              <a:rPr lang="en-US" sz="2600" b="1" i="1" dirty="0">
                <a:latin typeface="Times New Roman" panose="02020603050405020304" pitchFamily="18" charset="0"/>
                <a:cs typeface="Times New Roman" panose="02020603050405020304" pitchFamily="18" charset="0"/>
              </a:rPr>
              <a:t>E</a:t>
            </a:r>
            <a:r>
              <a:rPr lang="en-US" sz="2600" dirty="0"/>
              <a:t> respectively being the set of nodes and the set of links, there exists a function </a:t>
            </a:r>
            <a:r>
              <a:rPr lang="en-US" sz="2600" b="1" i="1" dirty="0">
                <a:latin typeface="Times New Roman" panose="02020603050405020304" pitchFamily="18" charset="0"/>
                <a:cs typeface="Times New Roman" panose="02020603050405020304" pitchFamily="18" charset="0"/>
              </a:rPr>
              <a:t>f</a:t>
            </a:r>
            <a:r>
              <a:rPr lang="en-US" sz="2600" i="1" dirty="0">
                <a:latin typeface="Times New Roman" panose="02020603050405020304" pitchFamily="18" charset="0"/>
                <a:cs typeface="Times New Roman" panose="02020603050405020304" pitchFamily="18" charset="0"/>
              </a:rPr>
              <a:t>(</a:t>
            </a:r>
            <a:r>
              <a:rPr lang="en-US" sz="2600" b="1" i="1" dirty="0">
                <a:latin typeface="Times New Roman" panose="02020603050405020304" pitchFamily="18" charset="0"/>
                <a:cs typeface="Times New Roman" panose="02020603050405020304" pitchFamily="18" charset="0"/>
              </a:rPr>
              <a:t>S</a:t>
            </a:r>
            <a:r>
              <a:rPr lang="en-US" sz="2600" i="1" dirty="0">
                <a:latin typeface="Times New Roman" panose="02020603050405020304" pitchFamily="18" charset="0"/>
                <a:cs typeface="Times New Roman" panose="02020603050405020304" pitchFamily="18" charset="0"/>
              </a:rPr>
              <a:t>)</a:t>
            </a:r>
            <a:r>
              <a:rPr lang="en-US" sz="2600" dirty="0"/>
              <a:t> from a subset </a:t>
            </a:r>
            <a:r>
              <a:rPr lang="en-US" sz="2600" b="1" i="1" dirty="0">
                <a:latin typeface="Times New Roman" panose="02020603050405020304" pitchFamily="18" charset="0"/>
                <a:cs typeface="Times New Roman" panose="02020603050405020304" pitchFamily="18" charset="0"/>
              </a:rPr>
              <a:t>S </a:t>
            </a:r>
            <a:r>
              <a:rPr lang="en-US" sz="2600" i="1" dirty="0">
                <a:latin typeface="Times New Roman" panose="02020603050405020304" pitchFamily="18" charset="0"/>
                <a:cs typeface="Times New Roman" panose="02020603050405020304" pitchFamily="18" charset="0"/>
              </a:rPr>
              <a:t>⊆</a:t>
            </a:r>
            <a:r>
              <a:rPr lang="en-US" sz="2600" b="1" i="1" dirty="0">
                <a:latin typeface="Times New Roman" panose="02020603050405020304" pitchFamily="18" charset="0"/>
                <a:cs typeface="Times New Roman" panose="02020603050405020304" pitchFamily="18" charset="0"/>
              </a:rPr>
              <a:t> V </a:t>
            </a:r>
            <a:r>
              <a:rPr lang="en-US" sz="2600" dirty="0"/>
              <a:t>to a real number</a:t>
            </a:r>
          </a:p>
          <a:p>
            <a:pPr>
              <a:spcAft>
                <a:spcPts val="600"/>
              </a:spcAft>
            </a:pPr>
            <a:r>
              <a:rPr lang="en-US" sz="2600" dirty="0"/>
              <a:t>Influence maximization problem (IMP)</a:t>
            </a:r>
            <a:r>
              <a:rPr lang="nl-NL" sz="2600" dirty="0"/>
              <a:t>:</a:t>
            </a:r>
            <a:r>
              <a:rPr lang="en-US" sz="2600" dirty="0"/>
              <a:t> To find a set </a:t>
            </a:r>
            <a:r>
              <a:rPr lang="en-US" sz="2600" b="1" i="1" dirty="0">
                <a:latin typeface="Times New Roman" panose="02020603050405020304" pitchFamily="18" charset="0"/>
                <a:cs typeface="Times New Roman" panose="02020603050405020304" pitchFamily="18" charset="0"/>
              </a:rPr>
              <a:t>S </a:t>
            </a:r>
            <a:r>
              <a:rPr lang="en-US" sz="2600" dirty="0"/>
              <a:t>of a given size </a:t>
            </a:r>
            <a:r>
              <a:rPr lang="en-US" sz="2600" i="1" dirty="0">
                <a:latin typeface="Times New Roman" panose="02020603050405020304" pitchFamily="18" charset="0"/>
                <a:cs typeface="Times New Roman" panose="02020603050405020304" pitchFamily="18" charset="0"/>
              </a:rPr>
              <a:t>k</a:t>
            </a:r>
            <a:r>
              <a:rPr lang="en-US" sz="2600" dirty="0"/>
              <a:t> (usually, </a:t>
            </a:r>
            <a:r>
              <a:rPr lang="en-US" sz="2600" i="1" dirty="0">
                <a:latin typeface="Times New Roman" panose="02020603050405020304" pitchFamily="18" charset="0"/>
                <a:cs typeface="Times New Roman" panose="02020603050405020304" pitchFamily="18" charset="0"/>
              </a:rPr>
              <a:t>k ≪ n = |</a:t>
            </a:r>
            <a:r>
              <a:rPr lang="en-US" sz="2600" b="1" i="1" dirty="0">
                <a:latin typeface="Times New Roman" panose="02020603050405020304" pitchFamily="18" charset="0"/>
                <a:cs typeface="Times New Roman" panose="02020603050405020304" pitchFamily="18" charset="0"/>
              </a:rPr>
              <a:t>V</a:t>
            </a:r>
            <a:r>
              <a:rPr lang="en-US" sz="2600" i="1" dirty="0">
                <a:latin typeface="Times New Roman" panose="02020603050405020304" pitchFamily="18" charset="0"/>
                <a:cs typeface="Times New Roman" panose="02020603050405020304" pitchFamily="18" charset="0"/>
              </a:rPr>
              <a:t>|</a:t>
            </a:r>
            <a:r>
              <a:rPr lang="en-US" sz="2600" dirty="0"/>
              <a:t>) that maximizes/minimizes </a:t>
            </a:r>
            <a:r>
              <a:rPr lang="en-US" sz="2600" b="1" i="1" dirty="0">
                <a:latin typeface="Times New Roman" panose="02020603050405020304" pitchFamily="18" charset="0"/>
                <a:cs typeface="Times New Roman" panose="02020603050405020304" pitchFamily="18" charset="0"/>
              </a:rPr>
              <a:t>f</a:t>
            </a:r>
            <a:r>
              <a:rPr lang="en-US" sz="2600" i="1" dirty="0">
                <a:latin typeface="Times New Roman" panose="02020603050405020304" pitchFamily="18" charset="0"/>
                <a:cs typeface="Times New Roman" panose="02020603050405020304" pitchFamily="18" charset="0"/>
              </a:rPr>
              <a:t>(</a:t>
            </a:r>
            <a:r>
              <a:rPr lang="en-US" sz="2600" b="1" i="1" dirty="0">
                <a:latin typeface="Times New Roman" panose="02020603050405020304" pitchFamily="18" charset="0"/>
                <a:cs typeface="Times New Roman" panose="02020603050405020304" pitchFamily="18" charset="0"/>
              </a:rPr>
              <a:t>S</a:t>
            </a:r>
            <a:r>
              <a:rPr lang="en-US" sz="2600" i="1" dirty="0">
                <a:latin typeface="Times New Roman" panose="02020603050405020304" pitchFamily="18" charset="0"/>
                <a:cs typeface="Times New Roman" panose="02020603050405020304" pitchFamily="18" charset="0"/>
              </a:rPr>
              <a:t>)</a:t>
            </a:r>
            <a:r>
              <a:rPr lang="en-US" sz="2600" dirty="0"/>
              <a:t>. </a:t>
            </a:r>
          </a:p>
        </p:txBody>
      </p:sp>
      <p:sp>
        <p:nvSpPr>
          <p:cNvPr id="6" name="TextBox 5">
            <a:extLst>
              <a:ext uri="{FF2B5EF4-FFF2-40B4-BE49-F238E27FC236}">
                <a16:creationId xmlns:a16="http://schemas.microsoft.com/office/drawing/2014/main" id="{E9D85635-A96B-49FE-9553-E945E82937FF}"/>
              </a:ext>
            </a:extLst>
          </p:cNvPr>
          <p:cNvSpPr txBox="1"/>
          <p:nvPr/>
        </p:nvSpPr>
        <p:spPr>
          <a:xfrm>
            <a:off x="668079" y="3898796"/>
            <a:ext cx="10406959" cy="1308050"/>
          </a:xfrm>
          <a:prstGeom prst="rect">
            <a:avLst/>
          </a:prstGeom>
          <a:noFill/>
        </p:spPr>
        <p:txBody>
          <a:bodyPr wrap="square">
            <a:spAutoFit/>
          </a:bodyPr>
          <a:lstStyle/>
          <a:p>
            <a:pPr>
              <a:spcAft>
                <a:spcPts val="600"/>
              </a:spcAft>
            </a:pPr>
            <a:r>
              <a:rPr lang="en-US" sz="2400" b="1" dirty="0">
                <a:solidFill>
                  <a:srgbClr val="B42926"/>
                </a:solidFill>
              </a:rPr>
              <a:t>Example of </a:t>
            </a:r>
            <a:r>
              <a:rPr lang="en-US" sz="2400" b="1" i="1" dirty="0">
                <a:solidFill>
                  <a:srgbClr val="B42926"/>
                </a:solidFill>
                <a:latin typeface="Times New Roman" panose="02020603050405020304" pitchFamily="18" charset="0"/>
                <a:cs typeface="Times New Roman" panose="02020603050405020304" pitchFamily="18" charset="0"/>
              </a:rPr>
              <a:t>f(S)</a:t>
            </a:r>
            <a:r>
              <a:rPr lang="en-US" sz="2400" b="1" dirty="0">
                <a:solidFill>
                  <a:srgbClr val="B42926"/>
                </a:solidFill>
              </a:rPr>
              <a:t>:</a:t>
            </a:r>
            <a:endParaRPr lang="en-GB" dirty="0">
              <a:solidFill>
                <a:schemeClr val="tx1">
                  <a:lumMod val="95000"/>
                  <a:lumOff val="5000"/>
                </a:schemeClr>
              </a:solidFill>
            </a:endParaRPr>
          </a:p>
          <a:p>
            <a:pPr marL="0" indent="0">
              <a:lnSpc>
                <a:spcPct val="100000"/>
              </a:lnSpc>
              <a:spcBef>
                <a:spcPts val="1200"/>
              </a:spcBef>
              <a:spcAft>
                <a:spcPts val="600"/>
              </a:spcAft>
              <a:buNone/>
            </a:pPr>
            <a:r>
              <a:rPr lang="en-GB" sz="2000" dirty="0">
                <a:solidFill>
                  <a:schemeClr val="tx1">
                    <a:lumMod val="95000"/>
                    <a:lumOff val="5000"/>
                  </a:schemeClr>
                </a:solidFill>
              </a:rPr>
              <a:t>With limited marketing budget, to find a small group of customers to offer discounts to eventually maximize total sales</a:t>
            </a:r>
            <a:r>
              <a:rPr lang="en-GB" sz="2000" dirty="0">
                <a:solidFill>
                  <a:schemeClr val="tx1">
                    <a:lumMod val="95000"/>
                    <a:lumOff val="5000"/>
                  </a:schemeClr>
                </a:solidFill>
                <a:sym typeface="Wingdings" panose="05000000000000000000" pitchFamily="2" charset="2"/>
              </a:rPr>
              <a:t></a:t>
            </a:r>
            <a:r>
              <a:rPr lang="en-GB" sz="2000" dirty="0">
                <a:solidFill>
                  <a:schemeClr val="tx1">
                    <a:lumMod val="95000"/>
                    <a:lumOff val="5000"/>
                  </a:schemeClr>
                </a:solidFill>
              </a:rPr>
              <a:t> </a:t>
            </a:r>
            <a:r>
              <a:rPr lang="en-GB" sz="2000" i="1" dirty="0">
                <a:solidFill>
                  <a:schemeClr val="tx1">
                    <a:lumMod val="95000"/>
                    <a:lumOff val="5000"/>
                  </a:schemeClr>
                </a:solidFill>
                <a:latin typeface="Times New Roman" panose="02020603050405020304" pitchFamily="18" charset="0"/>
                <a:cs typeface="Times New Roman" panose="02020603050405020304" pitchFamily="18" charset="0"/>
              </a:rPr>
              <a:t>f(S)</a:t>
            </a:r>
            <a:r>
              <a:rPr lang="en-GB" sz="2000" dirty="0">
                <a:solidFill>
                  <a:schemeClr val="tx1">
                    <a:lumMod val="95000"/>
                    <a:lumOff val="5000"/>
                  </a:schemeClr>
                </a:solidFill>
              </a:rPr>
              <a:t>: the number of people who use the product</a:t>
            </a:r>
          </a:p>
        </p:txBody>
      </p:sp>
    </p:spTree>
    <p:extLst>
      <p:ext uri="{BB962C8B-B14F-4D97-AF65-F5344CB8AC3E}">
        <p14:creationId xmlns:p14="http://schemas.microsoft.com/office/powerpoint/2010/main" val="3223322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p:cNvSpPr/>
              <p:nvPr/>
            </p:nvSpPr>
            <p:spPr>
              <a:xfrm>
                <a:off x="241017" y="2553053"/>
                <a:ext cx="10586310" cy="2416302"/>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sz="2400" dirty="0">
                    <a:solidFill>
                      <a:schemeClr val="tx1">
                        <a:lumMod val="85000"/>
                        <a:lumOff val="15000"/>
                      </a:schemeClr>
                    </a:solidFill>
                  </a:rPr>
                  <a:t>The</a:t>
                </a:r>
                <a:r>
                  <a:rPr lang="zh-CN" altLang="en-US" sz="2400" dirty="0">
                    <a:solidFill>
                      <a:schemeClr val="tx1">
                        <a:lumMod val="85000"/>
                        <a:lumOff val="15000"/>
                      </a:schemeClr>
                    </a:solidFill>
                  </a:rPr>
                  <a:t> </a:t>
                </a:r>
                <a:r>
                  <a:rPr lang="en-US" altLang="zh-CN" sz="2400" dirty="0">
                    <a:solidFill>
                      <a:schemeClr val="tx1">
                        <a:lumMod val="85000"/>
                        <a:lumOff val="15000"/>
                      </a:schemeClr>
                    </a:solidFill>
                  </a:rPr>
                  <a:t>number</a:t>
                </a:r>
                <a:r>
                  <a:rPr lang="zh-CN" altLang="en-US" sz="2400" dirty="0">
                    <a:solidFill>
                      <a:schemeClr val="tx1">
                        <a:lumMod val="85000"/>
                        <a:lumOff val="15000"/>
                      </a:schemeClr>
                    </a:solidFill>
                  </a:rPr>
                  <a:t> </a:t>
                </a:r>
                <a:r>
                  <a:rPr lang="en-US" altLang="zh-CN" sz="2400" dirty="0">
                    <a:solidFill>
                      <a:schemeClr val="tx1">
                        <a:lumMod val="85000"/>
                        <a:lumOff val="15000"/>
                      </a:schemeClr>
                    </a:solidFill>
                  </a:rPr>
                  <a:t>of</a:t>
                </a:r>
                <a:r>
                  <a:rPr lang="zh-CN" altLang="en-US" sz="2400" dirty="0">
                    <a:solidFill>
                      <a:schemeClr val="tx1">
                        <a:lumMod val="85000"/>
                        <a:lumOff val="15000"/>
                      </a:schemeClr>
                    </a:solidFill>
                  </a:rPr>
                  <a:t> </a:t>
                </a:r>
                <a:r>
                  <a:rPr lang="en-US" sz="2400" dirty="0">
                    <a:solidFill>
                      <a:schemeClr val="tx1">
                        <a:lumMod val="85000"/>
                        <a:lumOff val="15000"/>
                      </a:schemeClr>
                    </a:solidFill>
                  </a:rPr>
                  <a:t>possible combinations is </a:t>
                </a:r>
                <a14:m>
                  <m:oMath xmlns:m="http://schemas.openxmlformats.org/officeDocument/2006/math">
                    <m:r>
                      <a:rPr lang="en-US" sz="2400" b="0" i="0" smtClean="0">
                        <a:solidFill>
                          <a:schemeClr val="tx1">
                            <a:lumMod val="85000"/>
                            <a:lumOff val="15000"/>
                          </a:schemeClr>
                        </a:solidFill>
                        <a:latin typeface="Cambria Math" panose="02040503050406030204" pitchFamily="18" charset="0"/>
                      </a:rPr>
                      <m:t> </m:t>
                    </m:r>
                    <m:d>
                      <m:dPr>
                        <m:ctrlPr>
                          <a:rPr lang="en-US" sz="2400" i="1" smtClean="0">
                            <a:solidFill>
                              <a:schemeClr val="tx1">
                                <a:lumMod val="85000"/>
                                <a:lumOff val="15000"/>
                              </a:schemeClr>
                            </a:solidFill>
                            <a:latin typeface="Cambria Math" panose="02040503050406030204" pitchFamily="18" charset="0"/>
                          </a:rPr>
                        </m:ctrlPr>
                      </m:dPr>
                      <m:e>
                        <m:m>
                          <m:mPr>
                            <m:mcs>
                              <m:mc>
                                <m:mcPr>
                                  <m:count m:val="1"/>
                                  <m:mcJc m:val="center"/>
                                </m:mcPr>
                              </m:mc>
                            </m:mcs>
                            <m:ctrlPr>
                              <a:rPr lang="en-US" sz="2400" i="1" smtClean="0">
                                <a:solidFill>
                                  <a:schemeClr val="tx1">
                                    <a:lumMod val="85000"/>
                                    <a:lumOff val="15000"/>
                                  </a:schemeClr>
                                </a:solidFill>
                                <a:latin typeface="Cambria Math" panose="02040503050406030204" pitchFamily="18" charset="0"/>
                              </a:rPr>
                            </m:ctrlPr>
                          </m:mPr>
                          <m:mr>
                            <m:e>
                              <m:r>
                                <m:rPr>
                                  <m:brk m:alnAt="7"/>
                                </m:rPr>
                                <a:rPr lang="en-US" sz="2400" b="0" i="1" smtClean="0">
                                  <a:solidFill>
                                    <a:schemeClr val="tx1">
                                      <a:lumMod val="85000"/>
                                      <a:lumOff val="15000"/>
                                    </a:schemeClr>
                                  </a:solidFill>
                                  <a:latin typeface="Cambria Math"/>
                                </a:rPr>
                                <m:t>6</m:t>
                              </m:r>
                              <m:r>
                                <a:rPr lang="en-US" sz="2400" b="0" i="1" smtClean="0">
                                  <a:solidFill>
                                    <a:schemeClr val="tx1">
                                      <a:lumMod val="85000"/>
                                      <a:lumOff val="15000"/>
                                    </a:schemeClr>
                                  </a:solidFill>
                                  <a:latin typeface="Cambria Math"/>
                                </a:rPr>
                                <m:t>0</m:t>
                              </m:r>
                            </m:e>
                          </m:mr>
                          <m:mr>
                            <m:e>
                              <m:r>
                                <a:rPr lang="en-US" sz="2400" b="0" i="1" smtClean="0">
                                  <a:solidFill>
                                    <a:schemeClr val="tx1">
                                      <a:lumMod val="85000"/>
                                      <a:lumOff val="15000"/>
                                    </a:schemeClr>
                                  </a:solidFill>
                                  <a:latin typeface="Cambria Math"/>
                                </a:rPr>
                                <m:t>5</m:t>
                              </m:r>
                            </m:e>
                          </m:mr>
                        </m:m>
                      </m:e>
                    </m:d>
                    <m:r>
                      <a:rPr lang="en-US" sz="2400" i="1" smtClean="0">
                        <a:solidFill>
                          <a:schemeClr val="tx1">
                            <a:lumMod val="85000"/>
                            <a:lumOff val="15000"/>
                          </a:schemeClr>
                        </a:solidFill>
                        <a:latin typeface="Cambria Math"/>
                      </a:rPr>
                      <m:t>=</m:t>
                    </m:r>
                    <m:r>
                      <a:rPr lang="en-US" sz="2400" b="0" i="1" smtClean="0">
                        <a:solidFill>
                          <a:schemeClr val="tx1">
                            <a:lumMod val="85000"/>
                            <a:lumOff val="15000"/>
                          </a:schemeClr>
                        </a:solidFill>
                        <a:latin typeface="Cambria Math"/>
                      </a:rPr>
                      <m:t>27,307,560</m:t>
                    </m:r>
                  </m:oMath>
                </a14:m>
                <a:r>
                  <a:rPr lang="en-US" sz="2400" dirty="0">
                    <a:solidFill>
                      <a:schemeClr val="tx1">
                        <a:lumMod val="85000"/>
                        <a:lumOff val="15000"/>
                      </a:schemeClr>
                    </a:solidFill>
                  </a:rPr>
                  <a:t>;</a:t>
                </a:r>
              </a:p>
              <a:p>
                <a:pPr marL="285750" indent="-285750">
                  <a:spcBef>
                    <a:spcPts val="600"/>
                  </a:spcBef>
                  <a:spcAft>
                    <a:spcPts val="600"/>
                  </a:spcAft>
                  <a:buFont typeface="Arial" panose="020B0604020202020204" pitchFamily="34" charset="0"/>
                  <a:buChar char="•"/>
                </a:pPr>
                <a:r>
                  <a:rPr lang="en-US" sz="2400" dirty="0">
                    <a:solidFill>
                      <a:schemeClr val="tx1">
                        <a:lumMod val="85000"/>
                        <a:lumOff val="15000"/>
                      </a:schemeClr>
                    </a:solidFill>
                  </a:rPr>
                  <a:t>Run the threshold model for 27 million times to find out which combination has the best outcome. </a:t>
                </a:r>
              </a:p>
              <a:p>
                <a:r>
                  <a:rPr lang="en-US" sz="2400" dirty="0">
                    <a:solidFill>
                      <a:schemeClr val="tx1">
                        <a:lumMod val="85000"/>
                        <a:lumOff val="15000"/>
                      </a:schemeClr>
                    </a:solidFill>
                  </a:rPr>
                  <a:t> </a:t>
                </a:r>
              </a:p>
              <a:p>
                <a:pPr algn="ctr"/>
                <a:endParaRPr lang="en-US" sz="2400" dirty="0">
                  <a:solidFill>
                    <a:schemeClr val="tx1">
                      <a:lumMod val="85000"/>
                      <a:lumOff val="15000"/>
                    </a:schemeClr>
                  </a:solidFill>
                </a:endParaRPr>
              </a:p>
            </p:txBody>
          </p:sp>
        </mc:Choice>
        <mc:Fallback xmlns="">
          <p:sp>
            <p:nvSpPr>
              <p:cNvPr id="5" name="矩形 4"/>
              <p:cNvSpPr>
                <a:spLocks noRot="1" noChangeAspect="1" noMove="1" noResize="1" noEditPoints="1" noAdjustHandles="1" noChangeArrowheads="1" noChangeShapeType="1" noTextEdit="1"/>
              </p:cNvSpPr>
              <p:nvPr/>
            </p:nvSpPr>
            <p:spPr>
              <a:xfrm>
                <a:off x="241017" y="2553053"/>
                <a:ext cx="10586310" cy="2416302"/>
              </a:xfrm>
              <a:prstGeom prst="rect">
                <a:avLst/>
              </a:prstGeom>
              <a:blipFill>
                <a:blip r:embed="rId3"/>
                <a:stretch>
                  <a:fillRect l="-806"/>
                </a:stretch>
              </a:blipFill>
            </p:spPr>
            <p:txBody>
              <a:bodyPr/>
              <a:lstStyle/>
              <a:p>
                <a:r>
                  <a:rPr lang="nl-NL">
                    <a:noFill/>
                  </a:rPr>
                  <a:t> </a:t>
                </a:r>
              </a:p>
            </p:txBody>
          </p:sp>
        </mc:Fallback>
      </mc:AlternateContent>
      <p:sp>
        <p:nvSpPr>
          <p:cNvPr id="7" name="矩形 6"/>
          <p:cNvSpPr/>
          <p:nvPr/>
        </p:nvSpPr>
        <p:spPr>
          <a:xfrm>
            <a:off x="297995" y="259609"/>
            <a:ext cx="11013766" cy="646331"/>
          </a:xfrm>
          <a:prstGeom prst="rect">
            <a:avLst/>
          </a:prstGeom>
          <a:solidFill>
            <a:schemeClr val="bg1"/>
          </a:solidFill>
        </p:spPr>
        <p:txBody>
          <a:bodyPr wrap="square">
            <a:spAutoFit/>
          </a:bodyPr>
          <a:lstStyle/>
          <a:p>
            <a:r>
              <a:rPr lang="en-GB" sz="3600" b="1" dirty="0">
                <a:solidFill>
                  <a:srgbClr val="0070C0"/>
                </a:solidFill>
                <a:latin typeface="+mj-lt"/>
                <a:ea typeface="+mj-ea"/>
                <a:cs typeface="+mj-cs"/>
              </a:rPr>
              <a:t>Obtaining an exact solution of IMP is very challenging</a:t>
            </a:r>
          </a:p>
        </p:txBody>
      </p:sp>
      <p:sp>
        <p:nvSpPr>
          <p:cNvPr id="8" name="矩形 13">
            <a:extLst>
              <a:ext uri="{FF2B5EF4-FFF2-40B4-BE49-F238E27FC236}">
                <a16:creationId xmlns:a16="http://schemas.microsoft.com/office/drawing/2014/main" id="{899FB90F-5B1C-4363-9434-04FE1DFA6EAC}"/>
              </a:ext>
            </a:extLst>
          </p:cNvPr>
          <p:cNvSpPr/>
          <p:nvPr/>
        </p:nvSpPr>
        <p:spPr>
          <a:xfrm>
            <a:off x="241017" y="1345961"/>
            <a:ext cx="11650639" cy="892552"/>
          </a:xfrm>
          <a:prstGeom prst="rect">
            <a:avLst/>
          </a:prstGeom>
          <a:solidFill>
            <a:schemeClr val="accent6">
              <a:lumMod val="20000"/>
              <a:lumOff val="80000"/>
            </a:schemeClr>
          </a:solidFill>
        </p:spPr>
        <p:txBody>
          <a:bodyPr wrap="square">
            <a:spAutoFit/>
          </a:bodyPr>
          <a:lstStyle/>
          <a:p>
            <a:pPr>
              <a:spcBef>
                <a:spcPts val="600"/>
              </a:spcBef>
              <a:spcAft>
                <a:spcPts val="600"/>
              </a:spcAft>
            </a:pPr>
            <a:r>
              <a:rPr lang="en-GB" sz="2600" i="1" dirty="0"/>
              <a:t>f(S)</a:t>
            </a:r>
            <a:r>
              <a:rPr lang="en-GB" sz="2600" dirty="0"/>
              <a:t>: For a network of 60 people, to find out </a:t>
            </a:r>
            <a:r>
              <a:rPr lang="en-GB" sz="2600" i="1" dirty="0">
                <a:latin typeface="Times New Roman" panose="02020603050405020304" pitchFamily="18" charset="0"/>
                <a:cs typeface="Times New Roman" panose="02020603050405020304" pitchFamily="18" charset="0"/>
              </a:rPr>
              <a:t>5</a:t>
            </a:r>
            <a:r>
              <a:rPr lang="en-GB" sz="2600" dirty="0"/>
              <a:t> people as the “seeds” to maximize the diffusion</a:t>
            </a:r>
          </a:p>
        </p:txBody>
      </p:sp>
      <p:sp>
        <p:nvSpPr>
          <p:cNvPr id="9" name="Rectangle 8">
            <a:extLst>
              <a:ext uri="{FF2B5EF4-FFF2-40B4-BE49-F238E27FC236}">
                <a16:creationId xmlns:a16="http://schemas.microsoft.com/office/drawing/2014/main" id="{ED81DA3B-CFB5-4808-9A11-4CCE17746AC0}"/>
              </a:ext>
            </a:extLst>
          </p:cNvPr>
          <p:cNvSpPr/>
          <p:nvPr/>
        </p:nvSpPr>
        <p:spPr>
          <a:xfrm>
            <a:off x="0" y="152273"/>
            <a:ext cx="131618" cy="9768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6836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2C9B3DB-2884-44AB-9513-79F2980BFBF0}"/>
              </a:ext>
            </a:extLst>
          </p:cNvPr>
          <p:cNvSpPr>
            <a:spLocks noGrp="1"/>
          </p:cNvSpPr>
          <p:nvPr>
            <p:ph type="title"/>
          </p:nvPr>
        </p:nvSpPr>
        <p:spPr>
          <a:xfrm>
            <a:off x="172570" y="266746"/>
            <a:ext cx="11679993" cy="832937"/>
          </a:xfrm>
        </p:spPr>
        <p:txBody>
          <a:bodyPr>
            <a:normAutofit fontScale="90000"/>
          </a:bodyPr>
          <a:lstStyle/>
          <a:p>
            <a:r>
              <a:rPr lang="nl-NL" sz="4000" b="1" dirty="0">
                <a:solidFill>
                  <a:srgbClr val="0070C0"/>
                </a:solidFill>
              </a:rPr>
              <a:t>Using </a:t>
            </a:r>
            <a:r>
              <a:rPr lang="nl-NL" sz="4000" b="1" dirty="0" err="1">
                <a:solidFill>
                  <a:srgbClr val="0070C0"/>
                </a:solidFill>
              </a:rPr>
              <a:t>centrality</a:t>
            </a:r>
            <a:r>
              <a:rPr lang="nl-NL" sz="4000" b="1" dirty="0">
                <a:solidFill>
                  <a:srgbClr val="0070C0"/>
                </a:solidFill>
              </a:rPr>
              <a:t> heuristics </a:t>
            </a:r>
            <a:r>
              <a:rPr lang="nl-NL" sz="4000" b="1" dirty="0" err="1">
                <a:solidFill>
                  <a:srgbClr val="0070C0"/>
                </a:solidFill>
              </a:rPr>
              <a:t>to</a:t>
            </a:r>
            <a:r>
              <a:rPr lang="nl-NL" sz="4000" b="1" dirty="0">
                <a:solidFill>
                  <a:srgbClr val="0070C0"/>
                </a:solidFill>
              </a:rPr>
              <a:t> </a:t>
            </a:r>
            <a:r>
              <a:rPr lang="nl-NL" sz="4000" b="1" dirty="0" err="1">
                <a:solidFill>
                  <a:srgbClr val="0070C0"/>
                </a:solidFill>
              </a:rPr>
              <a:t>approximate</a:t>
            </a:r>
            <a:r>
              <a:rPr lang="nl-NL" sz="4000" b="1" dirty="0">
                <a:solidFill>
                  <a:srgbClr val="0070C0"/>
                </a:solidFill>
              </a:rPr>
              <a:t> </a:t>
            </a:r>
            <a:r>
              <a:rPr lang="nl-NL" sz="4000" b="1" dirty="0" err="1">
                <a:solidFill>
                  <a:srgbClr val="0070C0"/>
                </a:solidFill>
              </a:rPr>
              <a:t>the</a:t>
            </a:r>
            <a:r>
              <a:rPr lang="nl-NL" sz="4000" b="1" dirty="0">
                <a:solidFill>
                  <a:srgbClr val="0070C0"/>
                </a:solidFill>
              </a:rPr>
              <a:t> exact solution</a:t>
            </a:r>
          </a:p>
        </p:txBody>
      </p:sp>
      <p:grpSp>
        <p:nvGrpSpPr>
          <p:cNvPr id="2" name="Group 1">
            <a:extLst>
              <a:ext uri="{FF2B5EF4-FFF2-40B4-BE49-F238E27FC236}">
                <a16:creationId xmlns:a16="http://schemas.microsoft.com/office/drawing/2014/main" id="{D56F6452-DE91-4DF8-B876-1CD963333F91}"/>
              </a:ext>
            </a:extLst>
          </p:cNvPr>
          <p:cNvGrpSpPr/>
          <p:nvPr/>
        </p:nvGrpSpPr>
        <p:grpSpPr>
          <a:xfrm>
            <a:off x="6427869" y="1787015"/>
            <a:ext cx="5072837" cy="3319828"/>
            <a:chOff x="2387026" y="202032"/>
            <a:chExt cx="5072837" cy="3319828"/>
          </a:xfrm>
        </p:grpSpPr>
        <p:sp>
          <p:nvSpPr>
            <p:cNvPr id="6" name="Content Placeholder 3">
              <a:extLst>
                <a:ext uri="{FF2B5EF4-FFF2-40B4-BE49-F238E27FC236}">
                  <a16:creationId xmlns:a16="http://schemas.microsoft.com/office/drawing/2014/main" id="{0A46F743-118E-40FD-881B-34FB98B2E861}"/>
                </a:ext>
              </a:extLst>
            </p:cNvPr>
            <p:cNvSpPr txBox="1">
              <a:spLocks/>
            </p:cNvSpPr>
            <p:nvPr/>
          </p:nvSpPr>
          <p:spPr>
            <a:xfrm>
              <a:off x="3116537" y="711369"/>
              <a:ext cx="4343326" cy="281049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000" dirty="0">
                  <a:solidFill>
                    <a:srgbClr val="0070C0"/>
                  </a:solidFill>
                </a:rPr>
                <a:t>Degree centrality; Local Rank </a:t>
              </a:r>
              <a:r>
                <a:rPr lang="en-GB" sz="2000" dirty="0">
                  <a:solidFill>
                    <a:schemeClr val="tx1">
                      <a:lumMod val="65000"/>
                      <a:lumOff val="35000"/>
                    </a:schemeClr>
                  </a:solidFill>
                </a:rPr>
                <a:t>(Neighbourhood-based)</a:t>
              </a:r>
            </a:p>
            <a:p>
              <a:pPr marL="0" indent="0">
                <a:buNone/>
              </a:pPr>
              <a:r>
                <a:rPr lang="en-GB" sz="2000" dirty="0">
                  <a:solidFill>
                    <a:srgbClr val="0070C0"/>
                  </a:solidFill>
                </a:rPr>
                <a:t>Closeness centrality; Betweenness centrality  </a:t>
              </a:r>
              <a:r>
                <a:rPr lang="en-GB" sz="2000" dirty="0">
                  <a:solidFill>
                    <a:schemeClr val="tx1">
                      <a:lumMod val="65000"/>
                      <a:lumOff val="35000"/>
                    </a:schemeClr>
                  </a:solidFill>
                </a:rPr>
                <a:t>(Path-based)</a:t>
              </a:r>
            </a:p>
            <a:p>
              <a:pPr marL="0" indent="0">
                <a:buNone/>
              </a:pPr>
              <a:r>
                <a:rPr lang="en-GB" sz="2000" dirty="0">
                  <a:solidFill>
                    <a:srgbClr val="0070C0"/>
                  </a:solidFill>
                </a:rPr>
                <a:t>Eigenvector centrality  </a:t>
              </a:r>
              <a:r>
                <a:rPr lang="en-GB" sz="2000" dirty="0">
                  <a:solidFill>
                    <a:schemeClr val="tx1">
                      <a:lumMod val="65000"/>
                      <a:lumOff val="35000"/>
                    </a:schemeClr>
                  </a:solidFill>
                </a:rPr>
                <a:t>(Position-based)</a:t>
              </a:r>
            </a:p>
            <a:p>
              <a:pPr lvl="1">
                <a:lnSpc>
                  <a:spcPct val="110000"/>
                </a:lnSpc>
              </a:pPr>
              <a:endParaRPr lang="en-US" sz="2000" dirty="0"/>
            </a:p>
          </p:txBody>
        </p:sp>
        <p:sp>
          <p:nvSpPr>
            <p:cNvPr id="7" name="右大括号 5">
              <a:extLst>
                <a:ext uri="{FF2B5EF4-FFF2-40B4-BE49-F238E27FC236}">
                  <a16:creationId xmlns:a16="http://schemas.microsoft.com/office/drawing/2014/main" id="{0A043F1F-ABAD-483C-9681-3398D01E292A}"/>
                </a:ext>
              </a:extLst>
            </p:cNvPr>
            <p:cNvSpPr/>
            <p:nvPr/>
          </p:nvSpPr>
          <p:spPr>
            <a:xfrm>
              <a:off x="2387026" y="402087"/>
              <a:ext cx="396459" cy="2897897"/>
            </a:xfrm>
            <a:prstGeom prst="rightBrace">
              <a:avLst>
                <a:gd name="adj1" fmla="val 154987"/>
                <a:gd name="adj2" fmla="val 50000"/>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TextBox 7">
              <a:extLst>
                <a:ext uri="{FF2B5EF4-FFF2-40B4-BE49-F238E27FC236}">
                  <a16:creationId xmlns:a16="http://schemas.microsoft.com/office/drawing/2014/main" id="{18167BAA-FEC4-4A11-97A0-5C38F3635471}"/>
                </a:ext>
              </a:extLst>
            </p:cNvPr>
            <p:cNvSpPr txBox="1"/>
            <p:nvPr/>
          </p:nvSpPr>
          <p:spPr>
            <a:xfrm>
              <a:off x="2909120" y="202032"/>
              <a:ext cx="4343326" cy="400110"/>
            </a:xfrm>
            <a:prstGeom prst="rect">
              <a:avLst/>
            </a:prstGeom>
            <a:noFill/>
          </p:spPr>
          <p:txBody>
            <a:bodyPr wrap="square" rtlCol="0">
              <a:spAutoFit/>
            </a:bodyPr>
            <a:lstStyle/>
            <a:p>
              <a:r>
                <a:rPr lang="en-US" sz="2000" dirty="0">
                  <a:solidFill>
                    <a:schemeClr val="accent2">
                      <a:lumMod val="75000"/>
                    </a:schemeClr>
                  </a:solidFill>
                </a:rPr>
                <a:t>Top-</a:t>
              </a:r>
              <a:r>
                <a:rPr lang="en-US" sz="2000" i="1" dirty="0">
                  <a:solidFill>
                    <a:schemeClr val="accent2">
                      <a:lumMod val="75000"/>
                    </a:schemeClr>
                  </a:solidFill>
                  <a:latin typeface="Times New Roman" panose="02020603050405020304" pitchFamily="18" charset="0"/>
                  <a:cs typeface="Times New Roman" panose="02020603050405020304" pitchFamily="18" charset="0"/>
                </a:rPr>
                <a:t>k</a:t>
              </a:r>
              <a:r>
                <a:rPr lang="en-US" sz="2000" dirty="0">
                  <a:solidFill>
                    <a:schemeClr val="accent2">
                      <a:lumMod val="75000"/>
                    </a:schemeClr>
                  </a:solidFill>
                </a:rPr>
                <a:t> nodes from different measures: </a:t>
              </a:r>
              <a:endParaRPr lang="en-GB" sz="2000" dirty="0">
                <a:solidFill>
                  <a:schemeClr val="accent2">
                    <a:lumMod val="75000"/>
                  </a:schemeClr>
                </a:solidFill>
              </a:endParaRPr>
            </a:p>
          </p:txBody>
        </p:sp>
      </p:grpSp>
      <p:sp>
        <p:nvSpPr>
          <p:cNvPr id="9" name="Rectangle 8">
            <a:extLst>
              <a:ext uri="{FF2B5EF4-FFF2-40B4-BE49-F238E27FC236}">
                <a16:creationId xmlns:a16="http://schemas.microsoft.com/office/drawing/2014/main" id="{AAC20613-39FC-4244-A6DE-5AEB497878E2}"/>
              </a:ext>
            </a:extLst>
          </p:cNvPr>
          <p:cNvSpPr/>
          <p:nvPr/>
        </p:nvSpPr>
        <p:spPr>
          <a:xfrm>
            <a:off x="253253" y="1855492"/>
            <a:ext cx="5727035" cy="3147015"/>
          </a:xfrm>
          <a:prstGeom prst="rect">
            <a:avLst/>
          </a:prstGeom>
        </p:spPr>
        <p:txBody>
          <a:bodyPr wrap="square">
            <a:spAutoFit/>
          </a:bodyPr>
          <a:lstStyle/>
          <a:p>
            <a:pPr>
              <a:spcBef>
                <a:spcPts val="600"/>
              </a:spcBef>
              <a:spcAft>
                <a:spcPts val="300"/>
              </a:spcAft>
            </a:pPr>
            <a:r>
              <a:rPr lang="nl-NL" sz="2200" i="1" dirty="0" err="1">
                <a:solidFill>
                  <a:schemeClr val="accent2">
                    <a:lumMod val="75000"/>
                  </a:schemeClr>
                </a:solidFill>
              </a:rPr>
              <a:t>Centrality</a:t>
            </a:r>
            <a:r>
              <a:rPr lang="nl-NL" sz="2200" i="1" dirty="0">
                <a:solidFill>
                  <a:schemeClr val="accent2">
                    <a:lumMod val="75000"/>
                  </a:schemeClr>
                </a:solidFill>
              </a:rPr>
              <a:t> heuristics: </a:t>
            </a:r>
          </a:p>
          <a:p>
            <a:pPr marL="342900" indent="-342900">
              <a:spcBef>
                <a:spcPts val="600"/>
              </a:spcBef>
              <a:spcAft>
                <a:spcPts val="300"/>
              </a:spcAft>
              <a:buFont typeface="Arial" panose="020B0604020202020204" pitchFamily="34" charset="0"/>
              <a:buChar char="•"/>
            </a:pPr>
            <a:r>
              <a:rPr lang="en-US" sz="2200" dirty="0"/>
              <a:t>To rank all nodes according to their degrees or other centrality measures and pick up the </a:t>
            </a:r>
            <a:r>
              <a:rPr lang="en-US" sz="2200" i="1" dirty="0">
                <a:latin typeface="Times New Roman" panose="02020603050405020304" pitchFamily="18" charset="0"/>
                <a:cs typeface="Times New Roman" panose="02020603050405020304" pitchFamily="18" charset="0"/>
              </a:rPr>
              <a:t>k</a:t>
            </a:r>
            <a:r>
              <a:rPr lang="en-US" sz="2200" dirty="0"/>
              <a:t> top-ranking nodes </a:t>
            </a:r>
          </a:p>
          <a:p>
            <a:pPr marL="342900" indent="-342900">
              <a:spcBef>
                <a:spcPts val="600"/>
              </a:spcBef>
              <a:spcAft>
                <a:spcPts val="300"/>
              </a:spcAft>
              <a:buFont typeface="Arial" panose="020B0604020202020204" pitchFamily="34" charset="0"/>
              <a:buChar char="•"/>
            </a:pPr>
            <a:endParaRPr lang="en-US" sz="2200" dirty="0"/>
          </a:p>
          <a:p>
            <a:pPr marL="342900" indent="-342900">
              <a:spcBef>
                <a:spcPts val="600"/>
              </a:spcBef>
              <a:spcAft>
                <a:spcPts val="300"/>
              </a:spcAft>
              <a:buFont typeface="Arial" panose="020B0604020202020204" pitchFamily="34" charset="0"/>
              <a:buChar char="•"/>
            </a:pPr>
            <a:r>
              <a:rPr lang="en-US" sz="2200" dirty="0"/>
              <a:t>Naive but widely used due to simplicity (or used as references for other advanced algorithms)</a:t>
            </a:r>
          </a:p>
        </p:txBody>
      </p:sp>
      <p:sp>
        <p:nvSpPr>
          <p:cNvPr id="10" name="Rectangle 9">
            <a:extLst>
              <a:ext uri="{FF2B5EF4-FFF2-40B4-BE49-F238E27FC236}">
                <a16:creationId xmlns:a16="http://schemas.microsoft.com/office/drawing/2014/main" id="{F1434084-3883-4995-BDA4-34EF67AAE207}"/>
              </a:ext>
            </a:extLst>
          </p:cNvPr>
          <p:cNvSpPr/>
          <p:nvPr/>
        </p:nvSpPr>
        <p:spPr>
          <a:xfrm>
            <a:off x="0" y="152273"/>
            <a:ext cx="117764" cy="10322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3799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8868" y="1184836"/>
            <a:ext cx="5790159" cy="45626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椭圆 5"/>
          <p:cNvSpPr/>
          <p:nvPr/>
        </p:nvSpPr>
        <p:spPr>
          <a:xfrm>
            <a:off x="2848868" y="3998796"/>
            <a:ext cx="2623884" cy="2133063"/>
          </a:xfrm>
          <a:prstGeom prst="ellipse">
            <a:avLst/>
          </a:prstGeom>
          <a:noFill/>
          <a:ln>
            <a:solidFill>
              <a:srgbClr val="FFC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椭圆 6"/>
          <p:cNvSpPr/>
          <p:nvPr/>
        </p:nvSpPr>
        <p:spPr>
          <a:xfrm>
            <a:off x="6810234" y="2397447"/>
            <a:ext cx="2236948" cy="2338326"/>
          </a:xfrm>
          <a:prstGeom prst="ellipse">
            <a:avLst/>
          </a:prstGeom>
          <a:noFill/>
          <a:ln>
            <a:solidFill>
              <a:srgbClr val="FFC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p:cNvSpPr txBox="1"/>
          <p:nvPr/>
        </p:nvSpPr>
        <p:spPr>
          <a:xfrm>
            <a:off x="8711818" y="2688608"/>
            <a:ext cx="1446230" cy="369332"/>
          </a:xfrm>
          <a:prstGeom prst="rect">
            <a:avLst/>
          </a:prstGeom>
          <a:noFill/>
        </p:spPr>
        <p:txBody>
          <a:bodyPr wrap="none" rtlCol="0">
            <a:spAutoFit/>
          </a:bodyPr>
          <a:lstStyle/>
          <a:p>
            <a:r>
              <a:rPr lang="en-US" dirty="0"/>
              <a:t>Community 2</a:t>
            </a:r>
            <a:endParaRPr lang="en-GB" dirty="0"/>
          </a:p>
        </p:txBody>
      </p:sp>
      <p:sp>
        <p:nvSpPr>
          <p:cNvPr id="9" name="TextBox 8"/>
          <p:cNvSpPr txBox="1"/>
          <p:nvPr/>
        </p:nvSpPr>
        <p:spPr>
          <a:xfrm>
            <a:off x="2759982" y="6254382"/>
            <a:ext cx="1446230" cy="369332"/>
          </a:xfrm>
          <a:prstGeom prst="rect">
            <a:avLst/>
          </a:prstGeom>
          <a:noFill/>
        </p:spPr>
        <p:txBody>
          <a:bodyPr wrap="none" rtlCol="0">
            <a:spAutoFit/>
          </a:bodyPr>
          <a:lstStyle/>
          <a:p>
            <a:r>
              <a:rPr lang="en-US" dirty="0"/>
              <a:t>Community 1</a:t>
            </a:r>
            <a:endParaRPr lang="en-GB" dirty="0"/>
          </a:p>
        </p:txBody>
      </p:sp>
      <p:sp>
        <p:nvSpPr>
          <p:cNvPr id="10" name="椭圆 9"/>
          <p:cNvSpPr/>
          <p:nvPr/>
        </p:nvSpPr>
        <p:spPr>
          <a:xfrm>
            <a:off x="5950855" y="3862318"/>
            <a:ext cx="191067" cy="1910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p:cNvSpPr txBox="1"/>
          <p:nvPr/>
        </p:nvSpPr>
        <p:spPr>
          <a:xfrm>
            <a:off x="299248" y="4113028"/>
            <a:ext cx="2935272" cy="923330"/>
          </a:xfrm>
          <a:prstGeom prst="rect">
            <a:avLst/>
          </a:prstGeom>
          <a:noFill/>
        </p:spPr>
        <p:txBody>
          <a:bodyPr wrap="square" rtlCol="0">
            <a:spAutoFit/>
          </a:bodyPr>
          <a:lstStyle/>
          <a:p>
            <a:r>
              <a:rPr lang="en-US" b="1" dirty="0">
                <a:solidFill>
                  <a:srgbClr val="C00000"/>
                </a:solidFill>
              </a:rPr>
              <a:t>High degree node (‘hub’)</a:t>
            </a:r>
            <a:r>
              <a:rPr lang="en-US" dirty="0"/>
              <a:t>;</a:t>
            </a:r>
          </a:p>
          <a:p>
            <a:r>
              <a:rPr lang="en-US" dirty="0"/>
              <a:t>Can reach many people within one path length</a:t>
            </a:r>
            <a:endParaRPr lang="en-GB" dirty="0"/>
          </a:p>
        </p:txBody>
      </p:sp>
      <p:sp>
        <p:nvSpPr>
          <p:cNvPr id="12" name="椭圆 11"/>
          <p:cNvSpPr/>
          <p:nvPr/>
        </p:nvSpPr>
        <p:spPr>
          <a:xfrm>
            <a:off x="4015145" y="5161126"/>
            <a:ext cx="191067" cy="1910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p:cNvSpPr txBox="1"/>
          <p:nvPr/>
        </p:nvSpPr>
        <p:spPr>
          <a:xfrm>
            <a:off x="8063183" y="5140820"/>
            <a:ext cx="4014582" cy="1200329"/>
          </a:xfrm>
          <a:prstGeom prst="rect">
            <a:avLst/>
          </a:prstGeom>
          <a:noFill/>
        </p:spPr>
        <p:txBody>
          <a:bodyPr wrap="square" rtlCol="0">
            <a:spAutoFit/>
          </a:bodyPr>
          <a:lstStyle/>
          <a:p>
            <a:r>
              <a:rPr lang="en-US" b="1" dirty="0">
                <a:solidFill>
                  <a:srgbClr val="C00000"/>
                </a:solidFill>
              </a:rPr>
              <a:t>High betweenness node</a:t>
            </a:r>
            <a:r>
              <a:rPr lang="en-US" dirty="0"/>
              <a:t>;</a:t>
            </a:r>
          </a:p>
          <a:p>
            <a:r>
              <a:rPr lang="en-US" dirty="0"/>
              <a:t>Cannot reach many people within one path length, but can lead to a potentially large outbreak</a:t>
            </a:r>
            <a:endParaRPr lang="en-GB" dirty="0"/>
          </a:p>
        </p:txBody>
      </p:sp>
      <p:cxnSp>
        <p:nvCxnSpPr>
          <p:cNvPr id="3" name="Straight Arrow Connector 2">
            <a:extLst>
              <a:ext uri="{FF2B5EF4-FFF2-40B4-BE49-F238E27FC236}">
                <a16:creationId xmlns:a16="http://schemas.microsoft.com/office/drawing/2014/main" id="{49F288C8-815C-4A3E-92D9-B776B277FD1F}"/>
              </a:ext>
            </a:extLst>
          </p:cNvPr>
          <p:cNvCxnSpPr/>
          <p:nvPr/>
        </p:nvCxnSpPr>
        <p:spPr>
          <a:xfrm>
            <a:off x="6141922" y="4053385"/>
            <a:ext cx="1986825" cy="1107741"/>
          </a:xfrm>
          <a:prstGeom prst="straightConnector1">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49D8825-9278-42C2-8449-52767641C9CC}"/>
              </a:ext>
            </a:extLst>
          </p:cNvPr>
          <p:cNvCxnSpPr>
            <a:stCxn id="12" idx="1"/>
          </p:cNvCxnSpPr>
          <p:nvPr/>
        </p:nvCxnSpPr>
        <p:spPr>
          <a:xfrm flipH="1" flipV="1">
            <a:off x="2848868" y="4430806"/>
            <a:ext cx="1194258" cy="7583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itle 1">
            <a:extLst>
              <a:ext uri="{FF2B5EF4-FFF2-40B4-BE49-F238E27FC236}">
                <a16:creationId xmlns:a16="http://schemas.microsoft.com/office/drawing/2014/main" id="{AABB182B-6798-440B-9F4D-54996B76543F}"/>
              </a:ext>
            </a:extLst>
          </p:cNvPr>
          <p:cNvSpPr txBox="1">
            <a:spLocks/>
          </p:cNvSpPr>
          <p:nvPr/>
        </p:nvSpPr>
        <p:spPr>
          <a:xfrm>
            <a:off x="172570" y="219611"/>
            <a:ext cx="11679993" cy="832937"/>
          </a:xfrm>
          <a:prstGeom prst="rect">
            <a:avLst/>
          </a:prstGeom>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nl-NL" sz="4000" b="1" dirty="0">
                <a:solidFill>
                  <a:srgbClr val="0070C0"/>
                </a:solidFill>
              </a:rPr>
              <a:t>The </a:t>
            </a:r>
            <a:r>
              <a:rPr lang="nl-NL" sz="4000" b="1" dirty="0" err="1">
                <a:solidFill>
                  <a:srgbClr val="0070C0"/>
                </a:solidFill>
              </a:rPr>
              <a:t>choice</a:t>
            </a:r>
            <a:r>
              <a:rPr lang="nl-NL" sz="4000" b="1" dirty="0">
                <a:solidFill>
                  <a:srgbClr val="0070C0"/>
                </a:solidFill>
              </a:rPr>
              <a:t> of </a:t>
            </a:r>
            <a:r>
              <a:rPr lang="nl-NL" sz="4000" b="1" dirty="0" err="1">
                <a:solidFill>
                  <a:srgbClr val="0070C0"/>
                </a:solidFill>
              </a:rPr>
              <a:t>centrality</a:t>
            </a:r>
            <a:r>
              <a:rPr lang="nl-NL" sz="4000" b="1" dirty="0">
                <a:solidFill>
                  <a:srgbClr val="0070C0"/>
                </a:solidFill>
              </a:rPr>
              <a:t> heuristics </a:t>
            </a:r>
            <a:r>
              <a:rPr lang="nl-NL" sz="4000" b="1" dirty="0" err="1">
                <a:solidFill>
                  <a:srgbClr val="0070C0"/>
                </a:solidFill>
              </a:rPr>
              <a:t>depends</a:t>
            </a:r>
            <a:r>
              <a:rPr lang="nl-NL" sz="4000" b="1" dirty="0">
                <a:solidFill>
                  <a:srgbClr val="0070C0"/>
                </a:solidFill>
              </a:rPr>
              <a:t> on </a:t>
            </a:r>
            <a:r>
              <a:rPr lang="nl-NL" sz="4000" b="1" dirty="0" err="1">
                <a:solidFill>
                  <a:srgbClr val="0070C0"/>
                </a:solidFill>
              </a:rPr>
              <a:t>contagion</a:t>
            </a:r>
            <a:r>
              <a:rPr lang="nl-NL" sz="4000" b="1" dirty="0">
                <a:solidFill>
                  <a:srgbClr val="0070C0"/>
                </a:solidFill>
              </a:rPr>
              <a:t> </a:t>
            </a:r>
            <a:r>
              <a:rPr lang="nl-NL" sz="4000" b="1" dirty="0" err="1">
                <a:solidFill>
                  <a:srgbClr val="0070C0"/>
                </a:solidFill>
              </a:rPr>
              <a:t>mechanism</a:t>
            </a:r>
            <a:r>
              <a:rPr lang="nl-NL" sz="4000" b="1" dirty="0">
                <a:solidFill>
                  <a:srgbClr val="0070C0"/>
                </a:solidFill>
              </a:rPr>
              <a:t> </a:t>
            </a:r>
          </a:p>
        </p:txBody>
      </p:sp>
      <p:sp>
        <p:nvSpPr>
          <p:cNvPr id="16" name="Rectangle 15">
            <a:extLst>
              <a:ext uri="{FF2B5EF4-FFF2-40B4-BE49-F238E27FC236}">
                <a16:creationId xmlns:a16="http://schemas.microsoft.com/office/drawing/2014/main" id="{0354A851-A396-47E1-B080-C739EB4C5BE0}"/>
              </a:ext>
            </a:extLst>
          </p:cNvPr>
          <p:cNvSpPr/>
          <p:nvPr/>
        </p:nvSpPr>
        <p:spPr>
          <a:xfrm>
            <a:off x="0" y="152273"/>
            <a:ext cx="103695" cy="8329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66F0C30-3774-499D-94E7-837AC576A0E6}"/>
              </a:ext>
            </a:extLst>
          </p:cNvPr>
          <p:cNvSpPr txBox="1"/>
          <p:nvPr/>
        </p:nvSpPr>
        <p:spPr>
          <a:xfrm>
            <a:off x="310907" y="3743696"/>
            <a:ext cx="2006041" cy="369332"/>
          </a:xfrm>
          <a:prstGeom prst="rect">
            <a:avLst/>
          </a:prstGeom>
          <a:noFill/>
        </p:spPr>
        <p:txBody>
          <a:bodyPr wrap="square">
            <a:spAutoFit/>
          </a:bodyPr>
          <a:lstStyle/>
          <a:p>
            <a:r>
              <a:rPr lang="en-US" sz="1800" dirty="0">
                <a:solidFill>
                  <a:srgbClr val="0070C0"/>
                </a:solidFill>
                <a:latin typeface="Google Sans"/>
                <a:ea typeface="+mn-ea"/>
                <a:cs typeface="+mn-cs"/>
              </a:rPr>
              <a:t>Degree heuristic </a:t>
            </a:r>
            <a:endParaRPr lang="en-US" dirty="0"/>
          </a:p>
        </p:txBody>
      </p:sp>
      <p:sp>
        <p:nvSpPr>
          <p:cNvPr id="19" name="TextBox 18">
            <a:extLst>
              <a:ext uri="{FF2B5EF4-FFF2-40B4-BE49-F238E27FC236}">
                <a16:creationId xmlns:a16="http://schemas.microsoft.com/office/drawing/2014/main" id="{E5A01401-268F-485F-A4DB-926E2423A06A}"/>
              </a:ext>
            </a:extLst>
          </p:cNvPr>
          <p:cNvSpPr txBox="1"/>
          <p:nvPr/>
        </p:nvSpPr>
        <p:spPr>
          <a:xfrm>
            <a:off x="8063183" y="4801385"/>
            <a:ext cx="2836525" cy="369332"/>
          </a:xfrm>
          <a:prstGeom prst="rect">
            <a:avLst/>
          </a:prstGeom>
          <a:noFill/>
        </p:spPr>
        <p:txBody>
          <a:bodyPr wrap="square">
            <a:spAutoFit/>
          </a:bodyPr>
          <a:lstStyle/>
          <a:p>
            <a:r>
              <a:rPr lang="en-US" dirty="0">
                <a:solidFill>
                  <a:srgbClr val="0070C0"/>
                </a:solidFill>
                <a:latin typeface="Google Sans"/>
              </a:rPr>
              <a:t>B</a:t>
            </a:r>
            <a:r>
              <a:rPr lang="en-US" sz="1800" dirty="0">
                <a:solidFill>
                  <a:srgbClr val="0070C0"/>
                </a:solidFill>
                <a:latin typeface="Google Sans"/>
                <a:ea typeface="+mn-ea"/>
                <a:cs typeface="+mn-cs"/>
              </a:rPr>
              <a:t>etweenness heuristic </a:t>
            </a:r>
            <a:endParaRPr lang="en-US" dirty="0"/>
          </a:p>
        </p:txBody>
      </p:sp>
    </p:spTree>
    <p:extLst>
      <p:ext uri="{BB962C8B-B14F-4D97-AF65-F5344CB8AC3E}">
        <p14:creationId xmlns:p14="http://schemas.microsoft.com/office/powerpoint/2010/main" val="1700196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4461" y="216583"/>
            <a:ext cx="11273285" cy="849526"/>
          </a:xfrm>
        </p:spPr>
        <p:txBody>
          <a:bodyPr>
            <a:normAutofit/>
          </a:bodyPr>
          <a:lstStyle/>
          <a:p>
            <a:r>
              <a:rPr lang="en-GB" sz="3400" b="1" dirty="0">
                <a:solidFill>
                  <a:srgbClr val="0070C0"/>
                </a:solidFill>
              </a:rPr>
              <a:t>Other sophisticated algorithms inspired by centrality heuristics</a:t>
            </a:r>
          </a:p>
        </p:txBody>
      </p:sp>
      <p:sp>
        <p:nvSpPr>
          <p:cNvPr id="3" name="内容占位符 2"/>
          <p:cNvSpPr>
            <a:spLocks noGrp="1"/>
          </p:cNvSpPr>
          <p:nvPr>
            <p:ph idx="1"/>
          </p:nvPr>
        </p:nvSpPr>
        <p:spPr>
          <a:xfrm>
            <a:off x="354106" y="1066109"/>
            <a:ext cx="11425518" cy="5670644"/>
          </a:xfrm>
        </p:spPr>
        <p:txBody>
          <a:bodyPr>
            <a:noAutofit/>
          </a:bodyPr>
          <a:lstStyle/>
          <a:p>
            <a:pPr marL="0" indent="0">
              <a:lnSpc>
                <a:spcPct val="120000"/>
              </a:lnSpc>
              <a:spcBef>
                <a:spcPts val="300"/>
              </a:spcBef>
              <a:spcAft>
                <a:spcPts val="300"/>
              </a:spcAft>
              <a:buNone/>
            </a:pPr>
            <a:r>
              <a:rPr lang="en-GB" sz="2200" dirty="0">
                <a:solidFill>
                  <a:schemeClr val="bg2">
                    <a:lumMod val="50000"/>
                  </a:schemeClr>
                </a:solidFill>
              </a:rPr>
              <a:t>(Top-</a:t>
            </a:r>
            <a:r>
              <a:rPr lang="en-GB" sz="2200" i="1" dirty="0">
                <a:solidFill>
                  <a:schemeClr val="bg2">
                    <a:lumMod val="50000"/>
                  </a:schemeClr>
                </a:solidFill>
                <a:latin typeface="Times New Roman" panose="02020603050405020304" pitchFamily="18" charset="0"/>
                <a:cs typeface="Times New Roman" panose="02020603050405020304" pitchFamily="18" charset="0"/>
              </a:rPr>
              <a:t>k</a:t>
            </a:r>
            <a:r>
              <a:rPr lang="en-GB" sz="2200" dirty="0">
                <a:solidFill>
                  <a:schemeClr val="bg2">
                    <a:lumMod val="50000"/>
                  </a:schemeClr>
                </a:solidFill>
              </a:rPr>
              <a:t> nodes: sometimes inefficient since nodes of highest centrality may be highly clustered)</a:t>
            </a:r>
          </a:p>
          <a:p>
            <a:pPr>
              <a:lnSpc>
                <a:spcPct val="120000"/>
              </a:lnSpc>
              <a:spcBef>
                <a:spcPts val="300"/>
              </a:spcBef>
              <a:spcAft>
                <a:spcPts val="300"/>
              </a:spcAft>
            </a:pPr>
            <a:r>
              <a:rPr lang="en-GB" sz="2200" dirty="0">
                <a:solidFill>
                  <a:srgbClr val="0070C0"/>
                </a:solidFill>
                <a:latin typeface="Google Sans"/>
              </a:rPr>
              <a:t>High Degree Adaptive (HDA)</a:t>
            </a:r>
            <a:r>
              <a:rPr lang="en-GB" sz="2200" dirty="0"/>
              <a:t>:</a:t>
            </a:r>
            <a:r>
              <a:rPr lang="en-GB" sz="2200" dirty="0">
                <a:solidFill>
                  <a:srgbClr val="0070C0"/>
                </a:solidFill>
                <a:latin typeface="Google Sans"/>
              </a:rPr>
              <a:t> </a:t>
            </a:r>
            <a:r>
              <a:rPr lang="en-GB" sz="2200" dirty="0"/>
              <a:t>First</a:t>
            </a:r>
            <a:r>
              <a:rPr lang="en-GB" sz="2200" dirty="0">
                <a:solidFill>
                  <a:srgbClr val="0070C0"/>
                </a:solidFill>
                <a:latin typeface="Google Sans"/>
              </a:rPr>
              <a:t> </a:t>
            </a:r>
            <a:r>
              <a:rPr lang="en-GB" sz="2200" dirty="0"/>
              <a:t>choose the node of the largest degree, then recalculate the degree of nodes after every step of node removal;</a:t>
            </a:r>
          </a:p>
          <a:p>
            <a:pPr>
              <a:lnSpc>
                <a:spcPct val="120000"/>
              </a:lnSpc>
              <a:spcBef>
                <a:spcPts val="300"/>
              </a:spcBef>
              <a:spcAft>
                <a:spcPts val="300"/>
              </a:spcAft>
            </a:pPr>
            <a:r>
              <a:rPr lang="en-GB" sz="2200" dirty="0">
                <a:solidFill>
                  <a:srgbClr val="0070C0"/>
                </a:solidFill>
              </a:rPr>
              <a:t>Top-</a:t>
            </a:r>
            <a:r>
              <a:rPr lang="en-GB" sz="2200" i="1" dirty="0">
                <a:solidFill>
                  <a:srgbClr val="0070C0"/>
                </a:solidFill>
                <a:latin typeface="Times New Roman" panose="02020603050405020304" pitchFamily="18" charset="0"/>
                <a:cs typeface="Times New Roman" panose="02020603050405020304" pitchFamily="18" charset="0"/>
              </a:rPr>
              <a:t>k</a:t>
            </a:r>
            <a:r>
              <a:rPr lang="en-GB" sz="2200" dirty="0">
                <a:solidFill>
                  <a:srgbClr val="0070C0"/>
                </a:solidFill>
              </a:rPr>
              <a:t> spreaders from different communities</a:t>
            </a:r>
            <a:r>
              <a:rPr lang="en-GB" sz="2200" dirty="0"/>
              <a:t>: Network is divided into many communities by community detection algorithm. Then all communities are ranked in decreasing order according to their sizes. The first spreader is selected from the largest community according to a certain centrality index (e.g., to choose the node with the highest degree). Similarly, the node with the largest centrality index in the second largest community and having no edges incident to the previous communities.</a:t>
            </a:r>
          </a:p>
          <a:p>
            <a:pPr>
              <a:lnSpc>
                <a:spcPct val="120000"/>
              </a:lnSpc>
              <a:spcBef>
                <a:spcPts val="300"/>
              </a:spcBef>
              <a:spcAft>
                <a:spcPts val="300"/>
              </a:spcAft>
            </a:pPr>
            <a:r>
              <a:rPr lang="en-GB" sz="2200" dirty="0" err="1">
                <a:solidFill>
                  <a:srgbClr val="0070C0"/>
                </a:solidFill>
              </a:rPr>
              <a:t>LocalRank</a:t>
            </a:r>
            <a:r>
              <a:rPr lang="en-GB" sz="2200" dirty="0"/>
              <a:t>: Consider the number of </a:t>
            </a:r>
            <a:r>
              <a:rPr lang="en-GB" sz="2200" dirty="0" err="1"/>
              <a:t>neighbors</a:t>
            </a:r>
            <a:r>
              <a:rPr lang="en-GB" sz="2200" dirty="0"/>
              <a:t> within path length 4</a:t>
            </a:r>
          </a:p>
        </p:txBody>
      </p:sp>
      <p:sp>
        <p:nvSpPr>
          <p:cNvPr id="4" name="Rectangle 3">
            <a:extLst>
              <a:ext uri="{FF2B5EF4-FFF2-40B4-BE49-F238E27FC236}">
                <a16:creationId xmlns:a16="http://schemas.microsoft.com/office/drawing/2014/main" id="{377A6898-E0BE-4BA9-803B-76A605E3A221}"/>
              </a:ext>
            </a:extLst>
          </p:cNvPr>
          <p:cNvSpPr/>
          <p:nvPr/>
        </p:nvSpPr>
        <p:spPr>
          <a:xfrm>
            <a:off x="0" y="186758"/>
            <a:ext cx="174812" cy="9091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54339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2B60719-C0AF-405E-A4FC-67837BAC6CB0}"/>
              </a:ext>
            </a:extLst>
          </p:cNvPr>
          <p:cNvSpPr/>
          <p:nvPr/>
        </p:nvSpPr>
        <p:spPr>
          <a:xfrm>
            <a:off x="221673" y="2383019"/>
            <a:ext cx="10799136" cy="830997"/>
          </a:xfrm>
          <a:prstGeom prst="rect">
            <a:avLst/>
          </a:prstGeom>
        </p:spPr>
        <p:txBody>
          <a:bodyPr wrap="square">
            <a:spAutoFit/>
          </a:bodyPr>
          <a:lstStyle/>
          <a:p>
            <a:r>
              <a:rPr lang="en-US" sz="2400" dirty="0"/>
              <a:t>Add nodes </a:t>
            </a:r>
            <a:r>
              <a:rPr lang="en-US" sz="2400" b="1" dirty="0">
                <a:solidFill>
                  <a:srgbClr val="F4B83B"/>
                </a:solidFill>
              </a:rPr>
              <a:t>one by one </a:t>
            </a:r>
            <a:r>
              <a:rPr lang="en-US" sz="2400" dirty="0"/>
              <a:t>to the target set, ensuring that each addition brings the largest increase of </a:t>
            </a:r>
            <a:r>
              <a:rPr lang="en-US" sz="2400" b="1" i="1" dirty="0"/>
              <a:t>influence</a:t>
            </a:r>
            <a:r>
              <a:rPr lang="en-US" sz="2400" dirty="0"/>
              <a:t> to the previous set (maximize the incremental influence)</a:t>
            </a:r>
            <a:endParaRPr lang="nl-NL" sz="2400" dirty="0"/>
          </a:p>
        </p:txBody>
      </p:sp>
      <p:sp>
        <p:nvSpPr>
          <p:cNvPr id="15" name="内容占位符 2"/>
          <p:cNvSpPr>
            <a:spLocks noGrp="1"/>
          </p:cNvSpPr>
          <p:nvPr>
            <p:ph idx="1"/>
          </p:nvPr>
        </p:nvSpPr>
        <p:spPr>
          <a:xfrm>
            <a:off x="363441" y="3224341"/>
            <a:ext cx="10515600" cy="2245054"/>
          </a:xfrm>
        </p:spPr>
        <p:txBody>
          <a:bodyPr>
            <a:noAutofit/>
          </a:bodyPr>
          <a:lstStyle/>
          <a:p>
            <a:pPr>
              <a:lnSpc>
                <a:spcPct val="120000"/>
              </a:lnSpc>
              <a:spcBef>
                <a:spcPts val="300"/>
              </a:spcBef>
              <a:spcAft>
                <a:spcPts val="300"/>
              </a:spcAft>
            </a:pPr>
            <a:r>
              <a:rPr lang="en-GB" sz="2200" i="1" dirty="0">
                <a:latin typeface="Times New Roman" panose="02020603050405020304" pitchFamily="18" charset="0"/>
                <a:cs typeface="Times New Roman" panose="02020603050405020304" pitchFamily="18" charset="0"/>
              </a:rPr>
              <a:t>k</a:t>
            </a:r>
            <a:r>
              <a:rPr lang="en-GB" sz="2200" dirty="0"/>
              <a:t> is the number of size of the seed set </a:t>
            </a:r>
            <a:r>
              <a:rPr lang="en-GB" sz="2200" b="1" i="1" dirty="0">
                <a:latin typeface="Times New Roman" panose="02020603050405020304" pitchFamily="18" charset="0"/>
                <a:cs typeface="Times New Roman" panose="02020603050405020304" pitchFamily="18" charset="0"/>
              </a:rPr>
              <a:t>S</a:t>
            </a:r>
            <a:r>
              <a:rPr lang="en-GB" sz="2200" dirty="0"/>
              <a:t>;</a:t>
            </a:r>
          </a:p>
          <a:p>
            <a:pPr>
              <a:lnSpc>
                <a:spcPct val="120000"/>
              </a:lnSpc>
              <a:spcBef>
                <a:spcPts val="300"/>
              </a:spcBef>
              <a:spcAft>
                <a:spcPts val="300"/>
              </a:spcAft>
            </a:pPr>
            <a:r>
              <a:rPr lang="en-GB" sz="2200" dirty="0"/>
              <a:t>Start with an empty set of </a:t>
            </a:r>
            <a:r>
              <a:rPr lang="en-GB" sz="2200" b="1" i="1" dirty="0">
                <a:latin typeface="Times New Roman" panose="02020603050405020304" pitchFamily="18" charset="0"/>
                <a:cs typeface="Times New Roman" panose="02020603050405020304" pitchFamily="18" charset="0"/>
              </a:rPr>
              <a:t>S</a:t>
            </a:r>
            <a:r>
              <a:rPr lang="en-GB" sz="2200" dirty="0">
                <a:latin typeface="Times New Roman" panose="02020603050405020304" pitchFamily="18" charset="0"/>
                <a:cs typeface="Times New Roman" panose="02020603050405020304" pitchFamily="18" charset="0"/>
              </a:rPr>
              <a:t>={}</a:t>
            </a:r>
            <a:r>
              <a:rPr lang="en-GB" sz="2200" dirty="0"/>
              <a:t>;</a:t>
            </a:r>
          </a:p>
          <a:p>
            <a:pPr>
              <a:lnSpc>
                <a:spcPct val="120000"/>
              </a:lnSpc>
              <a:spcBef>
                <a:spcPts val="300"/>
              </a:spcBef>
              <a:spcAft>
                <a:spcPts val="300"/>
              </a:spcAft>
            </a:pPr>
            <a:r>
              <a:rPr lang="en-GB" sz="2200" dirty="0"/>
              <a:t>At each time step, scan all nodes to find the </a:t>
            </a:r>
            <a:r>
              <a:rPr lang="en-GB" sz="2200" dirty="0">
                <a:solidFill>
                  <a:srgbClr val="DCA832"/>
                </a:solidFill>
              </a:rPr>
              <a:t>one </a:t>
            </a:r>
            <a:r>
              <a:rPr lang="en-GB" sz="2200" b="1" i="1" dirty="0">
                <a:solidFill>
                  <a:srgbClr val="DCA832"/>
                </a:solidFill>
                <a:latin typeface="Times New Roman" panose="02020603050405020304" pitchFamily="18" charset="0"/>
                <a:cs typeface="Times New Roman" panose="02020603050405020304" pitchFamily="18" charset="0"/>
              </a:rPr>
              <a:t>v</a:t>
            </a:r>
            <a:r>
              <a:rPr lang="en-GB" sz="2200" b="1" i="1" dirty="0"/>
              <a:t> </a:t>
            </a:r>
            <a:r>
              <a:rPr lang="en-GB" sz="2200" dirty="0"/>
              <a:t>that maximizes </a:t>
            </a:r>
            <a:r>
              <a:rPr lang="en-GB" sz="2200" b="1" i="1" dirty="0">
                <a:latin typeface="Times New Roman" panose="02020603050405020304" pitchFamily="18" charset="0"/>
                <a:cs typeface="Times New Roman" panose="02020603050405020304" pitchFamily="18" charset="0"/>
              </a:rPr>
              <a:t>f</a:t>
            </a:r>
            <a:r>
              <a:rPr lang="en-GB" sz="2200" i="1" dirty="0">
                <a:latin typeface="Times New Roman" panose="02020603050405020304" pitchFamily="18" charset="0"/>
                <a:cs typeface="Times New Roman" panose="02020603050405020304" pitchFamily="18" charset="0"/>
              </a:rPr>
              <a:t>( </a:t>
            </a:r>
            <a:r>
              <a:rPr lang="en-GB" sz="2200" b="1" i="1" dirty="0">
                <a:latin typeface="Times New Roman" panose="02020603050405020304" pitchFamily="18" charset="0"/>
                <a:cs typeface="Times New Roman" panose="02020603050405020304" pitchFamily="18" charset="0"/>
              </a:rPr>
              <a:t>S</a:t>
            </a:r>
            <a:r>
              <a:rPr lang="hy-AM" sz="2200" i="1" dirty="0">
                <a:latin typeface="Times New Roman" panose="02020603050405020304" pitchFamily="18" charset="0"/>
                <a:cs typeface="Times New Roman" panose="02020603050405020304" pitchFamily="18" charset="0"/>
              </a:rPr>
              <a:t>∪</a:t>
            </a:r>
            <a:r>
              <a:rPr lang="en-GB" sz="2200" i="1" dirty="0">
                <a:latin typeface="Times New Roman" panose="02020603050405020304" pitchFamily="18" charset="0"/>
                <a:cs typeface="Times New Roman" panose="02020603050405020304" pitchFamily="18" charset="0"/>
              </a:rPr>
              <a:t> {v} ) </a:t>
            </a:r>
            <a:r>
              <a:rPr lang="en-GB" sz="2200" dirty="0"/>
              <a:t>and then updates </a:t>
            </a:r>
            <a:r>
              <a:rPr lang="en-GB" sz="2200" b="1" i="1" dirty="0">
                <a:latin typeface="Times New Roman" panose="02020603050405020304" pitchFamily="18" charset="0"/>
                <a:cs typeface="Times New Roman" panose="02020603050405020304" pitchFamily="18" charset="0"/>
              </a:rPr>
              <a:t>S</a:t>
            </a:r>
            <a:r>
              <a:rPr lang="en-GB" sz="2200" i="1" dirty="0">
                <a:latin typeface="Times New Roman" panose="02020603050405020304" pitchFamily="18" charset="0"/>
                <a:cs typeface="Times New Roman" panose="02020603050405020304" pitchFamily="18" charset="0"/>
              </a:rPr>
              <a:t> </a:t>
            </a:r>
            <a:r>
              <a:rPr lang="en-US" sz="2200" dirty="0"/>
              <a:t>by including </a:t>
            </a:r>
            <a:r>
              <a:rPr lang="en-GB" sz="2200" i="1" dirty="0">
                <a:latin typeface="Times New Roman" panose="02020603050405020304" pitchFamily="18" charset="0"/>
                <a:cs typeface="Times New Roman" panose="02020603050405020304" pitchFamily="18" charset="0"/>
              </a:rPr>
              <a:t>v</a:t>
            </a:r>
          </a:p>
          <a:p>
            <a:pPr>
              <a:lnSpc>
                <a:spcPct val="120000"/>
              </a:lnSpc>
              <a:spcBef>
                <a:spcPts val="300"/>
              </a:spcBef>
              <a:spcAft>
                <a:spcPts val="300"/>
              </a:spcAft>
            </a:pPr>
            <a:r>
              <a:rPr lang="en-GB" sz="2200" dirty="0"/>
              <a:t>After </a:t>
            </a:r>
            <a:r>
              <a:rPr lang="en-GB" sz="2200" i="1" dirty="0">
                <a:latin typeface="Times New Roman" panose="02020603050405020304" pitchFamily="18" charset="0"/>
                <a:cs typeface="Times New Roman" panose="02020603050405020304" pitchFamily="18" charset="0"/>
              </a:rPr>
              <a:t>k</a:t>
            </a:r>
            <a:r>
              <a:rPr lang="en-GB" sz="2200" dirty="0"/>
              <a:t> time steps, one gets the target set </a:t>
            </a:r>
            <a:r>
              <a:rPr lang="en-GB" sz="2200" b="1" i="1" dirty="0">
                <a:latin typeface="Times New Roman" panose="02020603050405020304" pitchFamily="18" charset="0"/>
                <a:cs typeface="Times New Roman" panose="02020603050405020304" pitchFamily="18" charset="0"/>
              </a:rPr>
              <a:t>S</a:t>
            </a:r>
            <a:r>
              <a:rPr lang="en-GB" sz="2200" dirty="0"/>
              <a:t> containing </a:t>
            </a:r>
            <a:r>
              <a:rPr lang="en-GB" sz="2200" i="1" dirty="0">
                <a:latin typeface="Times New Roman" panose="02020603050405020304" pitchFamily="18" charset="0"/>
                <a:cs typeface="Times New Roman" panose="02020603050405020304" pitchFamily="18" charset="0"/>
              </a:rPr>
              <a:t>k</a:t>
            </a:r>
            <a:r>
              <a:rPr lang="en-GB" sz="2200" i="1" dirty="0"/>
              <a:t> </a:t>
            </a:r>
            <a:r>
              <a:rPr lang="en-GB" sz="2200" dirty="0"/>
              <a:t>influential nodes.</a:t>
            </a:r>
            <a:endParaRPr lang="en-US" sz="2400" i="1" dirty="0">
              <a:solidFill>
                <a:srgbClr val="0070C0"/>
              </a:solidFill>
            </a:endParaRPr>
          </a:p>
          <a:p>
            <a:pPr marL="0" indent="0">
              <a:lnSpc>
                <a:spcPct val="120000"/>
              </a:lnSpc>
              <a:spcBef>
                <a:spcPts val="300"/>
              </a:spcBef>
              <a:spcAft>
                <a:spcPts val="300"/>
              </a:spcAft>
              <a:buNone/>
            </a:pPr>
            <a:r>
              <a:rPr lang="en-US" sz="2400" i="1" dirty="0">
                <a:solidFill>
                  <a:srgbClr val="0070C0"/>
                </a:solidFill>
              </a:rPr>
              <a:t>Reduce the computational time by considering</a:t>
            </a:r>
            <a:r>
              <a:rPr lang="en-GB" sz="2400" i="1" dirty="0">
                <a:solidFill>
                  <a:srgbClr val="0070C0"/>
                </a:solidFill>
              </a:rPr>
              <a:t> the incremental spread of the </a:t>
            </a:r>
            <a:r>
              <a:rPr lang="en-GB" sz="2400" i="1" dirty="0">
                <a:solidFill>
                  <a:srgbClr val="0070C0"/>
                </a:solidFill>
                <a:latin typeface="Times New Roman" panose="02020603050405020304" pitchFamily="18" charset="0"/>
                <a:cs typeface="Times New Roman" panose="02020603050405020304" pitchFamily="18" charset="0"/>
              </a:rPr>
              <a:t>k</a:t>
            </a:r>
            <a:r>
              <a:rPr lang="en-GB" sz="2400" i="1" dirty="0">
                <a:solidFill>
                  <a:srgbClr val="0070C0"/>
                </a:solidFill>
              </a:rPr>
              <a:t> nodes individually rather than combined</a:t>
            </a:r>
            <a:endParaRPr lang="en-GB" sz="2200" i="1" dirty="0">
              <a:solidFill>
                <a:srgbClr val="0070C0"/>
              </a:solidFill>
            </a:endParaRPr>
          </a:p>
        </p:txBody>
      </p:sp>
      <p:sp>
        <p:nvSpPr>
          <p:cNvPr id="6" name="Rectangle 5">
            <a:extLst>
              <a:ext uri="{FF2B5EF4-FFF2-40B4-BE49-F238E27FC236}">
                <a16:creationId xmlns:a16="http://schemas.microsoft.com/office/drawing/2014/main" id="{3D4C4E2A-9EF5-45E3-9595-5424D423B151}"/>
              </a:ext>
            </a:extLst>
          </p:cNvPr>
          <p:cNvSpPr/>
          <p:nvPr/>
        </p:nvSpPr>
        <p:spPr>
          <a:xfrm>
            <a:off x="0" y="118126"/>
            <a:ext cx="174812" cy="9091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6C644D3E-E75D-4F35-9E00-D21C7579F20E}"/>
              </a:ext>
            </a:extLst>
          </p:cNvPr>
          <p:cNvSpPr txBox="1">
            <a:spLocks/>
          </p:cNvSpPr>
          <p:nvPr/>
        </p:nvSpPr>
        <p:spPr>
          <a:xfrm>
            <a:off x="172570" y="266746"/>
            <a:ext cx="11679993" cy="83293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nl-NL" sz="4000" b="1" dirty="0">
                <a:solidFill>
                  <a:srgbClr val="0070C0"/>
                </a:solidFill>
              </a:rPr>
              <a:t>Using </a:t>
            </a:r>
            <a:r>
              <a:rPr lang="nl-NL" sz="4000" b="1" dirty="0" err="1">
                <a:solidFill>
                  <a:srgbClr val="0070C0"/>
                </a:solidFill>
              </a:rPr>
              <a:t>greedy</a:t>
            </a:r>
            <a:r>
              <a:rPr lang="nl-NL" sz="4000" b="1" dirty="0">
                <a:solidFill>
                  <a:srgbClr val="0070C0"/>
                </a:solidFill>
              </a:rPr>
              <a:t> </a:t>
            </a:r>
            <a:r>
              <a:rPr lang="nl-NL" sz="4000" b="1" dirty="0" err="1">
                <a:solidFill>
                  <a:srgbClr val="0070C0"/>
                </a:solidFill>
              </a:rPr>
              <a:t>algorithm</a:t>
            </a:r>
            <a:r>
              <a:rPr lang="nl-NL" sz="4000" b="1" dirty="0">
                <a:solidFill>
                  <a:srgbClr val="0070C0"/>
                </a:solidFill>
              </a:rPr>
              <a:t> </a:t>
            </a:r>
            <a:r>
              <a:rPr lang="nl-NL" sz="4000" b="1" dirty="0" err="1">
                <a:solidFill>
                  <a:srgbClr val="0070C0"/>
                </a:solidFill>
              </a:rPr>
              <a:t>to</a:t>
            </a:r>
            <a:r>
              <a:rPr lang="nl-NL" sz="4000" b="1" dirty="0">
                <a:solidFill>
                  <a:srgbClr val="0070C0"/>
                </a:solidFill>
              </a:rPr>
              <a:t> </a:t>
            </a:r>
            <a:r>
              <a:rPr lang="nl-NL" sz="4000" b="1" dirty="0" err="1">
                <a:solidFill>
                  <a:srgbClr val="0070C0"/>
                </a:solidFill>
              </a:rPr>
              <a:t>approximate</a:t>
            </a:r>
            <a:r>
              <a:rPr lang="nl-NL" sz="4000" b="1" dirty="0">
                <a:solidFill>
                  <a:srgbClr val="0070C0"/>
                </a:solidFill>
              </a:rPr>
              <a:t> </a:t>
            </a:r>
            <a:r>
              <a:rPr lang="nl-NL" sz="4000" b="1" dirty="0" err="1">
                <a:solidFill>
                  <a:srgbClr val="0070C0"/>
                </a:solidFill>
              </a:rPr>
              <a:t>the</a:t>
            </a:r>
            <a:r>
              <a:rPr lang="nl-NL" sz="4000" b="1" dirty="0">
                <a:solidFill>
                  <a:srgbClr val="0070C0"/>
                </a:solidFill>
              </a:rPr>
              <a:t> exact solution</a:t>
            </a:r>
          </a:p>
        </p:txBody>
      </p:sp>
      <mc:AlternateContent xmlns:mc="http://schemas.openxmlformats.org/markup-compatibility/2006" xmlns:a14="http://schemas.microsoft.com/office/drawing/2010/main">
        <mc:Choice Requires="a14">
          <p:sp>
            <p:nvSpPr>
              <p:cNvPr id="9" name="矩形 13">
                <a:extLst>
                  <a:ext uri="{FF2B5EF4-FFF2-40B4-BE49-F238E27FC236}">
                    <a16:creationId xmlns:a16="http://schemas.microsoft.com/office/drawing/2014/main" id="{03DB2F5D-A4E1-49FD-B499-15A74903F6C8}"/>
                  </a:ext>
                </a:extLst>
              </p:cNvPr>
              <p:cNvSpPr/>
              <p:nvPr/>
            </p:nvSpPr>
            <p:spPr>
              <a:xfrm>
                <a:off x="172570" y="1153914"/>
                <a:ext cx="11797757" cy="528543"/>
              </a:xfrm>
              <a:prstGeom prst="rect">
                <a:avLst/>
              </a:prstGeom>
              <a:solidFill>
                <a:schemeClr val="bg2">
                  <a:lumMod val="75000"/>
                </a:schemeClr>
              </a:solidFill>
            </p:spPr>
            <p:txBody>
              <a:bodyPr wrap="square">
                <a:spAutoFit/>
              </a:bodyPr>
              <a:lstStyle/>
              <a:p>
                <a:pPr>
                  <a:spcBef>
                    <a:spcPts val="600"/>
                  </a:spcBef>
                  <a:spcAft>
                    <a:spcPts val="600"/>
                  </a:spcAft>
                </a:pPr>
                <a:r>
                  <a:rPr lang="en-GB" sz="1700" dirty="0"/>
                  <a:t>For a network of 60 people, in order to find out </a:t>
                </a:r>
                <a:r>
                  <a:rPr lang="en-GB" sz="1700" i="1" dirty="0">
                    <a:latin typeface="Times New Roman" panose="02020603050405020304" pitchFamily="18" charset="0"/>
                    <a:cs typeface="Times New Roman" panose="02020603050405020304" pitchFamily="18" charset="0"/>
                  </a:rPr>
                  <a:t>5</a:t>
                </a:r>
                <a:r>
                  <a:rPr lang="en-GB" sz="1700" dirty="0"/>
                  <a:t> people as the “seeds” to maximize the diffusion, try </a:t>
                </a:r>
                <a14:m>
                  <m:oMath xmlns:m="http://schemas.openxmlformats.org/officeDocument/2006/math">
                    <m:d>
                      <m:dPr>
                        <m:ctrlPr>
                          <a:rPr lang="en-US" sz="1700" i="1" smtClean="0">
                            <a:solidFill>
                              <a:schemeClr val="tx1">
                                <a:lumMod val="85000"/>
                                <a:lumOff val="15000"/>
                              </a:schemeClr>
                            </a:solidFill>
                            <a:latin typeface="Cambria Math" panose="02040503050406030204" pitchFamily="18" charset="0"/>
                          </a:rPr>
                        </m:ctrlPr>
                      </m:dPr>
                      <m:e>
                        <m:m>
                          <m:mPr>
                            <m:mcs>
                              <m:mc>
                                <m:mcPr>
                                  <m:count m:val="1"/>
                                  <m:mcJc m:val="center"/>
                                </m:mcPr>
                              </m:mc>
                            </m:mcs>
                            <m:ctrlPr>
                              <a:rPr lang="en-US" sz="1700" i="1" smtClean="0">
                                <a:solidFill>
                                  <a:schemeClr val="tx1">
                                    <a:lumMod val="85000"/>
                                    <a:lumOff val="15000"/>
                                  </a:schemeClr>
                                </a:solidFill>
                                <a:latin typeface="Cambria Math" panose="02040503050406030204" pitchFamily="18" charset="0"/>
                              </a:rPr>
                            </m:ctrlPr>
                          </m:mPr>
                          <m:mr>
                            <m:e>
                              <m:r>
                                <m:rPr>
                                  <m:brk m:alnAt="7"/>
                                </m:rPr>
                                <a:rPr lang="en-US" sz="1700" b="0" i="1" smtClean="0">
                                  <a:solidFill>
                                    <a:schemeClr val="tx1">
                                      <a:lumMod val="85000"/>
                                      <a:lumOff val="15000"/>
                                    </a:schemeClr>
                                  </a:solidFill>
                                  <a:latin typeface="Cambria Math"/>
                                </a:rPr>
                                <m:t>6</m:t>
                              </m:r>
                              <m:r>
                                <a:rPr lang="en-US" sz="1700" b="0" i="1" smtClean="0">
                                  <a:solidFill>
                                    <a:schemeClr val="tx1">
                                      <a:lumMod val="85000"/>
                                      <a:lumOff val="15000"/>
                                    </a:schemeClr>
                                  </a:solidFill>
                                  <a:latin typeface="Cambria Math"/>
                                </a:rPr>
                                <m:t>0</m:t>
                              </m:r>
                            </m:e>
                          </m:mr>
                          <m:mr>
                            <m:e>
                              <m:r>
                                <a:rPr lang="en-US" sz="1700" b="0" i="1" smtClean="0">
                                  <a:solidFill>
                                    <a:schemeClr val="tx1">
                                      <a:lumMod val="85000"/>
                                      <a:lumOff val="15000"/>
                                    </a:schemeClr>
                                  </a:solidFill>
                                  <a:latin typeface="Cambria Math"/>
                                </a:rPr>
                                <m:t>5</m:t>
                              </m:r>
                            </m:e>
                          </m:mr>
                        </m:m>
                      </m:e>
                    </m:d>
                    <m:r>
                      <a:rPr lang="en-US" sz="1700" i="1" smtClean="0">
                        <a:solidFill>
                          <a:schemeClr val="tx1">
                            <a:lumMod val="85000"/>
                            <a:lumOff val="15000"/>
                          </a:schemeClr>
                        </a:solidFill>
                        <a:latin typeface="Cambria Math"/>
                      </a:rPr>
                      <m:t>=</m:t>
                    </m:r>
                    <m:r>
                      <a:rPr lang="en-US" sz="1700" b="0" i="1" smtClean="0">
                        <a:solidFill>
                          <a:schemeClr val="tx1">
                            <a:lumMod val="85000"/>
                            <a:lumOff val="15000"/>
                          </a:schemeClr>
                        </a:solidFill>
                        <a:latin typeface="Cambria Math"/>
                      </a:rPr>
                      <m:t>27,307,560</m:t>
                    </m:r>
                  </m:oMath>
                </a14:m>
                <a:r>
                  <a:rPr lang="en-GB" sz="1700" dirty="0"/>
                  <a:t> times</a:t>
                </a:r>
              </a:p>
            </p:txBody>
          </p:sp>
        </mc:Choice>
        <mc:Fallback xmlns="">
          <p:sp>
            <p:nvSpPr>
              <p:cNvPr id="9" name="矩形 13">
                <a:extLst>
                  <a:ext uri="{FF2B5EF4-FFF2-40B4-BE49-F238E27FC236}">
                    <a16:creationId xmlns:a16="http://schemas.microsoft.com/office/drawing/2014/main" id="{03DB2F5D-A4E1-49FD-B499-15A74903F6C8}"/>
                  </a:ext>
                </a:extLst>
              </p:cNvPr>
              <p:cNvSpPr>
                <a:spLocks noRot="1" noChangeAspect="1" noMove="1" noResize="1" noEditPoints="1" noAdjustHandles="1" noChangeArrowheads="1" noChangeShapeType="1" noTextEdit="1"/>
              </p:cNvSpPr>
              <p:nvPr/>
            </p:nvSpPr>
            <p:spPr>
              <a:xfrm>
                <a:off x="172570" y="1153914"/>
                <a:ext cx="11797757" cy="528543"/>
              </a:xfrm>
              <a:prstGeom prst="rect">
                <a:avLst/>
              </a:prstGeom>
              <a:blipFill>
                <a:blip r:embed="rId2"/>
                <a:stretch>
                  <a:fillRect l="-310" b="-4598"/>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40B37216-19F2-4815-BBB7-985099EC9C0F}"/>
              </a:ext>
            </a:extLst>
          </p:cNvPr>
          <p:cNvSpPr txBox="1"/>
          <p:nvPr/>
        </p:nvSpPr>
        <p:spPr>
          <a:xfrm>
            <a:off x="8901547" y="1736688"/>
            <a:ext cx="3009898" cy="64633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r>
              <a:rPr lang="en-GB" sz="1800" i="1" dirty="0">
                <a:solidFill>
                  <a:srgbClr val="0070C0"/>
                </a:solidFill>
              </a:rPr>
              <a:t>Only </a:t>
            </a:r>
            <a:r>
              <a:rPr lang="en-GB" i="1" dirty="0">
                <a:solidFill>
                  <a:srgbClr val="0070C0"/>
                </a:solidFill>
              </a:rPr>
              <a:t>try 60+59+58+57+56=290 times</a:t>
            </a:r>
            <a:endParaRPr lang="en-US" dirty="0"/>
          </a:p>
        </p:txBody>
      </p:sp>
      <p:sp>
        <p:nvSpPr>
          <p:cNvPr id="3" name="Arrow: Down 2">
            <a:extLst>
              <a:ext uri="{FF2B5EF4-FFF2-40B4-BE49-F238E27FC236}">
                <a16:creationId xmlns:a16="http://schemas.microsoft.com/office/drawing/2014/main" id="{95709B78-A82A-4D2A-8797-8A2C358D520D}"/>
              </a:ext>
            </a:extLst>
          </p:cNvPr>
          <p:cNvSpPr/>
          <p:nvPr/>
        </p:nvSpPr>
        <p:spPr>
          <a:xfrm>
            <a:off x="8343901" y="1656090"/>
            <a:ext cx="498764" cy="438904"/>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125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build="p"/>
      <p:bldP spid="10" grpId="0" animBg="1"/>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a:spLocks noGrp="1"/>
          </p:cNvSpPr>
          <p:nvPr>
            <p:ph idx="1"/>
          </p:nvPr>
        </p:nvSpPr>
        <p:spPr>
          <a:xfrm>
            <a:off x="364342" y="993683"/>
            <a:ext cx="10515600" cy="5079774"/>
          </a:xfrm>
        </p:spPr>
        <p:txBody>
          <a:bodyPr>
            <a:noAutofit/>
          </a:bodyPr>
          <a:lstStyle/>
          <a:p>
            <a:pPr>
              <a:lnSpc>
                <a:spcPct val="120000"/>
              </a:lnSpc>
              <a:spcBef>
                <a:spcPts val="300"/>
              </a:spcBef>
              <a:spcAft>
                <a:spcPts val="300"/>
              </a:spcAft>
            </a:pPr>
            <a:r>
              <a:rPr lang="en-US" sz="2100" dirty="0"/>
              <a:t>Greedy algorithm approximates to the optimum </a:t>
            </a:r>
            <a:r>
              <a:rPr lang="en-US" sz="2100" b="1" i="1" dirty="0">
                <a:latin typeface="Times New Roman" panose="02020603050405020304" pitchFamily="18" charset="0"/>
                <a:cs typeface="Times New Roman" panose="02020603050405020304" pitchFamily="18" charset="0"/>
              </a:rPr>
              <a:t>S*</a:t>
            </a:r>
            <a:r>
              <a:rPr lang="en-US" sz="2100" dirty="0"/>
              <a:t> within a factor of around 60% or more in most cases: A seed set whose spread will be at least 60% of the spread of the optimal seed set. </a:t>
            </a:r>
          </a:p>
          <a:p>
            <a:pPr>
              <a:lnSpc>
                <a:spcPct val="120000"/>
              </a:lnSpc>
              <a:spcBef>
                <a:spcPts val="300"/>
              </a:spcBef>
              <a:spcAft>
                <a:spcPts val="300"/>
              </a:spcAft>
            </a:pPr>
            <a:endParaRPr lang="en-GB" sz="2100" dirty="0"/>
          </a:p>
        </p:txBody>
      </p:sp>
      <p:sp>
        <p:nvSpPr>
          <p:cNvPr id="8" name="Rectangle 4">
            <a:extLst>
              <a:ext uri="{FF2B5EF4-FFF2-40B4-BE49-F238E27FC236}">
                <a16:creationId xmlns:a16="http://schemas.microsoft.com/office/drawing/2014/main" id="{356B60A0-FCB6-4AC8-A82F-2BF56D1886CC}"/>
              </a:ext>
            </a:extLst>
          </p:cNvPr>
          <p:cNvSpPr/>
          <p:nvPr/>
        </p:nvSpPr>
        <p:spPr>
          <a:xfrm>
            <a:off x="174812" y="130176"/>
            <a:ext cx="9681946" cy="707886"/>
          </a:xfrm>
          <a:prstGeom prst="rect">
            <a:avLst/>
          </a:prstGeom>
        </p:spPr>
        <p:txBody>
          <a:bodyPr wrap="none">
            <a:spAutoFit/>
          </a:bodyPr>
          <a:lstStyle/>
          <a:p>
            <a:r>
              <a:rPr lang="nl-NL" sz="4000" b="1" dirty="0">
                <a:solidFill>
                  <a:srgbClr val="0070C0"/>
                </a:solidFill>
                <a:latin typeface="+mj-lt"/>
                <a:ea typeface="+mj-ea"/>
                <a:cs typeface="+mj-cs"/>
              </a:rPr>
              <a:t>Approximation guarantee of </a:t>
            </a:r>
            <a:r>
              <a:rPr lang="nl-NL" sz="4000" b="1" dirty="0" err="1">
                <a:solidFill>
                  <a:srgbClr val="0070C0"/>
                </a:solidFill>
                <a:latin typeface="+mj-lt"/>
                <a:ea typeface="+mj-ea"/>
                <a:cs typeface="+mj-cs"/>
              </a:rPr>
              <a:t>greedy</a:t>
            </a:r>
            <a:r>
              <a:rPr lang="nl-NL" sz="4000" b="1" dirty="0">
                <a:solidFill>
                  <a:srgbClr val="0070C0"/>
                </a:solidFill>
                <a:latin typeface="+mj-lt"/>
                <a:ea typeface="+mj-ea"/>
                <a:cs typeface="+mj-cs"/>
              </a:rPr>
              <a:t> </a:t>
            </a:r>
            <a:r>
              <a:rPr lang="nl-NL" sz="4000" b="1" dirty="0" err="1">
                <a:solidFill>
                  <a:srgbClr val="0070C0"/>
                </a:solidFill>
                <a:latin typeface="+mj-lt"/>
                <a:ea typeface="+mj-ea"/>
                <a:cs typeface="+mj-cs"/>
              </a:rPr>
              <a:t>algorithm</a:t>
            </a:r>
            <a:endParaRPr lang="nl-NL" sz="4000" b="1" dirty="0">
              <a:solidFill>
                <a:srgbClr val="0070C0"/>
              </a:solidFill>
              <a:latin typeface="+mj-lt"/>
              <a:ea typeface="+mj-ea"/>
              <a:cs typeface="+mj-cs"/>
            </a:endParaRPr>
          </a:p>
        </p:txBody>
      </p:sp>
      <p:sp>
        <p:nvSpPr>
          <p:cNvPr id="9" name="Rectangle 8">
            <a:extLst>
              <a:ext uri="{FF2B5EF4-FFF2-40B4-BE49-F238E27FC236}">
                <a16:creationId xmlns:a16="http://schemas.microsoft.com/office/drawing/2014/main" id="{78471C90-F89F-4845-9A9D-365FFE5BB3ED}"/>
              </a:ext>
            </a:extLst>
          </p:cNvPr>
          <p:cNvSpPr/>
          <p:nvPr/>
        </p:nvSpPr>
        <p:spPr>
          <a:xfrm>
            <a:off x="0" y="118126"/>
            <a:ext cx="174812" cy="9091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3">
            <a:extLst>
              <a:ext uri="{FF2B5EF4-FFF2-40B4-BE49-F238E27FC236}">
                <a16:creationId xmlns:a16="http://schemas.microsoft.com/office/drawing/2014/main" id="{53789C7F-EB27-498E-8659-C627BE0A331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 b="736"/>
          <a:stretch/>
        </p:blipFill>
        <p:spPr bwMode="auto">
          <a:xfrm>
            <a:off x="3055586" y="2169242"/>
            <a:ext cx="4750533" cy="3704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矩形 3">
            <a:extLst>
              <a:ext uri="{FF2B5EF4-FFF2-40B4-BE49-F238E27FC236}">
                <a16:creationId xmlns:a16="http://schemas.microsoft.com/office/drawing/2014/main" id="{9BBC33AA-12C0-4DB8-B3A3-0902F11D603B}"/>
              </a:ext>
            </a:extLst>
          </p:cNvPr>
          <p:cNvSpPr/>
          <p:nvPr/>
        </p:nvSpPr>
        <p:spPr>
          <a:xfrm>
            <a:off x="-56030" y="6512380"/>
            <a:ext cx="12304059" cy="230832"/>
          </a:xfrm>
          <a:prstGeom prst="rect">
            <a:avLst/>
          </a:prstGeom>
        </p:spPr>
        <p:txBody>
          <a:bodyPr wrap="square">
            <a:spAutoFit/>
          </a:bodyPr>
          <a:lstStyle/>
          <a:p>
            <a:pPr algn="ctr"/>
            <a:r>
              <a:rPr lang="en-GB" sz="900" dirty="0">
                <a:solidFill>
                  <a:schemeClr val="bg2">
                    <a:lumMod val="50000"/>
                  </a:schemeClr>
                </a:solidFill>
              </a:rPr>
              <a:t>D. Kempe, J. Kleinberg, ´ E. </a:t>
            </a:r>
            <a:r>
              <a:rPr lang="en-GB" sz="900" dirty="0" err="1">
                <a:solidFill>
                  <a:schemeClr val="bg2">
                    <a:lumMod val="50000"/>
                  </a:schemeClr>
                </a:solidFill>
              </a:rPr>
              <a:t>Tardos</a:t>
            </a:r>
            <a:r>
              <a:rPr lang="en-GB" sz="900" dirty="0">
                <a:solidFill>
                  <a:schemeClr val="bg2">
                    <a:lumMod val="50000"/>
                  </a:schemeClr>
                </a:solidFill>
              </a:rPr>
              <a:t>, Maximizing the spread of influence through a social network, in: Proceedings of the 9th ACM SIGKDD International Conference on Knowledge Discovery and Data Mining, KDD ’03, ACM Press, 2003, pp. 137–146.</a:t>
            </a:r>
          </a:p>
        </p:txBody>
      </p:sp>
      <p:sp>
        <p:nvSpPr>
          <p:cNvPr id="14" name="TextBox 13">
            <a:extLst>
              <a:ext uri="{FF2B5EF4-FFF2-40B4-BE49-F238E27FC236}">
                <a16:creationId xmlns:a16="http://schemas.microsoft.com/office/drawing/2014/main" id="{4E266E44-0FAB-455B-A0C0-B7B276867101}"/>
              </a:ext>
            </a:extLst>
          </p:cNvPr>
          <p:cNvSpPr txBox="1"/>
          <p:nvPr/>
        </p:nvSpPr>
        <p:spPr>
          <a:xfrm>
            <a:off x="336060" y="6026322"/>
            <a:ext cx="11463316" cy="369332"/>
          </a:xfrm>
          <a:prstGeom prst="rect">
            <a:avLst/>
          </a:prstGeom>
          <a:noFill/>
        </p:spPr>
        <p:txBody>
          <a:bodyPr wrap="square">
            <a:spAutoFit/>
          </a:bodyPr>
          <a:lstStyle/>
          <a:p>
            <a:pPr marL="285750" indent="-285750">
              <a:buFont typeface="Arial" panose="020B0604020202020204" pitchFamily="34" charset="0"/>
              <a:buChar char="•"/>
            </a:pPr>
            <a:r>
              <a:rPr lang="en-US" dirty="0"/>
              <a:t>Cost-effective lazy forward (CELF) algorithm: Improve greedy algorithm to further reduce the computational time.</a:t>
            </a:r>
          </a:p>
        </p:txBody>
      </p:sp>
    </p:spTree>
    <p:extLst>
      <p:ext uri="{BB962C8B-B14F-4D97-AF65-F5344CB8AC3E}">
        <p14:creationId xmlns:p14="http://schemas.microsoft.com/office/powerpoint/2010/main" val="30477634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BD250-D89D-CCC4-5D93-DA12E208CB73}"/>
              </a:ext>
            </a:extLst>
          </p:cNvPr>
          <p:cNvSpPr>
            <a:spLocks noGrp="1"/>
          </p:cNvSpPr>
          <p:nvPr>
            <p:ph type="title"/>
          </p:nvPr>
        </p:nvSpPr>
        <p:spPr/>
        <p:txBody>
          <a:bodyPr/>
          <a:lstStyle/>
          <a:p>
            <a:endParaRPr lang="nl-NL"/>
          </a:p>
        </p:txBody>
      </p:sp>
      <p:sp>
        <p:nvSpPr>
          <p:cNvPr id="3" name="Content Placeholder 2">
            <a:extLst>
              <a:ext uri="{FF2B5EF4-FFF2-40B4-BE49-F238E27FC236}">
                <a16:creationId xmlns:a16="http://schemas.microsoft.com/office/drawing/2014/main" id="{0C2905DA-8F48-3565-435C-19988B927751}"/>
              </a:ext>
            </a:extLst>
          </p:cNvPr>
          <p:cNvSpPr>
            <a:spLocks noGrp="1"/>
          </p:cNvSpPr>
          <p:nvPr>
            <p:ph idx="1"/>
          </p:nvPr>
        </p:nvSpPr>
        <p:spPr/>
        <p:txBody>
          <a:bodyPr/>
          <a:lstStyle/>
          <a:p>
            <a:endParaRPr lang="nl-NL"/>
          </a:p>
        </p:txBody>
      </p:sp>
      <p:pic>
        <p:nvPicPr>
          <p:cNvPr id="5" name="Picture 4">
            <a:extLst>
              <a:ext uri="{FF2B5EF4-FFF2-40B4-BE49-F238E27FC236}">
                <a16:creationId xmlns:a16="http://schemas.microsoft.com/office/drawing/2014/main" id="{D2C2EF71-2D88-977C-C7BA-96808EC3C68B}"/>
              </a:ext>
            </a:extLst>
          </p:cNvPr>
          <p:cNvPicPr>
            <a:picLocks noChangeAspect="1"/>
          </p:cNvPicPr>
          <p:nvPr/>
        </p:nvPicPr>
        <p:blipFill>
          <a:blip r:embed="rId2"/>
          <a:stretch>
            <a:fillRect/>
          </a:stretch>
        </p:blipFill>
        <p:spPr>
          <a:xfrm>
            <a:off x="294837" y="0"/>
            <a:ext cx="7653068" cy="5664200"/>
          </a:xfrm>
          <a:prstGeom prst="rect">
            <a:avLst/>
          </a:prstGeom>
        </p:spPr>
      </p:pic>
    </p:spTree>
    <p:extLst>
      <p:ext uri="{BB962C8B-B14F-4D97-AF65-F5344CB8AC3E}">
        <p14:creationId xmlns:p14="http://schemas.microsoft.com/office/powerpoint/2010/main" val="1225950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F28FC-3CA9-2E55-862A-224178680D16}"/>
              </a:ext>
            </a:extLst>
          </p:cNvPr>
          <p:cNvSpPr>
            <a:spLocks noGrp="1"/>
          </p:cNvSpPr>
          <p:nvPr>
            <p:ph type="title"/>
          </p:nvPr>
        </p:nvSpPr>
        <p:spPr/>
        <p:txBody>
          <a:bodyPr/>
          <a:lstStyle/>
          <a:p>
            <a:endParaRPr lang="nl-NL"/>
          </a:p>
        </p:txBody>
      </p:sp>
      <p:pic>
        <p:nvPicPr>
          <p:cNvPr id="5" name="Picture 4">
            <a:extLst>
              <a:ext uri="{FF2B5EF4-FFF2-40B4-BE49-F238E27FC236}">
                <a16:creationId xmlns:a16="http://schemas.microsoft.com/office/drawing/2014/main" id="{6BF9872A-F384-BA3E-CFFF-E617A6E6CB70}"/>
              </a:ext>
            </a:extLst>
          </p:cNvPr>
          <p:cNvPicPr>
            <a:picLocks noChangeAspect="1"/>
          </p:cNvPicPr>
          <p:nvPr/>
        </p:nvPicPr>
        <p:blipFill>
          <a:blip r:embed="rId2"/>
          <a:stretch>
            <a:fillRect/>
          </a:stretch>
        </p:blipFill>
        <p:spPr>
          <a:xfrm>
            <a:off x="623448" y="206049"/>
            <a:ext cx="7898252" cy="5854982"/>
          </a:xfrm>
          <a:prstGeom prst="rect">
            <a:avLst/>
          </a:prstGeom>
        </p:spPr>
      </p:pic>
    </p:spTree>
    <p:extLst>
      <p:ext uri="{BB962C8B-B14F-4D97-AF65-F5344CB8AC3E}">
        <p14:creationId xmlns:p14="http://schemas.microsoft.com/office/powerpoint/2010/main" val="34465762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FFCEB62-39DA-17BD-89EA-61B4E76F83FD}"/>
              </a:ext>
            </a:extLst>
          </p:cNvPr>
          <p:cNvSpPr txBox="1"/>
          <p:nvPr/>
        </p:nvSpPr>
        <p:spPr>
          <a:xfrm>
            <a:off x="7372451" y="848932"/>
            <a:ext cx="3792121" cy="646163"/>
          </a:xfrm>
          <a:prstGeom prst="rect">
            <a:avLst/>
          </a:prstGeom>
          <a:noFill/>
        </p:spPr>
        <p:txBody>
          <a:bodyPr wrap="square">
            <a:spAutoFit/>
          </a:bodyPr>
          <a:lstStyle/>
          <a:p>
            <a:r>
              <a:rPr lang="en-US" sz="1799" dirty="0">
                <a:solidFill>
                  <a:srgbClr val="0070C0"/>
                </a:solidFill>
              </a:rPr>
              <a:t>Social network-based interventions</a:t>
            </a:r>
          </a:p>
          <a:p>
            <a:r>
              <a:rPr lang="en-US" sz="1799" dirty="0">
                <a:solidFill>
                  <a:srgbClr val="0070C0"/>
                </a:solidFill>
              </a:rPr>
              <a:t>(Implementation in real-world)</a:t>
            </a:r>
            <a:endParaRPr lang="nl-NL" sz="1799" dirty="0">
              <a:solidFill>
                <a:srgbClr val="0070C0"/>
              </a:solidFill>
            </a:endParaRPr>
          </a:p>
        </p:txBody>
      </p:sp>
      <p:pic>
        <p:nvPicPr>
          <p:cNvPr id="18" name="Picture 17">
            <a:extLst>
              <a:ext uri="{FF2B5EF4-FFF2-40B4-BE49-F238E27FC236}">
                <a16:creationId xmlns:a16="http://schemas.microsoft.com/office/drawing/2014/main" id="{6712A5A8-8F5F-9152-51A8-AE9BE1203935}"/>
              </a:ext>
            </a:extLst>
          </p:cNvPr>
          <p:cNvPicPr>
            <a:picLocks noChangeAspect="1"/>
          </p:cNvPicPr>
          <p:nvPr/>
        </p:nvPicPr>
        <p:blipFill>
          <a:blip r:embed="rId2"/>
          <a:stretch>
            <a:fillRect/>
          </a:stretch>
        </p:blipFill>
        <p:spPr>
          <a:xfrm>
            <a:off x="4303012" y="4829112"/>
            <a:ext cx="5057164" cy="1952390"/>
          </a:xfrm>
          <a:prstGeom prst="rect">
            <a:avLst/>
          </a:prstGeom>
        </p:spPr>
      </p:pic>
      <p:grpSp>
        <p:nvGrpSpPr>
          <p:cNvPr id="13" name="Group 12">
            <a:extLst>
              <a:ext uri="{FF2B5EF4-FFF2-40B4-BE49-F238E27FC236}">
                <a16:creationId xmlns:a16="http://schemas.microsoft.com/office/drawing/2014/main" id="{B98AA11B-2179-E7DF-AB9B-70A744F4FF40}"/>
              </a:ext>
            </a:extLst>
          </p:cNvPr>
          <p:cNvGrpSpPr/>
          <p:nvPr/>
        </p:nvGrpSpPr>
        <p:grpSpPr>
          <a:xfrm>
            <a:off x="7522143" y="1495095"/>
            <a:ext cx="4112370" cy="2814661"/>
            <a:chOff x="2286933" y="2773437"/>
            <a:chExt cx="5632116" cy="3854832"/>
          </a:xfrm>
        </p:grpSpPr>
        <p:pic>
          <p:nvPicPr>
            <p:cNvPr id="10" name="Picture 9">
              <a:extLst>
                <a:ext uri="{FF2B5EF4-FFF2-40B4-BE49-F238E27FC236}">
                  <a16:creationId xmlns:a16="http://schemas.microsoft.com/office/drawing/2014/main" id="{76BD7E6D-97C7-D084-A247-57817DF071E5}"/>
                </a:ext>
              </a:extLst>
            </p:cNvPr>
            <p:cNvPicPr>
              <a:picLocks noChangeAspect="1"/>
            </p:cNvPicPr>
            <p:nvPr/>
          </p:nvPicPr>
          <p:blipFill>
            <a:blip r:embed="rId3"/>
            <a:stretch>
              <a:fillRect/>
            </a:stretch>
          </p:blipFill>
          <p:spPr>
            <a:xfrm>
              <a:off x="5029058" y="2773437"/>
              <a:ext cx="2889991" cy="3854832"/>
            </a:xfrm>
            <a:prstGeom prst="rect">
              <a:avLst/>
            </a:prstGeom>
          </p:spPr>
        </p:pic>
        <p:pic>
          <p:nvPicPr>
            <p:cNvPr id="12" name="Picture 11">
              <a:extLst>
                <a:ext uri="{FF2B5EF4-FFF2-40B4-BE49-F238E27FC236}">
                  <a16:creationId xmlns:a16="http://schemas.microsoft.com/office/drawing/2014/main" id="{05F63B53-FF80-D397-B262-EFAD75D67BFB}"/>
                </a:ext>
              </a:extLst>
            </p:cNvPr>
            <p:cNvPicPr>
              <a:picLocks noChangeAspect="1"/>
            </p:cNvPicPr>
            <p:nvPr/>
          </p:nvPicPr>
          <p:blipFill>
            <a:blip r:embed="rId4"/>
            <a:stretch>
              <a:fillRect/>
            </a:stretch>
          </p:blipFill>
          <p:spPr>
            <a:xfrm>
              <a:off x="2286933" y="2773437"/>
              <a:ext cx="2742125" cy="3846907"/>
            </a:xfrm>
            <a:prstGeom prst="rect">
              <a:avLst/>
            </a:prstGeom>
          </p:spPr>
        </p:pic>
      </p:grpSp>
      <p:sp>
        <p:nvSpPr>
          <p:cNvPr id="4" name="TextBox 3">
            <a:extLst>
              <a:ext uri="{FF2B5EF4-FFF2-40B4-BE49-F238E27FC236}">
                <a16:creationId xmlns:a16="http://schemas.microsoft.com/office/drawing/2014/main" id="{C8539BD0-6238-43DA-078C-BB7E031A1AC8}"/>
              </a:ext>
            </a:extLst>
          </p:cNvPr>
          <p:cNvSpPr txBox="1"/>
          <p:nvPr/>
        </p:nvSpPr>
        <p:spPr>
          <a:xfrm>
            <a:off x="4303013" y="4232596"/>
            <a:ext cx="3792121" cy="646163"/>
          </a:xfrm>
          <a:prstGeom prst="rect">
            <a:avLst/>
          </a:prstGeom>
          <a:noFill/>
        </p:spPr>
        <p:txBody>
          <a:bodyPr wrap="square">
            <a:spAutoFit/>
          </a:bodyPr>
          <a:lstStyle/>
          <a:p>
            <a:r>
              <a:rPr lang="en-US" sz="1799" dirty="0">
                <a:solidFill>
                  <a:srgbClr val="0070C0"/>
                </a:solidFill>
              </a:rPr>
              <a:t>Social network-based interventions</a:t>
            </a:r>
          </a:p>
          <a:p>
            <a:r>
              <a:rPr lang="en-US" sz="1799" dirty="0">
                <a:solidFill>
                  <a:srgbClr val="0070C0"/>
                </a:solidFill>
              </a:rPr>
              <a:t>(Theoretical modeling)</a:t>
            </a:r>
            <a:endParaRPr lang="nl-NL" sz="1799" dirty="0">
              <a:solidFill>
                <a:srgbClr val="0070C0"/>
              </a:solidFill>
            </a:endParaRPr>
          </a:p>
        </p:txBody>
      </p:sp>
    </p:spTree>
    <p:extLst>
      <p:ext uri="{BB962C8B-B14F-4D97-AF65-F5344CB8AC3E}">
        <p14:creationId xmlns:p14="http://schemas.microsoft.com/office/powerpoint/2010/main" val="3309106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DB3C6-FCDD-2E7F-EF4D-D2832265F005}"/>
              </a:ext>
            </a:extLst>
          </p:cNvPr>
          <p:cNvSpPr>
            <a:spLocks noGrp="1"/>
          </p:cNvSpPr>
          <p:nvPr>
            <p:ph type="ctrTitle"/>
          </p:nvPr>
        </p:nvSpPr>
        <p:spPr/>
        <p:txBody>
          <a:bodyPr/>
          <a:lstStyle/>
          <a:p>
            <a:endParaRPr lang="nl-NL"/>
          </a:p>
        </p:txBody>
      </p:sp>
      <p:sp>
        <p:nvSpPr>
          <p:cNvPr id="3" name="Text Placeholder 2">
            <a:extLst>
              <a:ext uri="{FF2B5EF4-FFF2-40B4-BE49-F238E27FC236}">
                <a16:creationId xmlns:a16="http://schemas.microsoft.com/office/drawing/2014/main" id="{F46F2376-D505-C163-6309-44FFB4934141}"/>
              </a:ext>
            </a:extLst>
          </p:cNvPr>
          <p:cNvSpPr>
            <a:spLocks noGrp="1"/>
          </p:cNvSpPr>
          <p:nvPr>
            <p:ph type="body" sz="quarter" idx="10"/>
          </p:nvPr>
        </p:nvSpPr>
        <p:spPr/>
        <p:txBody>
          <a:bodyPr/>
          <a:lstStyle/>
          <a:p>
            <a:endParaRPr lang="nl-NL"/>
          </a:p>
        </p:txBody>
      </p:sp>
      <p:pic>
        <p:nvPicPr>
          <p:cNvPr id="5" name="Picture 4">
            <a:extLst>
              <a:ext uri="{FF2B5EF4-FFF2-40B4-BE49-F238E27FC236}">
                <a16:creationId xmlns:a16="http://schemas.microsoft.com/office/drawing/2014/main" id="{5D7CC612-69F5-9AD5-E252-AF3EF3B360D5}"/>
              </a:ext>
            </a:extLst>
          </p:cNvPr>
          <p:cNvPicPr>
            <a:picLocks noChangeAspect="1"/>
          </p:cNvPicPr>
          <p:nvPr/>
        </p:nvPicPr>
        <p:blipFill>
          <a:blip r:embed="rId2"/>
          <a:stretch>
            <a:fillRect/>
          </a:stretch>
        </p:blipFill>
        <p:spPr>
          <a:xfrm>
            <a:off x="2317146" y="62518"/>
            <a:ext cx="5712194" cy="6732964"/>
          </a:xfrm>
          <a:prstGeom prst="rect">
            <a:avLst/>
          </a:prstGeom>
        </p:spPr>
      </p:pic>
    </p:spTree>
    <p:extLst>
      <p:ext uri="{BB962C8B-B14F-4D97-AF65-F5344CB8AC3E}">
        <p14:creationId xmlns:p14="http://schemas.microsoft.com/office/powerpoint/2010/main" val="2957947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E84EC3-1BCC-2465-7D76-930A9D3BF983}"/>
              </a:ext>
            </a:extLst>
          </p:cNvPr>
          <p:cNvPicPr>
            <a:picLocks noChangeAspect="1"/>
          </p:cNvPicPr>
          <p:nvPr/>
        </p:nvPicPr>
        <p:blipFill>
          <a:blip r:embed="rId2"/>
          <a:stretch>
            <a:fillRect/>
          </a:stretch>
        </p:blipFill>
        <p:spPr>
          <a:xfrm>
            <a:off x="2540000" y="78920"/>
            <a:ext cx="6180509" cy="6700159"/>
          </a:xfrm>
          <a:prstGeom prst="rect">
            <a:avLst/>
          </a:prstGeom>
        </p:spPr>
      </p:pic>
    </p:spTree>
    <p:extLst>
      <p:ext uri="{BB962C8B-B14F-4D97-AF65-F5344CB8AC3E}">
        <p14:creationId xmlns:p14="http://schemas.microsoft.com/office/powerpoint/2010/main" val="2861745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E06D25-428C-4E28-8639-D004BABFF171}"/>
              </a:ext>
            </a:extLst>
          </p:cNvPr>
          <p:cNvSpPr/>
          <p:nvPr/>
        </p:nvSpPr>
        <p:spPr>
          <a:xfrm>
            <a:off x="0" y="253343"/>
            <a:ext cx="4695825" cy="6347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标题 1"/>
          <p:cNvSpPr>
            <a:spLocks noGrp="1"/>
          </p:cNvSpPr>
          <p:nvPr>
            <p:ph type="title"/>
          </p:nvPr>
        </p:nvSpPr>
        <p:spPr>
          <a:xfrm>
            <a:off x="539232" y="2525747"/>
            <a:ext cx="10844284" cy="1325563"/>
          </a:xfrm>
        </p:spPr>
        <p:txBody>
          <a:bodyPr>
            <a:normAutofit/>
          </a:bodyPr>
          <a:lstStyle/>
          <a:p>
            <a:pPr algn="ctr"/>
            <a:r>
              <a:rPr lang="en-US" sz="3200" b="1" dirty="0">
                <a:solidFill>
                  <a:schemeClr val="tx1">
                    <a:lumMod val="95000"/>
                    <a:lumOff val="5000"/>
                  </a:schemeClr>
                </a:solidFill>
              </a:rPr>
              <a:t>See the world as a web of people, and harness the power of influence through connections.</a:t>
            </a:r>
            <a:endParaRPr lang="en-GB" sz="3200" b="1" dirty="0">
              <a:solidFill>
                <a:schemeClr val="tx1">
                  <a:lumMod val="95000"/>
                  <a:lumOff val="5000"/>
                </a:schemeClr>
              </a:solidFill>
            </a:endParaRPr>
          </a:p>
        </p:txBody>
      </p:sp>
      <p:sp>
        <p:nvSpPr>
          <p:cNvPr id="7" name="标题 1"/>
          <p:cNvSpPr txBox="1">
            <a:spLocks/>
          </p:cNvSpPr>
          <p:nvPr/>
        </p:nvSpPr>
        <p:spPr>
          <a:xfrm>
            <a:off x="539232" y="259098"/>
            <a:ext cx="4324999" cy="6347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GB" sz="3600" b="1" dirty="0">
                <a:solidFill>
                  <a:schemeClr val="bg1"/>
                </a:solidFill>
              </a:rPr>
              <a:t>Ending remarks</a:t>
            </a:r>
          </a:p>
        </p:txBody>
      </p:sp>
    </p:spTree>
    <p:extLst>
      <p:ext uri="{BB962C8B-B14F-4D97-AF65-F5344CB8AC3E}">
        <p14:creationId xmlns:p14="http://schemas.microsoft.com/office/powerpoint/2010/main" val="636078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F6D4D7F-5403-AC47-F2FB-DF707EA564ED}"/>
              </a:ext>
            </a:extLst>
          </p:cNvPr>
          <p:cNvSpPr txBox="1"/>
          <p:nvPr/>
        </p:nvSpPr>
        <p:spPr>
          <a:xfrm>
            <a:off x="3200400" y="1022244"/>
            <a:ext cx="6096000" cy="369332"/>
          </a:xfrm>
          <a:prstGeom prst="rect">
            <a:avLst/>
          </a:prstGeom>
          <a:noFill/>
        </p:spPr>
        <p:txBody>
          <a:bodyPr wrap="square">
            <a:spAutoFit/>
          </a:bodyPr>
          <a:lstStyle/>
          <a:p>
            <a:r>
              <a:rPr lang="en-GB" sz="1800" b="1" dirty="0">
                <a:solidFill>
                  <a:schemeClr val="tx1">
                    <a:lumMod val="95000"/>
                    <a:lumOff val="5000"/>
                  </a:schemeClr>
                </a:solidFill>
              </a:rPr>
              <a:t>Let us know how you feel about this summer school</a:t>
            </a:r>
            <a:endParaRPr lang="en-US" dirty="0"/>
          </a:p>
        </p:txBody>
      </p:sp>
      <p:pic>
        <p:nvPicPr>
          <p:cNvPr id="3" name="Picture 2">
            <a:extLst>
              <a:ext uri="{FF2B5EF4-FFF2-40B4-BE49-F238E27FC236}">
                <a16:creationId xmlns:a16="http://schemas.microsoft.com/office/drawing/2014/main" id="{311CAC94-2A80-29B7-EA90-F3DD79386C53}"/>
              </a:ext>
            </a:extLst>
          </p:cNvPr>
          <p:cNvPicPr>
            <a:picLocks noChangeAspect="1"/>
          </p:cNvPicPr>
          <p:nvPr/>
        </p:nvPicPr>
        <p:blipFill>
          <a:blip r:embed="rId2"/>
          <a:stretch>
            <a:fillRect/>
          </a:stretch>
        </p:blipFill>
        <p:spPr>
          <a:xfrm>
            <a:off x="4254501" y="1560940"/>
            <a:ext cx="2832238" cy="2873088"/>
          </a:xfrm>
          <a:prstGeom prst="rect">
            <a:avLst/>
          </a:prstGeom>
        </p:spPr>
      </p:pic>
      <p:sp>
        <p:nvSpPr>
          <p:cNvPr id="5" name="TextBox 4">
            <a:extLst>
              <a:ext uri="{FF2B5EF4-FFF2-40B4-BE49-F238E27FC236}">
                <a16:creationId xmlns:a16="http://schemas.microsoft.com/office/drawing/2014/main" id="{DE35F815-A437-6258-8442-D10814962507}"/>
              </a:ext>
            </a:extLst>
          </p:cNvPr>
          <p:cNvSpPr txBox="1"/>
          <p:nvPr/>
        </p:nvSpPr>
        <p:spPr>
          <a:xfrm>
            <a:off x="2844800" y="4871135"/>
            <a:ext cx="7531100" cy="369332"/>
          </a:xfrm>
          <a:prstGeom prst="rect">
            <a:avLst/>
          </a:prstGeom>
          <a:noFill/>
        </p:spPr>
        <p:txBody>
          <a:bodyPr wrap="square">
            <a:spAutoFit/>
          </a:bodyPr>
          <a:lstStyle/>
          <a:p>
            <a:r>
              <a:rPr lang="en-GB" sz="1800" u="sng" dirty="0">
                <a:solidFill>
                  <a:srgbClr val="0000FF"/>
                </a:solidFill>
                <a:effectLst/>
                <a:latin typeface="Aptos" panose="020B0004020202020204" pitchFamily="34" charset="0"/>
                <a:ea typeface="Times New Roman" panose="02020603050405020304" pitchFamily="18" charset="0"/>
                <a:cs typeface="Aptos" panose="020B0004020202020204" pitchFamily="34" charset="0"/>
                <a:hlinkClick r:id="rId3"/>
              </a:rPr>
              <a:t>https://survey.uu.nl/jfe/form/SV_6hbTmSu8fgFbT3o?Q_CHL=qr</a:t>
            </a:r>
            <a:endParaRPr lang="nl-NL" dirty="0"/>
          </a:p>
        </p:txBody>
      </p:sp>
    </p:spTree>
    <p:extLst>
      <p:ext uri="{BB962C8B-B14F-4D97-AF65-F5344CB8AC3E}">
        <p14:creationId xmlns:p14="http://schemas.microsoft.com/office/powerpoint/2010/main" val="3090334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2381</Words>
  <Application>Microsoft Office PowerPoint</Application>
  <PresentationFormat>Widescreen</PresentationFormat>
  <Paragraphs>242</Paragraphs>
  <Slides>32</Slides>
  <Notes>18</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32</vt:i4>
      </vt:variant>
    </vt:vector>
  </HeadingPairs>
  <TitlesOfParts>
    <vt:vector size="44" baseType="lpstr">
      <vt:lpstr>Google Sans</vt:lpstr>
      <vt:lpstr>Aptos</vt:lpstr>
      <vt:lpstr>Arial</vt:lpstr>
      <vt:lpstr>Calibri</vt:lpstr>
      <vt:lpstr>Calibri Light</vt:lpstr>
      <vt:lpstr>Cambria Math</vt:lpstr>
      <vt:lpstr>Open Sans</vt:lpstr>
      <vt:lpstr>Open Sans Light</vt:lpstr>
      <vt:lpstr>Roboto</vt:lpstr>
      <vt:lpstr>Times New Roman</vt:lpstr>
      <vt:lpstr>Wingdings</vt:lpstr>
      <vt:lpstr>Office Theme</vt:lpstr>
      <vt:lpstr>Diffusion in Networks</vt:lpstr>
      <vt:lpstr>PowerPoint Presentation</vt:lpstr>
      <vt:lpstr>The spread of personal hygiene behaviour is much slower than COVID. Why? </vt:lpstr>
      <vt:lpstr>Today’s programe</vt:lpstr>
      <vt:lpstr>Mechanism of complex contagion</vt:lpstr>
      <vt:lpstr>PowerPoint Presentation</vt:lpstr>
      <vt:lpstr>PowerPoint Presentation</vt:lpstr>
      <vt:lpstr>Complex Contagions and the Weakness of Long Ties, Centola &amp;Macy, 2007  Complex contagions depend primarily on the width of the bridges across a network, not just their length. </vt:lpstr>
      <vt:lpstr>Width of a bridge decides the diffusion of complex behavior</vt:lpstr>
      <vt:lpstr>Het “Health Buddies”-experiment</vt:lpstr>
      <vt:lpstr>PowerPoint Presentation</vt:lpstr>
      <vt:lpstr>PowerPoint Presentation</vt:lpstr>
      <vt:lpstr>Today’s programe</vt:lpstr>
      <vt:lpstr>Translate complex contagion into numerical models by “Threshold”</vt:lpstr>
      <vt:lpstr>PowerPoint Presentation</vt:lpstr>
      <vt:lpstr>Today’s programe</vt:lpstr>
      <vt:lpstr>PowerPoint Presentation</vt:lpstr>
      <vt:lpstr>PowerPoint Presentation</vt:lpstr>
      <vt:lpstr>PowerPoint Presentation</vt:lpstr>
      <vt:lpstr>PowerPoint Presentation</vt:lpstr>
      <vt:lpstr>Using centrality heuristics to approximate the exact solution</vt:lpstr>
      <vt:lpstr>PowerPoint Presentation</vt:lpstr>
      <vt:lpstr>Other sophisticated algorithms inspired by centrality heuristics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See the world as a web of people, and harness the power of influence through connections.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7: Simple and Complex contagion</dc:title>
  <dc:creator>Ou, J. (Jiamin)</dc:creator>
  <cp:lastModifiedBy>Ou, J. (Jiamin)</cp:lastModifiedBy>
  <cp:revision>916</cp:revision>
  <dcterms:created xsi:type="dcterms:W3CDTF">2021-01-21T15:45:42Z</dcterms:created>
  <dcterms:modified xsi:type="dcterms:W3CDTF">2026-07-17T12:49:10Z</dcterms:modified>
</cp:coreProperties>
</file>